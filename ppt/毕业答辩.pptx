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21"/>
  </p:notesMasterIdLst>
  <p:sldIdLst>
    <p:sldId id="258" r:id="rId4"/>
    <p:sldId id="257" r:id="rId5"/>
    <p:sldId id="261" r:id="rId6"/>
    <p:sldId id="262" r:id="rId7"/>
    <p:sldId id="264" r:id="rId8"/>
    <p:sldId id="263" r:id="rId9"/>
    <p:sldId id="268" r:id="rId10"/>
    <p:sldId id="271" r:id="rId11"/>
    <p:sldId id="286" r:id="rId12"/>
    <p:sldId id="267" r:id="rId13"/>
    <p:sldId id="287" r:id="rId14"/>
    <p:sldId id="281" r:id="rId15"/>
    <p:sldId id="272" r:id="rId16"/>
    <p:sldId id="269" r:id="rId17"/>
    <p:sldId id="275" r:id="rId18"/>
    <p:sldId id="273" r:id="rId19"/>
    <p:sldId id="28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7F50"/>
    <a:srgbClr val="F6F7F0"/>
    <a:srgbClr val="9AB8F5"/>
    <a:srgbClr val="2B53BB"/>
    <a:srgbClr val="F1F4F5"/>
    <a:srgbClr val="4E87F9"/>
    <a:srgbClr val="1F69FC"/>
    <a:srgbClr val="7C976C"/>
    <a:srgbClr val="ECC953"/>
    <a:srgbClr val="E9E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47" autoAdjust="0"/>
    <p:restoredTop sz="96331" autoAdjust="0"/>
  </p:normalViewPr>
  <p:slideViewPr>
    <p:cSldViewPr snapToGrid="0">
      <p:cViewPr>
        <p:scale>
          <a:sx n="90" d="100"/>
          <a:sy n="90" d="100"/>
        </p:scale>
        <p:origin x="122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AE1F2-9733-4673-BCFB-D74B0E8C86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AB31B-8DAE-4291-8B38-B8BD336F38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9"/>
          <p:cNvSpPr txBox="1"/>
          <p:nvPr userDrawn="1"/>
        </p:nvSpPr>
        <p:spPr>
          <a:xfrm>
            <a:off x="11759951" y="0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C6A31-04C0-4C41-93DF-BC36E4001E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AE8E4-46B5-4A27-ADA7-38EE9D4049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2.png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8" Type="http://schemas.openxmlformats.org/officeDocument/2006/relationships/slideLayout" Target="../slideLayouts/slideLayout2.xml"/><Relationship Id="rId17" Type="http://schemas.openxmlformats.org/officeDocument/2006/relationships/themeOverride" Target="../theme/themeOverride1.xml"/><Relationship Id="rId16" Type="http://schemas.openxmlformats.org/officeDocument/2006/relationships/image" Target="../media/image2.png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2.png"/><Relationship Id="rId24" Type="http://schemas.openxmlformats.org/officeDocument/2006/relationships/image" Target="../media/image4.png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tags" Target="../tags/tag37.xml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2.png"/><Relationship Id="rId31" Type="http://schemas.openxmlformats.org/officeDocument/2006/relationships/tags" Target="../tags/tag89.xml"/><Relationship Id="rId30" Type="http://schemas.openxmlformats.org/officeDocument/2006/relationships/tags" Target="../tags/tag88.xml"/><Relationship Id="rId3" Type="http://schemas.openxmlformats.org/officeDocument/2006/relationships/tags" Target="../tags/tag61.xml"/><Relationship Id="rId29" Type="http://schemas.openxmlformats.org/officeDocument/2006/relationships/tags" Target="../tags/tag87.xml"/><Relationship Id="rId28" Type="http://schemas.openxmlformats.org/officeDocument/2006/relationships/tags" Target="../tags/tag86.xml"/><Relationship Id="rId27" Type="http://schemas.openxmlformats.org/officeDocument/2006/relationships/tags" Target="../tags/tag85.xml"/><Relationship Id="rId26" Type="http://schemas.openxmlformats.org/officeDocument/2006/relationships/tags" Target="../tags/tag84.xml"/><Relationship Id="rId25" Type="http://schemas.openxmlformats.org/officeDocument/2006/relationships/tags" Target="../tags/tag83.xml"/><Relationship Id="rId24" Type="http://schemas.openxmlformats.org/officeDocument/2006/relationships/tags" Target="../tags/tag82.xml"/><Relationship Id="rId23" Type="http://schemas.openxmlformats.org/officeDocument/2006/relationships/tags" Target="../tags/tag81.xml"/><Relationship Id="rId22" Type="http://schemas.openxmlformats.org/officeDocument/2006/relationships/tags" Target="../tags/tag80.xml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tags" Target="../tags/tag60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5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image" Target="../media/image5.png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.png"/><Relationship Id="rId1" Type="http://schemas.openxmlformats.org/officeDocument/2006/relationships/tags" Target="../tags/tag9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2.png"/><Relationship Id="rId24" Type="http://schemas.openxmlformats.org/officeDocument/2006/relationships/tags" Target="../tags/tag121.xml"/><Relationship Id="rId23" Type="http://schemas.openxmlformats.org/officeDocument/2006/relationships/tags" Target="../tags/tag120.xml"/><Relationship Id="rId22" Type="http://schemas.openxmlformats.org/officeDocument/2006/relationships/tags" Target="../tags/tag119.xml"/><Relationship Id="rId21" Type="http://schemas.openxmlformats.org/officeDocument/2006/relationships/tags" Target="../tags/tag118.xml"/><Relationship Id="rId20" Type="http://schemas.openxmlformats.org/officeDocument/2006/relationships/tags" Target="../tags/tag117.xml"/><Relationship Id="rId2" Type="http://schemas.openxmlformats.org/officeDocument/2006/relationships/tags" Target="../tags/tag99.xml"/><Relationship Id="rId19" Type="http://schemas.openxmlformats.org/officeDocument/2006/relationships/tags" Target="../tags/tag116.xml"/><Relationship Id="rId18" Type="http://schemas.openxmlformats.org/officeDocument/2006/relationships/tags" Target="../tags/tag115.xml"/><Relationship Id="rId17" Type="http://schemas.openxmlformats.org/officeDocument/2006/relationships/tags" Target="../tags/tag114.xml"/><Relationship Id="rId16" Type="http://schemas.openxmlformats.org/officeDocument/2006/relationships/tags" Target="../tags/tag113.xml"/><Relationship Id="rId15" Type="http://schemas.openxmlformats.org/officeDocument/2006/relationships/tags" Target="../tags/tag112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9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2.png"/><Relationship Id="rId12" Type="http://schemas.openxmlformats.org/officeDocument/2006/relationships/image" Target="../media/image7.png"/><Relationship Id="rId11" Type="http://schemas.openxmlformats.org/officeDocument/2006/relationships/tags" Target="../tags/tag131.xml"/><Relationship Id="rId10" Type="http://schemas.openxmlformats.org/officeDocument/2006/relationships/image" Target="../media/image6.png"/><Relationship Id="rId1" Type="http://schemas.openxmlformats.org/officeDocument/2006/relationships/tags" Target="../tags/tag12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2.png"/><Relationship Id="rId17" Type="http://schemas.openxmlformats.org/officeDocument/2006/relationships/image" Target="../media/image10.jpeg"/><Relationship Id="rId16" Type="http://schemas.openxmlformats.org/officeDocument/2006/relationships/tags" Target="../tags/tag145.xml"/><Relationship Id="rId15" Type="http://schemas.openxmlformats.org/officeDocument/2006/relationships/image" Target="../media/image9.jpeg"/><Relationship Id="rId14" Type="http://schemas.openxmlformats.org/officeDocument/2006/relationships/tags" Target="../tags/tag144.xml"/><Relationship Id="rId13" Type="http://schemas.openxmlformats.org/officeDocument/2006/relationships/image" Target="../media/image8.jpeg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tags" Target="../tags/tag13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2.png"/><Relationship Id="rId31" Type="http://schemas.openxmlformats.org/officeDocument/2006/relationships/tags" Target="../tags/tag176.xml"/><Relationship Id="rId30" Type="http://schemas.openxmlformats.org/officeDocument/2006/relationships/tags" Target="../tags/tag175.xml"/><Relationship Id="rId3" Type="http://schemas.openxmlformats.org/officeDocument/2006/relationships/tags" Target="../tags/tag148.xml"/><Relationship Id="rId29" Type="http://schemas.openxmlformats.org/officeDocument/2006/relationships/tags" Target="../tags/tag174.xml"/><Relationship Id="rId28" Type="http://schemas.openxmlformats.org/officeDocument/2006/relationships/tags" Target="../tags/tag173.xml"/><Relationship Id="rId27" Type="http://schemas.openxmlformats.org/officeDocument/2006/relationships/tags" Target="../tags/tag172.xml"/><Relationship Id="rId26" Type="http://schemas.openxmlformats.org/officeDocument/2006/relationships/tags" Target="../tags/tag171.xml"/><Relationship Id="rId25" Type="http://schemas.openxmlformats.org/officeDocument/2006/relationships/tags" Target="../tags/tag170.xml"/><Relationship Id="rId24" Type="http://schemas.openxmlformats.org/officeDocument/2006/relationships/tags" Target="../tags/tag169.xml"/><Relationship Id="rId23" Type="http://schemas.openxmlformats.org/officeDocument/2006/relationships/tags" Target="../tags/tag168.xml"/><Relationship Id="rId22" Type="http://schemas.openxmlformats.org/officeDocument/2006/relationships/tags" Target="../tags/tag167.xml"/><Relationship Id="rId21" Type="http://schemas.openxmlformats.org/officeDocument/2006/relationships/tags" Target="../tags/tag166.xml"/><Relationship Id="rId20" Type="http://schemas.openxmlformats.org/officeDocument/2006/relationships/tags" Target="../tags/tag165.xml"/><Relationship Id="rId2" Type="http://schemas.openxmlformats.org/officeDocument/2006/relationships/tags" Target="../tags/tag147.xml"/><Relationship Id="rId19" Type="http://schemas.openxmlformats.org/officeDocument/2006/relationships/tags" Target="../tags/tag164.xml"/><Relationship Id="rId18" Type="http://schemas.openxmlformats.org/officeDocument/2006/relationships/tags" Target="../tags/tag163.xml"/><Relationship Id="rId17" Type="http://schemas.openxmlformats.org/officeDocument/2006/relationships/tags" Target="../tags/tag162.xml"/><Relationship Id="rId16" Type="http://schemas.openxmlformats.org/officeDocument/2006/relationships/tags" Target="../tags/tag161.xml"/><Relationship Id="rId15" Type="http://schemas.openxmlformats.org/officeDocument/2006/relationships/tags" Target="../tags/tag160.xml"/><Relationship Id="rId14" Type="http://schemas.openxmlformats.org/officeDocument/2006/relationships/tags" Target="../tags/tag159.xml"/><Relationship Id="rId13" Type="http://schemas.openxmlformats.org/officeDocument/2006/relationships/tags" Target="../tags/tag158.xml"/><Relationship Id="rId12" Type="http://schemas.openxmlformats.org/officeDocument/2006/relationships/tags" Target="../tags/tag15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tags" Target="../tags/tag14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2.png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tags" Target="../tags/tag17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4" Type="http://schemas.openxmlformats.org/officeDocument/2006/relationships/slideLayout" Target="../slideLayouts/slideLayout2.xml"/><Relationship Id="rId23" Type="http://schemas.openxmlformats.org/officeDocument/2006/relationships/image" Target="../media/image2.png"/><Relationship Id="rId22" Type="http://schemas.openxmlformats.org/officeDocument/2006/relationships/tags" Target="../tags/tag214.xml"/><Relationship Id="rId21" Type="http://schemas.openxmlformats.org/officeDocument/2006/relationships/tags" Target="../tags/tag213.xml"/><Relationship Id="rId20" Type="http://schemas.openxmlformats.org/officeDocument/2006/relationships/tags" Target="../tags/tag212.xml"/><Relationship Id="rId2" Type="http://schemas.openxmlformats.org/officeDocument/2006/relationships/tags" Target="../tags/tag194.xml"/><Relationship Id="rId19" Type="http://schemas.openxmlformats.org/officeDocument/2006/relationships/tags" Target="../tags/tag211.xml"/><Relationship Id="rId18" Type="http://schemas.openxmlformats.org/officeDocument/2006/relationships/tags" Target="../tags/tag210.xml"/><Relationship Id="rId17" Type="http://schemas.openxmlformats.org/officeDocument/2006/relationships/tags" Target="../tags/tag209.xml"/><Relationship Id="rId16" Type="http://schemas.openxmlformats.org/officeDocument/2006/relationships/tags" Target="../tags/tag208.xml"/><Relationship Id="rId15" Type="http://schemas.openxmlformats.org/officeDocument/2006/relationships/tags" Target="../tags/tag207.xml"/><Relationship Id="rId14" Type="http://schemas.openxmlformats.org/officeDocument/2006/relationships/tags" Target="../tags/tag206.xml"/><Relationship Id="rId13" Type="http://schemas.openxmlformats.org/officeDocument/2006/relationships/tags" Target="../tags/tag205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tags" Target="../tags/tag19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16.xml"/><Relationship Id="rId19" Type="http://schemas.openxmlformats.org/officeDocument/2006/relationships/image" Target="../media/image2.png"/><Relationship Id="rId18" Type="http://schemas.openxmlformats.org/officeDocument/2006/relationships/tags" Target="../tags/tag232.xml"/><Relationship Id="rId17" Type="http://schemas.openxmlformats.org/officeDocument/2006/relationships/tags" Target="../tags/tag231.xml"/><Relationship Id="rId16" Type="http://schemas.openxmlformats.org/officeDocument/2006/relationships/tags" Target="../tags/tag230.xml"/><Relationship Id="rId15" Type="http://schemas.openxmlformats.org/officeDocument/2006/relationships/tags" Target="../tags/tag229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tags" Target="../tags/tag21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41.xml"/><Relationship Id="rId8" Type="http://schemas.openxmlformats.org/officeDocument/2006/relationships/tags" Target="../tags/tag240.xml"/><Relationship Id="rId7" Type="http://schemas.openxmlformats.org/officeDocument/2006/relationships/tags" Target="../tags/tag239.xml"/><Relationship Id="rId6" Type="http://schemas.openxmlformats.org/officeDocument/2006/relationships/tags" Target="../tags/tag238.xml"/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2.png"/><Relationship Id="rId17" Type="http://schemas.openxmlformats.org/officeDocument/2006/relationships/tags" Target="../tags/tag249.xml"/><Relationship Id="rId16" Type="http://schemas.openxmlformats.org/officeDocument/2006/relationships/tags" Target="../tags/tag248.xml"/><Relationship Id="rId15" Type="http://schemas.openxmlformats.org/officeDocument/2006/relationships/tags" Target="../tags/tag247.xml"/><Relationship Id="rId14" Type="http://schemas.openxmlformats.org/officeDocument/2006/relationships/tags" Target="../tags/tag246.xml"/><Relationship Id="rId13" Type="http://schemas.openxmlformats.org/officeDocument/2006/relationships/tags" Target="../tags/tag245.xml"/><Relationship Id="rId12" Type="http://schemas.openxmlformats.org/officeDocument/2006/relationships/tags" Target="../tags/tag244.xml"/><Relationship Id="rId11" Type="http://schemas.openxmlformats.org/officeDocument/2006/relationships/tags" Target="../tags/tag243.xml"/><Relationship Id="rId10" Type="http://schemas.openxmlformats.org/officeDocument/2006/relationships/tags" Target="../tags/tag242.xml"/><Relationship Id="rId1" Type="http://schemas.openxmlformats.org/officeDocument/2006/relationships/tags" Target="../tags/tag23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" Type="http://schemas.openxmlformats.org/officeDocument/2006/relationships/tags" Target="../tags/tag255.xml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2.png"/><Relationship Id="rId21" Type="http://schemas.openxmlformats.org/officeDocument/2006/relationships/tags" Target="../tags/tag270.xml"/><Relationship Id="rId20" Type="http://schemas.openxmlformats.org/officeDocument/2006/relationships/tags" Target="../tags/tag269.xml"/><Relationship Id="rId2" Type="http://schemas.openxmlformats.org/officeDocument/2006/relationships/tags" Target="../tags/tag251.xml"/><Relationship Id="rId19" Type="http://schemas.openxmlformats.org/officeDocument/2006/relationships/tags" Target="../tags/tag268.xml"/><Relationship Id="rId18" Type="http://schemas.openxmlformats.org/officeDocument/2006/relationships/tags" Target="../tags/tag267.xml"/><Relationship Id="rId17" Type="http://schemas.openxmlformats.org/officeDocument/2006/relationships/tags" Target="../tags/tag266.xml"/><Relationship Id="rId16" Type="http://schemas.openxmlformats.org/officeDocument/2006/relationships/tags" Target="../tags/tag265.xml"/><Relationship Id="rId15" Type="http://schemas.openxmlformats.org/officeDocument/2006/relationships/tags" Target="../tags/tag264.xml"/><Relationship Id="rId14" Type="http://schemas.openxmlformats.org/officeDocument/2006/relationships/tags" Target="../tags/tag263.xml"/><Relationship Id="rId13" Type="http://schemas.openxmlformats.org/officeDocument/2006/relationships/tags" Target="../tags/tag262.xml"/><Relationship Id="rId12" Type="http://schemas.openxmlformats.org/officeDocument/2006/relationships/tags" Target="../tags/tag261.xml"/><Relationship Id="rId11" Type="http://schemas.openxmlformats.org/officeDocument/2006/relationships/tags" Target="../tags/tag260.xml"/><Relationship Id="rId10" Type="http://schemas.openxmlformats.org/officeDocument/2006/relationships/tags" Target="../tags/tag259.xml"/><Relationship Id="rId1" Type="http://schemas.openxmlformats.org/officeDocument/2006/relationships/tags" Target="../tags/tag25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email"/>
          <a:srcRect/>
          <a:stretch>
            <a:fillRect/>
          </a:stretch>
        </p:blipFill>
        <p:spPr>
          <a:xfrm>
            <a:off x="0" y="12561"/>
            <a:ext cx="12192000" cy="683287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0" y="0"/>
            <a:ext cx="12192000" cy="931058"/>
            <a:chOff x="0" y="0"/>
            <a:chExt cx="12192000" cy="931058"/>
          </a:xfrm>
        </p:grpSpPr>
        <p:sp>
          <p:nvSpPr>
            <p:cNvPr id="47" name="矩形 46"/>
            <p:cNvSpPr/>
            <p:nvPr/>
          </p:nvSpPr>
          <p:spPr>
            <a:xfrm flipH="1">
              <a:off x="2211572" y="215663"/>
              <a:ext cx="9980428" cy="499731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 flipV="1">
              <a:off x="0" y="0"/>
              <a:ext cx="12191999" cy="931058"/>
            </a:xfrm>
            <a:custGeom>
              <a:avLst/>
              <a:gdLst>
                <a:gd name="connsiteX0" fmla="*/ 1442484 w 12191999"/>
                <a:gd name="connsiteY0" fmla="*/ 931058 h 931058"/>
                <a:gd name="connsiteX1" fmla="*/ 7468700 w 12191999"/>
                <a:gd name="connsiteY1" fmla="*/ 931058 h 931058"/>
                <a:gd name="connsiteX2" fmla="*/ 7518400 w 12191999"/>
                <a:gd name="connsiteY2" fmla="*/ 931058 h 931058"/>
                <a:gd name="connsiteX3" fmla="*/ 12191999 w 12191999"/>
                <a:gd name="connsiteY3" fmla="*/ 931058 h 931058"/>
                <a:gd name="connsiteX4" fmla="*/ 12191999 w 12191999"/>
                <a:gd name="connsiteY4" fmla="*/ 439302 h 931058"/>
                <a:gd name="connsiteX5" fmla="*/ 7468700 w 12191999"/>
                <a:gd name="connsiteY5" fmla="*/ 439302 h 931058"/>
                <a:gd name="connsiteX6" fmla="*/ 7468700 w 12191999"/>
                <a:gd name="connsiteY6" fmla="*/ 439302 h 931058"/>
                <a:gd name="connsiteX7" fmla="*/ 3557325 w 12191999"/>
                <a:gd name="connsiteY7" fmla="*/ 439302 h 931058"/>
                <a:gd name="connsiteX8" fmla="*/ 2984387 w 12191999"/>
                <a:gd name="connsiteY8" fmla="*/ 107629 h 931058"/>
                <a:gd name="connsiteX9" fmla="*/ 2756786 w 12191999"/>
                <a:gd name="connsiteY9" fmla="*/ 0 h 931058"/>
                <a:gd name="connsiteX10" fmla="*/ 0 w 12191999"/>
                <a:gd name="connsiteY10" fmla="*/ 0 h 931058"/>
                <a:gd name="connsiteX11" fmla="*/ 0 w 12191999"/>
                <a:gd name="connsiteY11" fmla="*/ 931057 h 931058"/>
                <a:gd name="connsiteX12" fmla="*/ 1442484 w 12191999"/>
                <a:gd name="connsiteY12" fmla="*/ 931057 h 931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91999" h="931058">
                  <a:moveTo>
                    <a:pt x="1442484" y="931058"/>
                  </a:moveTo>
                  <a:lnTo>
                    <a:pt x="7468700" y="931058"/>
                  </a:lnTo>
                  <a:lnTo>
                    <a:pt x="7518400" y="931058"/>
                  </a:lnTo>
                  <a:lnTo>
                    <a:pt x="12191999" y="931058"/>
                  </a:lnTo>
                  <a:lnTo>
                    <a:pt x="12191999" y="439302"/>
                  </a:lnTo>
                  <a:lnTo>
                    <a:pt x="7468700" y="439302"/>
                  </a:lnTo>
                  <a:lnTo>
                    <a:pt x="7468700" y="439302"/>
                  </a:lnTo>
                  <a:lnTo>
                    <a:pt x="3557325" y="439302"/>
                  </a:lnTo>
                  <a:lnTo>
                    <a:pt x="2984387" y="107629"/>
                  </a:lnTo>
                  <a:cubicBezTo>
                    <a:pt x="2855893" y="30520"/>
                    <a:pt x="2818738" y="0"/>
                    <a:pt x="2756786" y="0"/>
                  </a:cubicBezTo>
                  <a:lnTo>
                    <a:pt x="0" y="0"/>
                  </a:lnTo>
                  <a:lnTo>
                    <a:pt x="0" y="931057"/>
                  </a:lnTo>
                  <a:lnTo>
                    <a:pt x="1442484" y="931057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348175"/>
            <a:ext cx="12192000" cy="1509824"/>
            <a:chOff x="0" y="5348175"/>
            <a:chExt cx="12192000" cy="1509824"/>
          </a:xfrm>
        </p:grpSpPr>
        <p:sp>
          <p:nvSpPr>
            <p:cNvPr id="14" name="矩形 13"/>
            <p:cNvSpPr/>
            <p:nvPr/>
          </p:nvSpPr>
          <p:spPr>
            <a:xfrm flipH="1">
              <a:off x="0" y="5853221"/>
              <a:ext cx="9980428" cy="499731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 flipH="1">
              <a:off x="0" y="5348175"/>
              <a:ext cx="12192000" cy="1509824"/>
            </a:xfrm>
            <a:custGeom>
              <a:avLst/>
              <a:gdLst>
                <a:gd name="connsiteX0" fmla="*/ 4470463 w 12192000"/>
                <a:gd name="connsiteY0" fmla="*/ 0 h 1509824"/>
                <a:gd name="connsiteX1" fmla="*/ 0 w 12192000"/>
                <a:gd name="connsiteY1" fmla="*/ 0 h 1509824"/>
                <a:gd name="connsiteX2" fmla="*/ 0 w 12192000"/>
                <a:gd name="connsiteY2" fmla="*/ 1509823 h 1509824"/>
                <a:gd name="connsiteX3" fmla="*/ 2339163 w 12192000"/>
                <a:gd name="connsiteY3" fmla="*/ 1509823 h 1509824"/>
                <a:gd name="connsiteX4" fmla="*/ 2339163 w 12192000"/>
                <a:gd name="connsiteY4" fmla="*/ 1509824 h 1509824"/>
                <a:gd name="connsiteX5" fmla="*/ 12192000 w 12192000"/>
                <a:gd name="connsiteY5" fmla="*/ 1509824 h 1509824"/>
                <a:gd name="connsiteX6" fmla="*/ 12192000 w 12192000"/>
                <a:gd name="connsiteY6" fmla="*/ 712382 h 1509824"/>
                <a:gd name="connsiteX7" fmla="*/ 5768635 w 12192000"/>
                <a:gd name="connsiteY7" fmla="*/ 712382 h 1509824"/>
                <a:gd name="connsiteX8" fmla="*/ 4839547 w 12192000"/>
                <a:gd name="connsiteY8" fmla="*/ 174534 h 1509824"/>
                <a:gd name="connsiteX9" fmla="*/ 4470463 w 12192000"/>
                <a:gd name="connsiteY9" fmla="*/ 0 h 150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92000" h="1509824">
                  <a:moveTo>
                    <a:pt x="4470463" y="0"/>
                  </a:moveTo>
                  <a:lnTo>
                    <a:pt x="0" y="0"/>
                  </a:lnTo>
                  <a:lnTo>
                    <a:pt x="0" y="1509823"/>
                  </a:lnTo>
                  <a:lnTo>
                    <a:pt x="2339163" y="1509823"/>
                  </a:lnTo>
                  <a:lnTo>
                    <a:pt x="2339163" y="1509824"/>
                  </a:lnTo>
                  <a:lnTo>
                    <a:pt x="12192000" y="1509824"/>
                  </a:lnTo>
                  <a:lnTo>
                    <a:pt x="12192000" y="712382"/>
                  </a:lnTo>
                  <a:lnTo>
                    <a:pt x="5768635" y="712382"/>
                  </a:lnTo>
                  <a:lnTo>
                    <a:pt x="4839547" y="174534"/>
                  </a:lnTo>
                  <a:cubicBezTo>
                    <a:pt x="4631177" y="49492"/>
                    <a:pt x="4570926" y="0"/>
                    <a:pt x="4470463" y="0"/>
                  </a:cubicBez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778510" y="1951673"/>
            <a:ext cx="10835005" cy="1477010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zh-CN" altLang="en-US" sz="4800" spc="200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rPr>
              <a:t>基于多智能体协同的软件需求变更管理与可追溯平台设计与实现</a:t>
            </a:r>
            <a:endParaRPr lang="zh-CN" altLang="en-US" sz="4800" spc="200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H" panose="00020600040101010101" pitchFamily="18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485821" y="4714500"/>
            <a:ext cx="5421324" cy="245745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r>
              <a:rPr lang="zh-CN" altLang="en-US" sz="1600" spc="500" dirty="0"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计算机科学与技术</a:t>
            </a:r>
            <a:r>
              <a:rPr lang="zh-CN" altLang="en-US" sz="1600" spc="500" dirty="0"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学院 </a:t>
            </a:r>
            <a:r>
              <a:rPr lang="en-US" altLang="zh-CN" sz="1600" spc="500" dirty="0"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· </a:t>
            </a:r>
            <a:r>
              <a:rPr lang="zh-CN" altLang="en-US" sz="1600" spc="500" dirty="0"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指导老师：黄江</a:t>
            </a:r>
            <a:r>
              <a:rPr lang="zh-CN" altLang="en-US" sz="1600" spc="500" dirty="0"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平</a:t>
            </a:r>
            <a:endParaRPr lang="zh-CN" altLang="en-US" sz="1600" spc="500" dirty="0"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702267" y="5967260"/>
            <a:ext cx="4006838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EBE0"/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阿里巴巴普惠体 L" panose="00020600040101010101" pitchFamily="18" charset="-122"/>
              </a:rPr>
              <a:t>答辩人：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EBE0"/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阿里巴巴普惠体 L" panose="00020600040101010101" pitchFamily="18" charset="-122"/>
              </a:rPr>
              <a:t>张志鎛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9EBE0"/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阿里巴巴普惠体 L" panose="00020600040101010101" pitchFamily="18" charset="-122"/>
              </a:rPr>
              <a:t>·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9EBE0"/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阿里巴巴普惠体 L" panose="00020600040101010101" pitchFamily="18" charset="-122"/>
              </a:rPr>
              <a:t>学号：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E9EBE0"/>
                </a:solidFill>
                <a:effectLst/>
                <a:uLnTx/>
                <a:uFillTx/>
                <a:latin typeface="思源宋体 Light" panose="02020300000000000000" pitchFamily="18" charset="-122"/>
                <a:ea typeface="思源宋体 Light" panose="02020300000000000000" pitchFamily="18" charset="-122"/>
                <a:cs typeface="阿里巴巴普惠体 L" panose="00020600040101010101" pitchFamily="18" charset="-122"/>
              </a:rPr>
              <a:t>2022214096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E9EBE0"/>
              </a:solidFill>
              <a:effectLst/>
              <a:uLnTx/>
              <a:uFillTx/>
              <a:latin typeface="思源宋体 Light" panose="02020300000000000000" pitchFamily="18" charset="-122"/>
              <a:ea typeface="思源宋体 Light" panose="02020300000000000000" pitchFamily="18" charset="-122"/>
              <a:cs typeface="阿里巴巴普惠体 L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86230" y="3679825"/>
            <a:ext cx="9219565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25000"/>
              </a:lnSpc>
              <a:defRPr/>
            </a:pPr>
            <a:r>
              <a:rPr lang="en-US" i="1">
                <a:solidFill>
                  <a:schemeClr val="tx1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Design and Implementation of a Multi-Agent Collaborative Platform for Software Requirement Change Management and Traceability</a:t>
            </a:r>
            <a:endParaRPr lang="en-US" altLang="en-US" i="1">
              <a:solidFill>
                <a:schemeClr val="tx1">
                  <a:alpha val="85098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2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05795" y="60134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  <p:bldLst>
      <p:bldP spid="39" grpId="0"/>
      <p:bldP spid="43" grpId="0"/>
      <p:bldP spid="46" grpId="0"/>
      <p:bldP spid="8" grpId="0"/>
      <p:bldP spid="8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email">
            <a:alphaModFix amt="62000"/>
          </a:blip>
          <a:srcRect/>
          <a:stretch>
            <a:fillRect/>
          </a:stretch>
        </p:blipFill>
        <p:spPr>
          <a:xfrm>
            <a:off x="0" y="-58420"/>
            <a:ext cx="12192000" cy="6858000"/>
          </a:xfrm>
          <a:prstGeom prst="rect">
            <a:avLst/>
          </a:prstGeom>
        </p:spPr>
      </p:pic>
      <p:sp>
        <p:nvSpPr>
          <p:cNvPr id="6" name="矩形: 单圆角 5"/>
          <p:cNvSpPr/>
          <p:nvPr/>
        </p:nvSpPr>
        <p:spPr>
          <a:xfrm>
            <a:off x="0" y="0"/>
            <a:ext cx="2574650" cy="6858000"/>
          </a:xfrm>
          <a:prstGeom prst="round1Rect">
            <a:avLst>
              <a:gd name="adj" fmla="val 3184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384048" y="598932"/>
            <a:ext cx="1015663" cy="5660136"/>
          </a:xfrm>
          <a:prstGeom prst="rect">
            <a:avLst/>
          </a:prstGeom>
          <a:noFill/>
        </p:spPr>
        <p:txBody>
          <a:bodyPr vert="eaVert" wrap="square" lIns="0" tIns="0" rIns="0" bIns="0" anchor="ctr" anchorCtr="0">
            <a:spAutoFit/>
          </a:bodyPr>
          <a:lstStyle/>
          <a:p>
            <a:pPr algn="ctr"/>
            <a:r>
              <a:rPr lang="en-US" altLang="zh-CN" sz="6600" spc="200" dirty="0">
                <a:gradFill flip="none" rotWithShape="1">
                  <a:gsLst>
                    <a:gs pos="0">
                      <a:schemeClr val="bg2"/>
                    </a:gs>
                    <a:gs pos="95000">
                      <a:schemeClr val="bg2">
                        <a:alpha val="0"/>
                      </a:schemeClr>
                    </a:gs>
                  </a:gsLst>
                  <a:lin ang="16200000" scaled="1"/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rPr>
              <a:t>CONTENTE</a:t>
            </a:r>
            <a:endParaRPr lang="zh-CN" altLang="en-US" sz="8000" spc="200" dirty="0">
              <a:gradFill flip="none" rotWithShape="1">
                <a:gsLst>
                  <a:gs pos="0">
                    <a:schemeClr val="bg2"/>
                  </a:gs>
                  <a:gs pos="95000">
                    <a:schemeClr val="bg2">
                      <a:alpha val="0"/>
                    </a:schemeClr>
                  </a:gs>
                </a:gsLst>
                <a:lin ang="16200000" scaled="1"/>
                <a:tileRect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H" panose="00020600040101010101" pitchFamily="18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312637" y="793580"/>
            <a:ext cx="8212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1200" cap="none" spc="200" normalizeH="0" baseline="0" noProof="0" dirty="0">
                <a:ln>
                  <a:noFill/>
                </a:ln>
                <a:solidFill>
                  <a:srgbClr val="E9EBE0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rPr>
              <a:t>目录</a:t>
            </a:r>
            <a:endParaRPr kumimoji="0" lang="zh-CN" altLang="en-US" sz="5400" b="0" i="0" u="none" strike="noStrike" kern="1200" cap="none" spc="200" normalizeH="0" baseline="0" noProof="0" dirty="0">
              <a:ln>
                <a:noFill/>
              </a:ln>
              <a:solidFill>
                <a:srgbClr val="E9EBE0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H" panose="00020600040101010101" pitchFamily="18" charset="-122"/>
            </a:endParaRPr>
          </a:p>
        </p:txBody>
      </p:sp>
      <p:grpSp>
        <p:nvGrpSpPr>
          <p:cNvPr id="52" name="组合 51"/>
          <p:cNvGrpSpPr/>
          <p:nvPr>
            <p:custDataLst>
              <p:tags r:id="rId2"/>
            </p:custDataLst>
          </p:nvPr>
        </p:nvGrpSpPr>
        <p:grpSpPr>
          <a:xfrm>
            <a:off x="3119913" y="1232622"/>
            <a:ext cx="3934047" cy="1315387"/>
            <a:chOff x="3285460" y="1395915"/>
            <a:chExt cx="3934047" cy="1315387"/>
          </a:xfrm>
        </p:grpSpPr>
        <p:sp>
          <p:nvSpPr>
            <p:cNvPr id="40" name="矩形: 圆角 39"/>
            <p:cNvSpPr/>
            <p:nvPr>
              <p:custDataLst>
                <p:tags r:id="rId3"/>
              </p:custDataLst>
            </p:nvPr>
          </p:nvSpPr>
          <p:spPr>
            <a:xfrm>
              <a:off x="3285460" y="1395915"/>
              <a:ext cx="3934047" cy="1315387"/>
            </a:xfrm>
            <a:prstGeom prst="roundRect">
              <a:avLst>
                <a:gd name="adj" fmla="val 10526"/>
              </a:avLst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>
              <p:custDataLst>
                <p:tags r:id="rId4"/>
              </p:custDataLst>
            </p:nvPr>
          </p:nvSpPr>
          <p:spPr>
            <a:xfrm>
              <a:off x="3656935" y="1728996"/>
              <a:ext cx="649224" cy="64922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E9EBE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H" panose="00020600040101010101" pitchFamily="18" charset="-122"/>
                </a:rPr>
                <a:t>01</a:t>
              </a:r>
              <a:endParaRPr lang="zh-CN" altLang="en-US" sz="2000" dirty="0">
                <a:solidFill>
                  <a:srgbClr val="E9EBE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5"/>
              </p:custDataLst>
            </p:nvPr>
          </p:nvSpPr>
          <p:spPr>
            <a:xfrm>
              <a:off x="4466008" y="1868708"/>
              <a:ext cx="2432264" cy="3689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400" dirty="0">
                  <a:solidFill>
                    <a:srgbClr val="3A472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R" panose="00020600040101010101" pitchFamily="18" charset="-122"/>
                </a:rPr>
                <a:t>引言</a:t>
              </a:r>
              <a:endParaRPr lang="zh-CN" altLang="en-US" sz="2400" dirty="0">
                <a:solidFill>
                  <a:srgbClr val="3A472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endParaRPr>
            </a:p>
          </p:txBody>
        </p:sp>
      </p:grpSp>
      <p:grpSp>
        <p:nvGrpSpPr>
          <p:cNvPr id="65" name="组合 64"/>
          <p:cNvGrpSpPr/>
          <p:nvPr>
            <p:custDataLst>
              <p:tags r:id="rId6"/>
            </p:custDataLst>
          </p:nvPr>
        </p:nvGrpSpPr>
        <p:grpSpPr>
          <a:xfrm>
            <a:off x="3119753" y="3087617"/>
            <a:ext cx="3934047" cy="1315387"/>
            <a:chOff x="3285460" y="1395915"/>
            <a:chExt cx="3934047" cy="1315387"/>
          </a:xfrm>
        </p:grpSpPr>
        <p:sp>
          <p:nvSpPr>
            <p:cNvPr id="66" name="矩形: 圆角 65"/>
            <p:cNvSpPr/>
            <p:nvPr>
              <p:custDataLst>
                <p:tags r:id="rId7"/>
              </p:custDataLst>
            </p:nvPr>
          </p:nvSpPr>
          <p:spPr>
            <a:xfrm>
              <a:off x="3285460" y="1395915"/>
              <a:ext cx="3934047" cy="1315387"/>
            </a:xfrm>
            <a:prstGeom prst="roundRect">
              <a:avLst>
                <a:gd name="adj" fmla="val 10526"/>
              </a:avLst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>
              <p:custDataLst>
                <p:tags r:id="rId8"/>
              </p:custDataLst>
            </p:nvPr>
          </p:nvSpPr>
          <p:spPr>
            <a:xfrm>
              <a:off x="3656935" y="1728996"/>
              <a:ext cx="649224" cy="6492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H" panose="00020600040101010101" pitchFamily="18" charset="-122"/>
                </a:rPr>
                <a:t>03</a:t>
              </a:r>
              <a:endParaRPr lang="zh-CN" altLang="en-US" sz="2000" dirty="0">
                <a:solidFill>
                  <a:schemeClr val="tx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9"/>
              </p:custDataLst>
            </p:nvPr>
          </p:nvSpPr>
          <p:spPr>
            <a:xfrm>
              <a:off x="4465925" y="1869625"/>
              <a:ext cx="2645410" cy="36830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400" dirty="0">
                  <a:solidFill>
                    <a:srgbClr val="3A472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R" panose="00020600040101010101" pitchFamily="18" charset="-122"/>
                  <a:sym typeface="Noto Sans SC" panose="020B0200000000000000" charset="-122"/>
                </a:rPr>
                <a:t>系统设计与实现</a:t>
              </a:r>
              <a:endParaRPr lang="zh-CN" altLang="en-US" sz="2400" dirty="0">
                <a:solidFill>
                  <a:srgbClr val="3A472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endParaRPr>
            </a:p>
          </p:txBody>
        </p:sp>
      </p:grpSp>
      <p:grpSp>
        <p:nvGrpSpPr>
          <p:cNvPr id="71" name="组合 70"/>
          <p:cNvGrpSpPr/>
          <p:nvPr>
            <p:custDataLst>
              <p:tags r:id="rId10"/>
            </p:custDataLst>
          </p:nvPr>
        </p:nvGrpSpPr>
        <p:grpSpPr>
          <a:xfrm>
            <a:off x="7588390" y="3087617"/>
            <a:ext cx="3934047" cy="1315387"/>
            <a:chOff x="3285460" y="1395915"/>
            <a:chExt cx="3934047" cy="1315387"/>
          </a:xfrm>
        </p:grpSpPr>
        <p:sp>
          <p:nvSpPr>
            <p:cNvPr id="72" name="矩形: 圆角 71"/>
            <p:cNvSpPr/>
            <p:nvPr>
              <p:custDataLst>
                <p:tags r:id="rId11"/>
              </p:custDataLst>
            </p:nvPr>
          </p:nvSpPr>
          <p:spPr>
            <a:xfrm>
              <a:off x="3285460" y="1395915"/>
              <a:ext cx="3934047" cy="1315387"/>
            </a:xfrm>
            <a:prstGeom prst="roundRect">
              <a:avLst>
                <a:gd name="adj" fmla="val 10526"/>
              </a:avLst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>
              <p:custDataLst>
                <p:tags r:id="rId12"/>
              </p:custDataLst>
            </p:nvPr>
          </p:nvSpPr>
          <p:spPr>
            <a:xfrm>
              <a:off x="3656935" y="1728996"/>
              <a:ext cx="649224" cy="64922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rgbClr val="E9EBE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H" panose="00020600040101010101" pitchFamily="18" charset="-122"/>
                </a:rPr>
                <a:t>04</a:t>
              </a:r>
              <a:endParaRPr lang="zh-CN" altLang="en-US" sz="2000" dirty="0">
                <a:solidFill>
                  <a:srgbClr val="E9EBE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75" name="文本框 74"/>
            <p:cNvSpPr txBox="1"/>
            <p:nvPr>
              <p:custDataLst>
                <p:tags r:id="rId13"/>
              </p:custDataLst>
            </p:nvPr>
          </p:nvSpPr>
          <p:spPr>
            <a:xfrm>
              <a:off x="4431635" y="1869625"/>
              <a:ext cx="2766060" cy="3689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400" dirty="0">
                  <a:solidFill>
                    <a:srgbClr val="3A472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R" panose="00020600040101010101" pitchFamily="18" charset="-122"/>
                  <a:sym typeface="Noto Sans SC" panose="020B0200000000000000" charset="-122"/>
                </a:rPr>
                <a:t>系统测试与实验分析</a:t>
              </a:r>
              <a:endParaRPr lang="zh-CN" altLang="en-US" sz="2400" dirty="0">
                <a:solidFill>
                  <a:srgbClr val="3A472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endParaRPr>
            </a:p>
          </p:txBody>
        </p:sp>
      </p:grpSp>
      <p:sp>
        <p:nvSpPr>
          <p:cNvPr id="3" name="TextBox 9"/>
          <p:cNvSpPr txBox="1"/>
          <p:nvPr/>
        </p:nvSpPr>
        <p:spPr>
          <a:xfrm>
            <a:off x="0" y="0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  <a:endParaRPr lang="en-US" altLang="zh-CN" sz="100" dirty="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14"/>
            </p:custDataLst>
          </p:nvPr>
        </p:nvGrpSpPr>
        <p:grpSpPr>
          <a:xfrm>
            <a:off x="7599345" y="1238972"/>
            <a:ext cx="3934047" cy="1315387"/>
            <a:chOff x="3285460" y="1395915"/>
            <a:chExt cx="3934047" cy="1315387"/>
          </a:xfrm>
        </p:grpSpPr>
        <p:sp>
          <p:nvSpPr>
            <p:cNvPr id="4" name="矩形: 圆角 59"/>
            <p:cNvSpPr/>
            <p:nvPr>
              <p:custDataLst>
                <p:tags r:id="rId15"/>
              </p:custDataLst>
            </p:nvPr>
          </p:nvSpPr>
          <p:spPr>
            <a:xfrm>
              <a:off x="3285460" y="1395915"/>
              <a:ext cx="3934047" cy="1315387"/>
            </a:xfrm>
            <a:prstGeom prst="roundRect">
              <a:avLst>
                <a:gd name="adj" fmla="val 10526"/>
              </a:avLst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>
              <p:custDataLst>
                <p:tags r:id="rId16"/>
              </p:custDataLst>
            </p:nvPr>
          </p:nvSpPr>
          <p:spPr>
            <a:xfrm>
              <a:off x="3656935" y="1728996"/>
              <a:ext cx="649224" cy="6492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H" panose="00020600040101010101" pitchFamily="18" charset="-122"/>
                </a:rPr>
                <a:t>02</a:t>
              </a:r>
              <a:endParaRPr lang="zh-CN" altLang="en-US" sz="2000" dirty="0">
                <a:solidFill>
                  <a:schemeClr val="tx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17"/>
              </p:custDataLst>
            </p:nvPr>
          </p:nvSpPr>
          <p:spPr>
            <a:xfrm>
              <a:off x="4441795" y="1868990"/>
              <a:ext cx="2771140" cy="36830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400" dirty="0">
                  <a:solidFill>
                    <a:srgbClr val="3A472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R" panose="00020600040101010101" pitchFamily="18" charset="-122"/>
                  <a:sym typeface="Noto Sans SC" panose="020B0200000000000000" charset="-122"/>
                </a:rPr>
                <a:t>相关理论与关键技术</a:t>
              </a:r>
              <a:endParaRPr lang="zh-CN" altLang="en-US" sz="2400" dirty="0">
                <a:solidFill>
                  <a:srgbClr val="3A472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endParaRPr>
            </a:p>
            <a:p>
              <a:endParaRPr lang="zh-CN" altLang="en-US" sz="2400" dirty="0">
                <a:solidFill>
                  <a:srgbClr val="3A472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18"/>
            </p:custDataLst>
          </p:nvPr>
        </p:nvGrpSpPr>
        <p:grpSpPr>
          <a:xfrm>
            <a:off x="5292723" y="4920862"/>
            <a:ext cx="3934047" cy="1315387"/>
            <a:chOff x="3285460" y="1395915"/>
            <a:chExt cx="3934047" cy="1315387"/>
          </a:xfrm>
        </p:grpSpPr>
        <p:sp>
          <p:nvSpPr>
            <p:cNvPr id="10" name="矩形: 圆角 65"/>
            <p:cNvSpPr/>
            <p:nvPr>
              <p:custDataLst>
                <p:tags r:id="rId19"/>
              </p:custDataLst>
            </p:nvPr>
          </p:nvSpPr>
          <p:spPr>
            <a:xfrm>
              <a:off x="3285460" y="1395915"/>
              <a:ext cx="3934047" cy="1315387"/>
            </a:xfrm>
            <a:prstGeom prst="roundRect">
              <a:avLst>
                <a:gd name="adj" fmla="val 10526"/>
              </a:avLst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>
              <p:custDataLst>
                <p:tags r:id="rId20"/>
              </p:custDataLst>
            </p:nvPr>
          </p:nvSpPr>
          <p:spPr>
            <a:xfrm>
              <a:off x="3656935" y="1728996"/>
              <a:ext cx="649224" cy="6492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000" dirty="0">
                  <a:solidFill>
                    <a:schemeClr val="tx2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H" panose="00020600040101010101" pitchFamily="18" charset="-122"/>
                </a:rPr>
                <a:t>05</a:t>
              </a:r>
              <a:endParaRPr lang="zh-CN" altLang="en-US" sz="2000" dirty="0">
                <a:solidFill>
                  <a:schemeClr val="tx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H" panose="00020600040101010101" pitchFamily="18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21"/>
              </p:custDataLst>
            </p:nvPr>
          </p:nvSpPr>
          <p:spPr>
            <a:xfrm>
              <a:off x="4465925" y="1869625"/>
              <a:ext cx="2645410" cy="36830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400" dirty="0">
                  <a:solidFill>
                    <a:srgbClr val="3A472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R" panose="00020600040101010101" pitchFamily="18" charset="-122"/>
                  <a:sym typeface="Noto Sans SC" panose="020B0200000000000000" charset="-122"/>
                </a:rPr>
                <a:t>总结与</a:t>
              </a:r>
              <a:r>
                <a:rPr lang="zh-CN" altLang="en-US" sz="2400" dirty="0">
                  <a:solidFill>
                    <a:srgbClr val="3A472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R" panose="00020600040101010101" pitchFamily="18" charset="-122"/>
                  <a:sym typeface="Noto Sans SC" panose="020B0200000000000000" charset="-122"/>
                </a:rPr>
                <a:t>展望</a:t>
              </a:r>
              <a:endParaRPr lang="zh-CN" altLang="en-US" sz="2400" dirty="0">
                <a:solidFill>
                  <a:srgbClr val="3A472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Noto Sans SC" panose="020B0200000000000000" charset="-122"/>
              </a:endParaRPr>
            </a:p>
          </p:txBody>
        </p:sp>
      </p:grpSp>
      <p:pic>
        <p:nvPicPr>
          <p:cNvPr id="13" name="图片 12" descr="校徽(1)"/>
          <p:cNvPicPr>
            <a:picLocks noChangeAspect="1"/>
          </p:cNvPicPr>
          <p:nvPr/>
        </p:nvPicPr>
        <p:blipFill>
          <a:blip r:embed="rId22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69930" y="-58420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  <p:bldLst>
      <p:bldP spid="6" grpId="0" animBg="1"/>
      <p:bldP spid="34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25450" y="107315"/>
            <a:ext cx="526923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01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引言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研究背景与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痛点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</a:endParaRPr>
          </a:p>
        </p:txBody>
      </p:sp>
      <p:grpSp>
        <p:nvGrpSpPr>
          <p:cNvPr id="44" name="组合 43"/>
          <p:cNvGrpSpPr/>
          <p:nvPr>
            <p:custDataLst>
              <p:tags r:id="rId1"/>
            </p:custDataLst>
          </p:nvPr>
        </p:nvGrpSpPr>
        <p:grpSpPr>
          <a:xfrm>
            <a:off x="801009" y="2256961"/>
            <a:ext cx="2793365" cy="3152032"/>
            <a:chOff x="687323" y="3957110"/>
            <a:chExt cx="2793365" cy="3152032"/>
          </a:xfrm>
        </p:grpSpPr>
        <p:grpSp>
          <p:nvGrpSpPr>
            <p:cNvPr id="43" name="组合 42"/>
            <p:cNvGrpSpPr/>
            <p:nvPr/>
          </p:nvGrpSpPr>
          <p:grpSpPr>
            <a:xfrm>
              <a:off x="687323" y="4113212"/>
              <a:ext cx="2793365" cy="2995930"/>
              <a:chOff x="687323" y="4113212"/>
              <a:chExt cx="2793365" cy="2995930"/>
            </a:xfrm>
          </p:grpSpPr>
          <p:sp>
            <p:nvSpPr>
              <p:cNvPr id="29" name="文本框 28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479393" y="4113212"/>
                <a:ext cx="2001190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l">
                  <a:lnSpc>
                    <a:spcPct val="120000"/>
                  </a:lnSpc>
                  <a:buClrTx/>
                  <a:buSzTx/>
                  <a:buFontTx/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  <a:sym typeface="Noto Sans SC" panose="020B0200000000000000" charset="-122"/>
                  </a:rPr>
                  <a:t>需求变更频繁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30" name="文本框 2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87323" y="5206682"/>
                <a:ext cx="2793365" cy="190246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marR="0" lvl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软件项目在迭代和维护过程中，需求往往因业务规则更新、用户反馈优化和功能动态调整而不断变化，难以保持长期的稳定性</a:t>
                </a:r>
                <a:r>
                  <a:rPr lang="zh-CN" altLang="en-US" sz="1400" dirty="0"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" panose="00020600040101010101" pitchFamily="18" charset="-122"/>
                  </a:rPr>
                  <a:t>。</a:t>
                </a:r>
                <a:endParaRPr lang="zh-CN" altLang="en-US" sz="1400" dirty="0"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687323" y="3957110"/>
              <a:ext cx="681139" cy="681139"/>
              <a:chOff x="687323" y="3957110"/>
              <a:chExt cx="681139" cy="681139"/>
            </a:xfrm>
          </p:grpSpPr>
          <p:sp>
            <p:nvSpPr>
              <p:cNvPr id="31" name="椭圆 30"/>
              <p:cNvSpPr/>
              <p:nvPr>
                <p:custDataLst>
                  <p:tags r:id="rId4"/>
                </p:custDataLst>
              </p:nvPr>
            </p:nvSpPr>
            <p:spPr>
              <a:xfrm>
                <a:off x="687323" y="3957110"/>
                <a:ext cx="681139" cy="68113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>
                <p:custDataLst>
                  <p:tags r:id="rId5"/>
                </p:custDataLst>
              </p:nvPr>
            </p:nvSpPr>
            <p:spPr>
              <a:xfrm>
                <a:off x="871654" y="4120252"/>
                <a:ext cx="312476" cy="354854"/>
              </a:xfrm>
              <a:custGeom>
                <a:avLst/>
                <a:gdLst>
                  <a:gd name="connsiteX0" fmla="*/ 78186 w 230145"/>
                  <a:gd name="connsiteY0" fmla="*/ 249062 h 261357"/>
                  <a:gd name="connsiteX1" fmla="*/ 152118 w 230145"/>
                  <a:gd name="connsiteY1" fmla="*/ 249062 h 261357"/>
                  <a:gd name="connsiteX2" fmla="*/ 152118 w 230145"/>
                  <a:gd name="connsiteY2" fmla="*/ 261357 h 261357"/>
                  <a:gd name="connsiteX3" fmla="*/ 78186 w 230145"/>
                  <a:gd name="connsiteY3" fmla="*/ 261357 h 261357"/>
                  <a:gd name="connsiteX4" fmla="*/ 217850 w 230145"/>
                  <a:gd name="connsiteY4" fmla="*/ 108137 h 261357"/>
                  <a:gd name="connsiteX5" fmla="*/ 230145 w 230145"/>
                  <a:gd name="connsiteY5" fmla="*/ 108137 h 261357"/>
                  <a:gd name="connsiteX6" fmla="*/ 230145 w 230145"/>
                  <a:gd name="connsiteY6" fmla="*/ 120432 h 261357"/>
                  <a:gd name="connsiteX7" fmla="*/ 217850 w 230145"/>
                  <a:gd name="connsiteY7" fmla="*/ 120432 h 261357"/>
                  <a:gd name="connsiteX8" fmla="*/ 0 w 230145"/>
                  <a:gd name="connsiteY8" fmla="*/ 108137 h 261357"/>
                  <a:gd name="connsiteX9" fmla="*/ 12296 w 230145"/>
                  <a:gd name="connsiteY9" fmla="*/ 108137 h 261357"/>
                  <a:gd name="connsiteX10" fmla="*/ 12296 w 230145"/>
                  <a:gd name="connsiteY10" fmla="*/ 120432 h 261357"/>
                  <a:gd name="connsiteX11" fmla="*/ 0 w 230145"/>
                  <a:gd name="connsiteY11" fmla="*/ 120432 h 261357"/>
                  <a:gd name="connsiteX12" fmla="*/ 80393 w 230145"/>
                  <a:gd name="connsiteY12" fmla="*/ 103723 h 261357"/>
                  <a:gd name="connsiteX13" fmla="*/ 97734 w 230145"/>
                  <a:gd name="connsiteY13" fmla="*/ 121063 h 261357"/>
                  <a:gd name="connsiteX14" fmla="*/ 106719 w 230145"/>
                  <a:gd name="connsiteY14" fmla="*/ 112392 h 261357"/>
                  <a:gd name="connsiteX15" fmla="*/ 115389 w 230145"/>
                  <a:gd name="connsiteY15" fmla="*/ 103723 h 261357"/>
                  <a:gd name="connsiteX16" fmla="*/ 124058 w 230145"/>
                  <a:gd name="connsiteY16" fmla="*/ 112392 h 261357"/>
                  <a:gd name="connsiteX17" fmla="*/ 132728 w 230145"/>
                  <a:gd name="connsiteY17" fmla="*/ 121063 h 261357"/>
                  <a:gd name="connsiteX18" fmla="*/ 150067 w 230145"/>
                  <a:gd name="connsiteY18" fmla="*/ 103723 h 261357"/>
                  <a:gd name="connsiteX19" fmla="*/ 158738 w 230145"/>
                  <a:gd name="connsiteY19" fmla="*/ 112392 h 261357"/>
                  <a:gd name="connsiteX20" fmla="*/ 141398 w 230145"/>
                  <a:gd name="connsiteY20" fmla="*/ 129891 h 261357"/>
                  <a:gd name="connsiteX21" fmla="*/ 132728 w 230145"/>
                  <a:gd name="connsiteY21" fmla="*/ 138560 h 261357"/>
                  <a:gd name="connsiteX22" fmla="*/ 115231 w 230145"/>
                  <a:gd name="connsiteY22" fmla="*/ 121063 h 261357"/>
                  <a:gd name="connsiteX23" fmla="*/ 97734 w 230145"/>
                  <a:gd name="connsiteY23" fmla="*/ 138560 h 261357"/>
                  <a:gd name="connsiteX24" fmla="*/ 89064 w 230145"/>
                  <a:gd name="connsiteY24" fmla="*/ 129891 h 261357"/>
                  <a:gd name="connsiteX25" fmla="*/ 71724 w 230145"/>
                  <a:gd name="connsiteY25" fmla="*/ 112392 h 261357"/>
                  <a:gd name="connsiteX26" fmla="*/ 115073 w 230145"/>
                  <a:gd name="connsiteY26" fmla="*/ 33891 h 261357"/>
                  <a:gd name="connsiteX27" fmla="*/ 33891 w 230145"/>
                  <a:gd name="connsiteY27" fmla="*/ 115073 h 261357"/>
                  <a:gd name="connsiteX28" fmla="*/ 84650 w 230145"/>
                  <a:gd name="connsiteY28" fmla="*/ 190264 h 261357"/>
                  <a:gd name="connsiteX29" fmla="*/ 90482 w 230145"/>
                  <a:gd name="connsiteY29" fmla="*/ 192313 h 261357"/>
                  <a:gd name="connsiteX30" fmla="*/ 90482 w 230145"/>
                  <a:gd name="connsiteY30" fmla="*/ 224471 h 261357"/>
                  <a:gd name="connsiteX31" fmla="*/ 139822 w 230145"/>
                  <a:gd name="connsiteY31" fmla="*/ 224471 h 261357"/>
                  <a:gd name="connsiteX32" fmla="*/ 139822 w 230145"/>
                  <a:gd name="connsiteY32" fmla="*/ 192313 h 261357"/>
                  <a:gd name="connsiteX33" fmla="*/ 145654 w 230145"/>
                  <a:gd name="connsiteY33" fmla="*/ 190264 h 261357"/>
                  <a:gd name="connsiteX34" fmla="*/ 196255 w 230145"/>
                  <a:gd name="connsiteY34" fmla="*/ 115073 h 261357"/>
                  <a:gd name="connsiteX35" fmla="*/ 115073 w 230145"/>
                  <a:gd name="connsiteY35" fmla="*/ 33891 h 261357"/>
                  <a:gd name="connsiteX36" fmla="*/ 195781 w 230145"/>
                  <a:gd name="connsiteY36" fmla="*/ 33577 h 261357"/>
                  <a:gd name="connsiteX37" fmla="*/ 204451 w 230145"/>
                  <a:gd name="connsiteY37" fmla="*/ 42246 h 261357"/>
                  <a:gd name="connsiteX38" fmla="*/ 195781 w 230145"/>
                  <a:gd name="connsiteY38" fmla="*/ 50916 h 261357"/>
                  <a:gd name="connsiteX39" fmla="*/ 187111 w 230145"/>
                  <a:gd name="connsiteY39" fmla="*/ 42246 h 261357"/>
                  <a:gd name="connsiteX40" fmla="*/ 34207 w 230145"/>
                  <a:gd name="connsiteY40" fmla="*/ 33577 h 261357"/>
                  <a:gd name="connsiteX41" fmla="*/ 42876 w 230145"/>
                  <a:gd name="connsiteY41" fmla="*/ 42246 h 261357"/>
                  <a:gd name="connsiteX42" fmla="*/ 34207 w 230145"/>
                  <a:gd name="connsiteY42" fmla="*/ 50916 h 261357"/>
                  <a:gd name="connsiteX43" fmla="*/ 25537 w 230145"/>
                  <a:gd name="connsiteY43" fmla="*/ 42246 h 261357"/>
                  <a:gd name="connsiteX44" fmla="*/ 115231 w 230145"/>
                  <a:gd name="connsiteY44" fmla="*/ 21439 h 261357"/>
                  <a:gd name="connsiteX45" fmla="*/ 181279 w 230145"/>
                  <a:gd name="connsiteY45" fmla="*/ 48867 h 261357"/>
                  <a:gd name="connsiteX46" fmla="*/ 208707 w 230145"/>
                  <a:gd name="connsiteY46" fmla="*/ 115073 h 261357"/>
                  <a:gd name="connsiteX47" fmla="*/ 181279 w 230145"/>
                  <a:gd name="connsiteY47" fmla="*/ 181121 h 261357"/>
                  <a:gd name="connsiteX48" fmla="*/ 152118 w 230145"/>
                  <a:gd name="connsiteY48" fmla="*/ 200983 h 261357"/>
                  <a:gd name="connsiteX49" fmla="*/ 152118 w 230145"/>
                  <a:gd name="connsiteY49" fmla="*/ 236766 h 261357"/>
                  <a:gd name="connsiteX50" fmla="*/ 78186 w 230145"/>
                  <a:gd name="connsiteY50" fmla="*/ 236766 h 261357"/>
                  <a:gd name="connsiteX51" fmla="*/ 78186 w 230145"/>
                  <a:gd name="connsiteY51" fmla="*/ 200983 h 261357"/>
                  <a:gd name="connsiteX52" fmla="*/ 49025 w 230145"/>
                  <a:gd name="connsiteY52" fmla="*/ 181121 h 261357"/>
                  <a:gd name="connsiteX53" fmla="*/ 21753 w 230145"/>
                  <a:gd name="connsiteY53" fmla="*/ 115073 h 261357"/>
                  <a:gd name="connsiteX54" fmla="*/ 49025 w 230145"/>
                  <a:gd name="connsiteY54" fmla="*/ 48867 h 261357"/>
                  <a:gd name="connsiteX55" fmla="*/ 115231 w 230145"/>
                  <a:gd name="connsiteY55" fmla="*/ 21439 h 261357"/>
                  <a:gd name="connsiteX56" fmla="*/ 109082 w 230145"/>
                  <a:gd name="connsiteY56" fmla="*/ 0 h 261357"/>
                  <a:gd name="connsiteX57" fmla="*/ 121378 w 230145"/>
                  <a:gd name="connsiteY57" fmla="*/ 0 h 261357"/>
                  <a:gd name="connsiteX58" fmla="*/ 121378 w 230145"/>
                  <a:gd name="connsiteY58" fmla="*/ 12296 h 261357"/>
                  <a:gd name="connsiteX59" fmla="*/ 109082 w 230145"/>
                  <a:gd name="connsiteY59" fmla="*/ 12296 h 26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230145" h="261357">
                    <a:moveTo>
                      <a:pt x="78186" y="249062"/>
                    </a:moveTo>
                    <a:lnTo>
                      <a:pt x="152118" y="249062"/>
                    </a:lnTo>
                    <a:lnTo>
                      <a:pt x="152118" y="261357"/>
                    </a:lnTo>
                    <a:lnTo>
                      <a:pt x="78186" y="261357"/>
                    </a:lnTo>
                    <a:close/>
                    <a:moveTo>
                      <a:pt x="217850" y="108137"/>
                    </a:moveTo>
                    <a:lnTo>
                      <a:pt x="230145" y="108137"/>
                    </a:lnTo>
                    <a:lnTo>
                      <a:pt x="230145" y="120432"/>
                    </a:lnTo>
                    <a:lnTo>
                      <a:pt x="217850" y="120432"/>
                    </a:lnTo>
                    <a:close/>
                    <a:moveTo>
                      <a:pt x="0" y="108137"/>
                    </a:moveTo>
                    <a:lnTo>
                      <a:pt x="12296" y="108137"/>
                    </a:lnTo>
                    <a:lnTo>
                      <a:pt x="12296" y="120432"/>
                    </a:lnTo>
                    <a:lnTo>
                      <a:pt x="0" y="120432"/>
                    </a:lnTo>
                    <a:close/>
                    <a:moveTo>
                      <a:pt x="80393" y="103723"/>
                    </a:moveTo>
                    <a:lnTo>
                      <a:pt x="97734" y="121063"/>
                    </a:lnTo>
                    <a:lnTo>
                      <a:pt x="106719" y="112392"/>
                    </a:lnTo>
                    <a:lnTo>
                      <a:pt x="115389" y="103723"/>
                    </a:lnTo>
                    <a:lnTo>
                      <a:pt x="124058" y="112392"/>
                    </a:lnTo>
                    <a:lnTo>
                      <a:pt x="132728" y="121063"/>
                    </a:lnTo>
                    <a:lnTo>
                      <a:pt x="150067" y="103723"/>
                    </a:lnTo>
                    <a:lnTo>
                      <a:pt x="158738" y="112392"/>
                    </a:lnTo>
                    <a:lnTo>
                      <a:pt x="141398" y="129891"/>
                    </a:lnTo>
                    <a:lnTo>
                      <a:pt x="132728" y="138560"/>
                    </a:lnTo>
                    <a:lnTo>
                      <a:pt x="115231" y="121063"/>
                    </a:lnTo>
                    <a:lnTo>
                      <a:pt x="97734" y="138560"/>
                    </a:lnTo>
                    <a:lnTo>
                      <a:pt x="89064" y="129891"/>
                    </a:lnTo>
                    <a:lnTo>
                      <a:pt x="71724" y="112392"/>
                    </a:lnTo>
                    <a:close/>
                    <a:moveTo>
                      <a:pt x="115073" y="33891"/>
                    </a:moveTo>
                    <a:cubicBezTo>
                      <a:pt x="70305" y="33891"/>
                      <a:pt x="33891" y="70304"/>
                      <a:pt x="33891" y="115073"/>
                    </a:cubicBezTo>
                    <a:cubicBezTo>
                      <a:pt x="33891" y="148964"/>
                      <a:pt x="55014" y="178127"/>
                      <a:pt x="84650" y="190264"/>
                    </a:cubicBezTo>
                    <a:cubicBezTo>
                      <a:pt x="86542" y="191052"/>
                      <a:pt x="88591" y="191683"/>
                      <a:pt x="90482" y="192313"/>
                    </a:cubicBezTo>
                    <a:lnTo>
                      <a:pt x="90482" y="224471"/>
                    </a:lnTo>
                    <a:lnTo>
                      <a:pt x="139822" y="224471"/>
                    </a:lnTo>
                    <a:lnTo>
                      <a:pt x="139822" y="192313"/>
                    </a:lnTo>
                    <a:cubicBezTo>
                      <a:pt x="141871" y="191684"/>
                      <a:pt x="143762" y="191052"/>
                      <a:pt x="145654" y="190264"/>
                    </a:cubicBezTo>
                    <a:cubicBezTo>
                      <a:pt x="175290" y="178127"/>
                      <a:pt x="196255" y="148964"/>
                      <a:pt x="196255" y="115073"/>
                    </a:cubicBezTo>
                    <a:cubicBezTo>
                      <a:pt x="196255" y="70304"/>
                      <a:pt x="159842" y="33891"/>
                      <a:pt x="115073" y="33891"/>
                    </a:cubicBezTo>
                    <a:close/>
                    <a:moveTo>
                      <a:pt x="195781" y="33577"/>
                    </a:moveTo>
                    <a:lnTo>
                      <a:pt x="204451" y="42246"/>
                    </a:lnTo>
                    <a:lnTo>
                      <a:pt x="195781" y="50916"/>
                    </a:lnTo>
                    <a:lnTo>
                      <a:pt x="187111" y="42246"/>
                    </a:lnTo>
                    <a:close/>
                    <a:moveTo>
                      <a:pt x="34207" y="33577"/>
                    </a:moveTo>
                    <a:lnTo>
                      <a:pt x="42876" y="42246"/>
                    </a:lnTo>
                    <a:lnTo>
                      <a:pt x="34207" y="50916"/>
                    </a:lnTo>
                    <a:lnTo>
                      <a:pt x="25537" y="42246"/>
                    </a:lnTo>
                    <a:close/>
                    <a:moveTo>
                      <a:pt x="115231" y="21439"/>
                    </a:moveTo>
                    <a:cubicBezTo>
                      <a:pt x="140136" y="21439"/>
                      <a:pt x="163624" y="31212"/>
                      <a:pt x="181279" y="48867"/>
                    </a:cubicBezTo>
                    <a:cubicBezTo>
                      <a:pt x="198934" y="66680"/>
                      <a:pt x="208707" y="90168"/>
                      <a:pt x="208707" y="115073"/>
                    </a:cubicBezTo>
                    <a:cubicBezTo>
                      <a:pt x="208707" y="139981"/>
                      <a:pt x="198933" y="163466"/>
                      <a:pt x="181279" y="181121"/>
                    </a:cubicBezTo>
                    <a:cubicBezTo>
                      <a:pt x="172767" y="189634"/>
                      <a:pt x="162836" y="196413"/>
                      <a:pt x="152118" y="200983"/>
                    </a:cubicBezTo>
                    <a:lnTo>
                      <a:pt x="152118" y="236766"/>
                    </a:lnTo>
                    <a:lnTo>
                      <a:pt x="78186" y="236766"/>
                    </a:lnTo>
                    <a:lnTo>
                      <a:pt x="78186" y="200983"/>
                    </a:lnTo>
                    <a:cubicBezTo>
                      <a:pt x="67468" y="196255"/>
                      <a:pt x="57537" y="189634"/>
                      <a:pt x="49025" y="181121"/>
                    </a:cubicBezTo>
                    <a:cubicBezTo>
                      <a:pt x="31528" y="163466"/>
                      <a:pt x="21753" y="140136"/>
                      <a:pt x="21753" y="115073"/>
                    </a:cubicBezTo>
                    <a:cubicBezTo>
                      <a:pt x="21753" y="90010"/>
                      <a:pt x="31370" y="66364"/>
                      <a:pt x="49025" y="48867"/>
                    </a:cubicBezTo>
                    <a:cubicBezTo>
                      <a:pt x="66680" y="31370"/>
                      <a:pt x="90324" y="21439"/>
                      <a:pt x="115231" y="21439"/>
                    </a:cubicBezTo>
                    <a:close/>
                    <a:moveTo>
                      <a:pt x="109082" y="0"/>
                    </a:moveTo>
                    <a:lnTo>
                      <a:pt x="121378" y="0"/>
                    </a:lnTo>
                    <a:lnTo>
                      <a:pt x="121378" y="12296"/>
                    </a:lnTo>
                    <a:lnTo>
                      <a:pt x="109082" y="12296"/>
                    </a:lnTo>
                    <a:close/>
                  </a:path>
                </a:pathLst>
              </a:custGeom>
              <a:solidFill>
                <a:schemeClr val="tx2"/>
              </a:solidFill>
              <a:ln w="2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5" name="组合 44"/>
          <p:cNvGrpSpPr/>
          <p:nvPr>
            <p:custDataLst>
              <p:tags r:id="rId6"/>
            </p:custDataLst>
          </p:nvPr>
        </p:nvGrpSpPr>
        <p:grpSpPr>
          <a:xfrm>
            <a:off x="4701910" y="2256961"/>
            <a:ext cx="2793365" cy="3084722"/>
            <a:chOff x="687323" y="3957110"/>
            <a:chExt cx="2793365" cy="3084722"/>
          </a:xfrm>
        </p:grpSpPr>
        <p:grpSp>
          <p:nvGrpSpPr>
            <p:cNvPr id="46" name="组合 45"/>
            <p:cNvGrpSpPr/>
            <p:nvPr/>
          </p:nvGrpSpPr>
          <p:grpSpPr>
            <a:xfrm>
              <a:off x="687323" y="4113212"/>
              <a:ext cx="2793365" cy="2928620"/>
              <a:chOff x="687323" y="4113212"/>
              <a:chExt cx="2793365" cy="2928620"/>
            </a:xfrm>
          </p:grpSpPr>
          <p:sp>
            <p:nvSpPr>
              <p:cNvPr id="50" name="文本框 4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479393" y="4113212"/>
                <a:ext cx="2001190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  <a:sym typeface="Noto Sans SC" panose="020B0200000000000000" charset="-122"/>
                  </a:rPr>
                  <a:t>人工管理困境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51" name="文本框 50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87323" y="5199062"/>
                <a:ext cx="2793365" cy="184277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indent="0" algn="l">
                  <a:lnSpc>
                    <a:spcPct val="117000"/>
                  </a:lnSpc>
                  <a:defRPr/>
                </a:pPr>
                <a:r>
                  <a:rPr lang="en-US" sz="1400" b="1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来源分散：</a:t>
                </a:r>
                <a:r>
                  <a:rPr lang="en-US" sz="1400">
                    <a:solidFill>
                      <a:srgbClr val="6B728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需求常保存在Word、TXT等非结构化文档中，难以统一。</a:t>
                </a:r>
                <a:endParaRPr lang="en-US" sz="1400"/>
              </a:p>
              <a:p>
                <a:pPr indent="0" algn="l">
                  <a:lnSpc>
                    <a:spcPct val="117000"/>
                  </a:lnSpc>
                  <a:spcBef>
                    <a:spcPts val="800"/>
                  </a:spcBef>
                </a:pPr>
                <a:r>
                  <a:rPr lang="en-US" sz="1400" b="1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维护困难：</a:t>
                </a:r>
                <a:r>
                  <a:rPr lang="en-US" sz="1400">
                    <a:solidFill>
                      <a:srgbClr val="6B728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纯人工拆分易导致编号混乱、来源缺失、修改无记录。</a:t>
                </a:r>
                <a:endParaRPr lang="en-US" sz="14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  <a:p>
                <a:pPr indent="0" algn="l">
                  <a:lnSpc>
                    <a:spcPct val="117000"/>
                  </a:lnSpc>
                  <a:spcBef>
                    <a:spcPts val="800"/>
                  </a:spcBef>
                </a:pPr>
                <a:r>
                  <a:rPr lang="en-US" sz="1400" b="1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追溯性差：</a:t>
                </a:r>
                <a:r>
                  <a:rPr lang="en-US" sz="1400">
                    <a:solidFill>
                      <a:srgbClr val="6B728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变更后难追溯来源与演化历史，增加后期维护成本。</a:t>
                </a:r>
                <a:endParaRPr lang="zh-CN" altLang="en-US" sz="1400" dirty="0"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687323" y="3957110"/>
              <a:ext cx="681139" cy="681139"/>
              <a:chOff x="687323" y="3957110"/>
              <a:chExt cx="681139" cy="681139"/>
            </a:xfrm>
          </p:grpSpPr>
          <p:sp>
            <p:nvSpPr>
              <p:cNvPr id="48" name="椭圆 47"/>
              <p:cNvSpPr/>
              <p:nvPr>
                <p:custDataLst>
                  <p:tags r:id="rId9"/>
                </p:custDataLst>
              </p:nvPr>
            </p:nvSpPr>
            <p:spPr>
              <a:xfrm>
                <a:off x="687323" y="3957110"/>
                <a:ext cx="681139" cy="68113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>
                <p:custDataLst>
                  <p:tags r:id="rId10"/>
                </p:custDataLst>
              </p:nvPr>
            </p:nvSpPr>
            <p:spPr>
              <a:xfrm>
                <a:off x="871654" y="4120252"/>
                <a:ext cx="312476" cy="354854"/>
              </a:xfrm>
              <a:custGeom>
                <a:avLst/>
                <a:gdLst>
                  <a:gd name="connsiteX0" fmla="*/ 78186 w 230145"/>
                  <a:gd name="connsiteY0" fmla="*/ 249062 h 261357"/>
                  <a:gd name="connsiteX1" fmla="*/ 152118 w 230145"/>
                  <a:gd name="connsiteY1" fmla="*/ 249062 h 261357"/>
                  <a:gd name="connsiteX2" fmla="*/ 152118 w 230145"/>
                  <a:gd name="connsiteY2" fmla="*/ 261357 h 261357"/>
                  <a:gd name="connsiteX3" fmla="*/ 78186 w 230145"/>
                  <a:gd name="connsiteY3" fmla="*/ 261357 h 261357"/>
                  <a:gd name="connsiteX4" fmla="*/ 217850 w 230145"/>
                  <a:gd name="connsiteY4" fmla="*/ 108137 h 261357"/>
                  <a:gd name="connsiteX5" fmla="*/ 230145 w 230145"/>
                  <a:gd name="connsiteY5" fmla="*/ 108137 h 261357"/>
                  <a:gd name="connsiteX6" fmla="*/ 230145 w 230145"/>
                  <a:gd name="connsiteY6" fmla="*/ 120432 h 261357"/>
                  <a:gd name="connsiteX7" fmla="*/ 217850 w 230145"/>
                  <a:gd name="connsiteY7" fmla="*/ 120432 h 261357"/>
                  <a:gd name="connsiteX8" fmla="*/ 0 w 230145"/>
                  <a:gd name="connsiteY8" fmla="*/ 108137 h 261357"/>
                  <a:gd name="connsiteX9" fmla="*/ 12296 w 230145"/>
                  <a:gd name="connsiteY9" fmla="*/ 108137 h 261357"/>
                  <a:gd name="connsiteX10" fmla="*/ 12296 w 230145"/>
                  <a:gd name="connsiteY10" fmla="*/ 120432 h 261357"/>
                  <a:gd name="connsiteX11" fmla="*/ 0 w 230145"/>
                  <a:gd name="connsiteY11" fmla="*/ 120432 h 261357"/>
                  <a:gd name="connsiteX12" fmla="*/ 80393 w 230145"/>
                  <a:gd name="connsiteY12" fmla="*/ 103723 h 261357"/>
                  <a:gd name="connsiteX13" fmla="*/ 97734 w 230145"/>
                  <a:gd name="connsiteY13" fmla="*/ 121063 h 261357"/>
                  <a:gd name="connsiteX14" fmla="*/ 106719 w 230145"/>
                  <a:gd name="connsiteY14" fmla="*/ 112392 h 261357"/>
                  <a:gd name="connsiteX15" fmla="*/ 115389 w 230145"/>
                  <a:gd name="connsiteY15" fmla="*/ 103723 h 261357"/>
                  <a:gd name="connsiteX16" fmla="*/ 124058 w 230145"/>
                  <a:gd name="connsiteY16" fmla="*/ 112392 h 261357"/>
                  <a:gd name="connsiteX17" fmla="*/ 132728 w 230145"/>
                  <a:gd name="connsiteY17" fmla="*/ 121063 h 261357"/>
                  <a:gd name="connsiteX18" fmla="*/ 150067 w 230145"/>
                  <a:gd name="connsiteY18" fmla="*/ 103723 h 261357"/>
                  <a:gd name="connsiteX19" fmla="*/ 158738 w 230145"/>
                  <a:gd name="connsiteY19" fmla="*/ 112392 h 261357"/>
                  <a:gd name="connsiteX20" fmla="*/ 141398 w 230145"/>
                  <a:gd name="connsiteY20" fmla="*/ 129891 h 261357"/>
                  <a:gd name="connsiteX21" fmla="*/ 132728 w 230145"/>
                  <a:gd name="connsiteY21" fmla="*/ 138560 h 261357"/>
                  <a:gd name="connsiteX22" fmla="*/ 115231 w 230145"/>
                  <a:gd name="connsiteY22" fmla="*/ 121063 h 261357"/>
                  <a:gd name="connsiteX23" fmla="*/ 97734 w 230145"/>
                  <a:gd name="connsiteY23" fmla="*/ 138560 h 261357"/>
                  <a:gd name="connsiteX24" fmla="*/ 89064 w 230145"/>
                  <a:gd name="connsiteY24" fmla="*/ 129891 h 261357"/>
                  <a:gd name="connsiteX25" fmla="*/ 71724 w 230145"/>
                  <a:gd name="connsiteY25" fmla="*/ 112392 h 261357"/>
                  <a:gd name="connsiteX26" fmla="*/ 115073 w 230145"/>
                  <a:gd name="connsiteY26" fmla="*/ 33891 h 261357"/>
                  <a:gd name="connsiteX27" fmla="*/ 33891 w 230145"/>
                  <a:gd name="connsiteY27" fmla="*/ 115073 h 261357"/>
                  <a:gd name="connsiteX28" fmla="*/ 84650 w 230145"/>
                  <a:gd name="connsiteY28" fmla="*/ 190264 h 261357"/>
                  <a:gd name="connsiteX29" fmla="*/ 90482 w 230145"/>
                  <a:gd name="connsiteY29" fmla="*/ 192313 h 261357"/>
                  <a:gd name="connsiteX30" fmla="*/ 90482 w 230145"/>
                  <a:gd name="connsiteY30" fmla="*/ 224471 h 261357"/>
                  <a:gd name="connsiteX31" fmla="*/ 139822 w 230145"/>
                  <a:gd name="connsiteY31" fmla="*/ 224471 h 261357"/>
                  <a:gd name="connsiteX32" fmla="*/ 139822 w 230145"/>
                  <a:gd name="connsiteY32" fmla="*/ 192313 h 261357"/>
                  <a:gd name="connsiteX33" fmla="*/ 145654 w 230145"/>
                  <a:gd name="connsiteY33" fmla="*/ 190264 h 261357"/>
                  <a:gd name="connsiteX34" fmla="*/ 196255 w 230145"/>
                  <a:gd name="connsiteY34" fmla="*/ 115073 h 261357"/>
                  <a:gd name="connsiteX35" fmla="*/ 115073 w 230145"/>
                  <a:gd name="connsiteY35" fmla="*/ 33891 h 261357"/>
                  <a:gd name="connsiteX36" fmla="*/ 195781 w 230145"/>
                  <a:gd name="connsiteY36" fmla="*/ 33577 h 261357"/>
                  <a:gd name="connsiteX37" fmla="*/ 204451 w 230145"/>
                  <a:gd name="connsiteY37" fmla="*/ 42246 h 261357"/>
                  <a:gd name="connsiteX38" fmla="*/ 195781 w 230145"/>
                  <a:gd name="connsiteY38" fmla="*/ 50916 h 261357"/>
                  <a:gd name="connsiteX39" fmla="*/ 187111 w 230145"/>
                  <a:gd name="connsiteY39" fmla="*/ 42246 h 261357"/>
                  <a:gd name="connsiteX40" fmla="*/ 34207 w 230145"/>
                  <a:gd name="connsiteY40" fmla="*/ 33577 h 261357"/>
                  <a:gd name="connsiteX41" fmla="*/ 42876 w 230145"/>
                  <a:gd name="connsiteY41" fmla="*/ 42246 h 261357"/>
                  <a:gd name="connsiteX42" fmla="*/ 34207 w 230145"/>
                  <a:gd name="connsiteY42" fmla="*/ 50916 h 261357"/>
                  <a:gd name="connsiteX43" fmla="*/ 25537 w 230145"/>
                  <a:gd name="connsiteY43" fmla="*/ 42246 h 261357"/>
                  <a:gd name="connsiteX44" fmla="*/ 115231 w 230145"/>
                  <a:gd name="connsiteY44" fmla="*/ 21439 h 261357"/>
                  <a:gd name="connsiteX45" fmla="*/ 181279 w 230145"/>
                  <a:gd name="connsiteY45" fmla="*/ 48867 h 261357"/>
                  <a:gd name="connsiteX46" fmla="*/ 208707 w 230145"/>
                  <a:gd name="connsiteY46" fmla="*/ 115073 h 261357"/>
                  <a:gd name="connsiteX47" fmla="*/ 181279 w 230145"/>
                  <a:gd name="connsiteY47" fmla="*/ 181121 h 261357"/>
                  <a:gd name="connsiteX48" fmla="*/ 152118 w 230145"/>
                  <a:gd name="connsiteY48" fmla="*/ 200983 h 261357"/>
                  <a:gd name="connsiteX49" fmla="*/ 152118 w 230145"/>
                  <a:gd name="connsiteY49" fmla="*/ 236766 h 261357"/>
                  <a:gd name="connsiteX50" fmla="*/ 78186 w 230145"/>
                  <a:gd name="connsiteY50" fmla="*/ 236766 h 261357"/>
                  <a:gd name="connsiteX51" fmla="*/ 78186 w 230145"/>
                  <a:gd name="connsiteY51" fmla="*/ 200983 h 261357"/>
                  <a:gd name="connsiteX52" fmla="*/ 49025 w 230145"/>
                  <a:gd name="connsiteY52" fmla="*/ 181121 h 261357"/>
                  <a:gd name="connsiteX53" fmla="*/ 21753 w 230145"/>
                  <a:gd name="connsiteY53" fmla="*/ 115073 h 261357"/>
                  <a:gd name="connsiteX54" fmla="*/ 49025 w 230145"/>
                  <a:gd name="connsiteY54" fmla="*/ 48867 h 261357"/>
                  <a:gd name="connsiteX55" fmla="*/ 115231 w 230145"/>
                  <a:gd name="connsiteY55" fmla="*/ 21439 h 261357"/>
                  <a:gd name="connsiteX56" fmla="*/ 109082 w 230145"/>
                  <a:gd name="connsiteY56" fmla="*/ 0 h 261357"/>
                  <a:gd name="connsiteX57" fmla="*/ 121378 w 230145"/>
                  <a:gd name="connsiteY57" fmla="*/ 0 h 261357"/>
                  <a:gd name="connsiteX58" fmla="*/ 121378 w 230145"/>
                  <a:gd name="connsiteY58" fmla="*/ 12296 h 261357"/>
                  <a:gd name="connsiteX59" fmla="*/ 109082 w 230145"/>
                  <a:gd name="connsiteY59" fmla="*/ 12296 h 26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230145" h="261357">
                    <a:moveTo>
                      <a:pt x="78186" y="249062"/>
                    </a:moveTo>
                    <a:lnTo>
                      <a:pt x="152118" y="249062"/>
                    </a:lnTo>
                    <a:lnTo>
                      <a:pt x="152118" y="261357"/>
                    </a:lnTo>
                    <a:lnTo>
                      <a:pt x="78186" y="261357"/>
                    </a:lnTo>
                    <a:close/>
                    <a:moveTo>
                      <a:pt x="217850" y="108137"/>
                    </a:moveTo>
                    <a:lnTo>
                      <a:pt x="230145" y="108137"/>
                    </a:lnTo>
                    <a:lnTo>
                      <a:pt x="230145" y="120432"/>
                    </a:lnTo>
                    <a:lnTo>
                      <a:pt x="217850" y="120432"/>
                    </a:lnTo>
                    <a:close/>
                    <a:moveTo>
                      <a:pt x="0" y="108137"/>
                    </a:moveTo>
                    <a:lnTo>
                      <a:pt x="12296" y="108137"/>
                    </a:lnTo>
                    <a:lnTo>
                      <a:pt x="12296" y="120432"/>
                    </a:lnTo>
                    <a:lnTo>
                      <a:pt x="0" y="120432"/>
                    </a:lnTo>
                    <a:close/>
                    <a:moveTo>
                      <a:pt x="80393" y="103723"/>
                    </a:moveTo>
                    <a:lnTo>
                      <a:pt x="97734" y="121063"/>
                    </a:lnTo>
                    <a:lnTo>
                      <a:pt x="106719" y="112392"/>
                    </a:lnTo>
                    <a:lnTo>
                      <a:pt x="115389" y="103723"/>
                    </a:lnTo>
                    <a:lnTo>
                      <a:pt x="124058" y="112392"/>
                    </a:lnTo>
                    <a:lnTo>
                      <a:pt x="132728" y="121063"/>
                    </a:lnTo>
                    <a:lnTo>
                      <a:pt x="150067" y="103723"/>
                    </a:lnTo>
                    <a:lnTo>
                      <a:pt x="158738" y="112392"/>
                    </a:lnTo>
                    <a:lnTo>
                      <a:pt x="141398" y="129891"/>
                    </a:lnTo>
                    <a:lnTo>
                      <a:pt x="132728" y="138560"/>
                    </a:lnTo>
                    <a:lnTo>
                      <a:pt x="115231" y="121063"/>
                    </a:lnTo>
                    <a:lnTo>
                      <a:pt x="97734" y="138560"/>
                    </a:lnTo>
                    <a:lnTo>
                      <a:pt x="89064" y="129891"/>
                    </a:lnTo>
                    <a:lnTo>
                      <a:pt x="71724" y="112392"/>
                    </a:lnTo>
                    <a:close/>
                    <a:moveTo>
                      <a:pt x="115073" y="33891"/>
                    </a:moveTo>
                    <a:cubicBezTo>
                      <a:pt x="70305" y="33891"/>
                      <a:pt x="33891" y="70304"/>
                      <a:pt x="33891" y="115073"/>
                    </a:cubicBezTo>
                    <a:cubicBezTo>
                      <a:pt x="33891" y="148964"/>
                      <a:pt x="55014" y="178127"/>
                      <a:pt x="84650" y="190264"/>
                    </a:cubicBezTo>
                    <a:cubicBezTo>
                      <a:pt x="86542" y="191052"/>
                      <a:pt x="88591" y="191683"/>
                      <a:pt x="90482" y="192313"/>
                    </a:cubicBezTo>
                    <a:lnTo>
                      <a:pt x="90482" y="224471"/>
                    </a:lnTo>
                    <a:lnTo>
                      <a:pt x="139822" y="224471"/>
                    </a:lnTo>
                    <a:lnTo>
                      <a:pt x="139822" y="192313"/>
                    </a:lnTo>
                    <a:cubicBezTo>
                      <a:pt x="141871" y="191684"/>
                      <a:pt x="143762" y="191052"/>
                      <a:pt x="145654" y="190264"/>
                    </a:cubicBezTo>
                    <a:cubicBezTo>
                      <a:pt x="175290" y="178127"/>
                      <a:pt x="196255" y="148964"/>
                      <a:pt x="196255" y="115073"/>
                    </a:cubicBezTo>
                    <a:cubicBezTo>
                      <a:pt x="196255" y="70304"/>
                      <a:pt x="159842" y="33891"/>
                      <a:pt x="115073" y="33891"/>
                    </a:cubicBezTo>
                    <a:close/>
                    <a:moveTo>
                      <a:pt x="195781" y="33577"/>
                    </a:moveTo>
                    <a:lnTo>
                      <a:pt x="204451" y="42246"/>
                    </a:lnTo>
                    <a:lnTo>
                      <a:pt x="195781" y="50916"/>
                    </a:lnTo>
                    <a:lnTo>
                      <a:pt x="187111" y="42246"/>
                    </a:lnTo>
                    <a:close/>
                    <a:moveTo>
                      <a:pt x="34207" y="33577"/>
                    </a:moveTo>
                    <a:lnTo>
                      <a:pt x="42876" y="42246"/>
                    </a:lnTo>
                    <a:lnTo>
                      <a:pt x="34207" y="50916"/>
                    </a:lnTo>
                    <a:lnTo>
                      <a:pt x="25537" y="42246"/>
                    </a:lnTo>
                    <a:close/>
                    <a:moveTo>
                      <a:pt x="115231" y="21439"/>
                    </a:moveTo>
                    <a:cubicBezTo>
                      <a:pt x="140136" y="21439"/>
                      <a:pt x="163624" y="31212"/>
                      <a:pt x="181279" y="48867"/>
                    </a:cubicBezTo>
                    <a:cubicBezTo>
                      <a:pt x="198934" y="66680"/>
                      <a:pt x="208707" y="90168"/>
                      <a:pt x="208707" y="115073"/>
                    </a:cubicBezTo>
                    <a:cubicBezTo>
                      <a:pt x="208707" y="139981"/>
                      <a:pt x="198933" y="163466"/>
                      <a:pt x="181279" y="181121"/>
                    </a:cubicBezTo>
                    <a:cubicBezTo>
                      <a:pt x="172767" y="189634"/>
                      <a:pt x="162836" y="196413"/>
                      <a:pt x="152118" y="200983"/>
                    </a:cubicBezTo>
                    <a:lnTo>
                      <a:pt x="152118" y="236766"/>
                    </a:lnTo>
                    <a:lnTo>
                      <a:pt x="78186" y="236766"/>
                    </a:lnTo>
                    <a:lnTo>
                      <a:pt x="78186" y="200983"/>
                    </a:lnTo>
                    <a:cubicBezTo>
                      <a:pt x="67468" y="196255"/>
                      <a:pt x="57537" y="189634"/>
                      <a:pt x="49025" y="181121"/>
                    </a:cubicBezTo>
                    <a:cubicBezTo>
                      <a:pt x="31528" y="163466"/>
                      <a:pt x="21753" y="140136"/>
                      <a:pt x="21753" y="115073"/>
                    </a:cubicBezTo>
                    <a:cubicBezTo>
                      <a:pt x="21753" y="90010"/>
                      <a:pt x="31370" y="66364"/>
                      <a:pt x="49025" y="48867"/>
                    </a:cubicBezTo>
                    <a:cubicBezTo>
                      <a:pt x="66680" y="31370"/>
                      <a:pt x="90324" y="21439"/>
                      <a:pt x="115231" y="21439"/>
                    </a:cubicBezTo>
                    <a:close/>
                    <a:moveTo>
                      <a:pt x="109082" y="0"/>
                    </a:moveTo>
                    <a:lnTo>
                      <a:pt x="121378" y="0"/>
                    </a:lnTo>
                    <a:lnTo>
                      <a:pt x="121378" y="12296"/>
                    </a:lnTo>
                    <a:lnTo>
                      <a:pt x="109082" y="12296"/>
                    </a:lnTo>
                    <a:close/>
                  </a:path>
                </a:pathLst>
              </a:custGeom>
              <a:solidFill>
                <a:schemeClr val="bg1"/>
              </a:solidFill>
              <a:ln w="2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2" name="组合 51"/>
          <p:cNvGrpSpPr/>
          <p:nvPr>
            <p:custDataLst>
              <p:tags r:id="rId11"/>
            </p:custDataLst>
          </p:nvPr>
        </p:nvGrpSpPr>
        <p:grpSpPr>
          <a:xfrm>
            <a:off x="8602176" y="2270931"/>
            <a:ext cx="2793365" cy="3404764"/>
            <a:chOff x="687323" y="3957110"/>
            <a:chExt cx="2793365" cy="3404764"/>
          </a:xfrm>
        </p:grpSpPr>
        <p:grpSp>
          <p:nvGrpSpPr>
            <p:cNvPr id="53" name="组合 52"/>
            <p:cNvGrpSpPr/>
            <p:nvPr/>
          </p:nvGrpSpPr>
          <p:grpSpPr>
            <a:xfrm>
              <a:off x="687323" y="4113214"/>
              <a:ext cx="2793365" cy="3248660"/>
              <a:chOff x="687323" y="4113214"/>
              <a:chExt cx="2793365" cy="3248660"/>
            </a:xfrm>
          </p:grpSpPr>
          <p:sp>
            <p:nvSpPr>
              <p:cNvPr id="57" name="文本框 56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479393" y="4113214"/>
                <a:ext cx="2001190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现有工具的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不足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58" name="文本框 5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87323" y="5192714"/>
                <a:ext cx="2793365" cy="216916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marR="0" lvl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传统需求管理工具在自动化处理、智能化分析及可追溯性建设上存在明显短板，尤其在解析大量非结构化文档时，往往难以满足团队的实际协作与管理需求</a:t>
                </a:r>
                <a:endParaRPr lang="zh-CN" altLang="en-US" sz="1400" dirty="0"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687323" y="3957110"/>
              <a:ext cx="681139" cy="681139"/>
              <a:chOff x="687323" y="3957110"/>
              <a:chExt cx="681139" cy="681139"/>
            </a:xfrm>
          </p:grpSpPr>
          <p:sp>
            <p:nvSpPr>
              <p:cNvPr id="55" name="椭圆 54"/>
              <p:cNvSpPr/>
              <p:nvPr>
                <p:custDataLst>
                  <p:tags r:id="rId14"/>
                </p:custDataLst>
              </p:nvPr>
            </p:nvSpPr>
            <p:spPr>
              <a:xfrm>
                <a:off x="687323" y="3957110"/>
                <a:ext cx="681139" cy="68113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15"/>
                </p:custDataLst>
              </p:nvPr>
            </p:nvSpPr>
            <p:spPr>
              <a:xfrm>
                <a:off x="871654" y="4120252"/>
                <a:ext cx="312476" cy="354854"/>
              </a:xfrm>
              <a:custGeom>
                <a:avLst/>
                <a:gdLst>
                  <a:gd name="connsiteX0" fmla="*/ 78186 w 230145"/>
                  <a:gd name="connsiteY0" fmla="*/ 249062 h 261357"/>
                  <a:gd name="connsiteX1" fmla="*/ 152118 w 230145"/>
                  <a:gd name="connsiteY1" fmla="*/ 249062 h 261357"/>
                  <a:gd name="connsiteX2" fmla="*/ 152118 w 230145"/>
                  <a:gd name="connsiteY2" fmla="*/ 261357 h 261357"/>
                  <a:gd name="connsiteX3" fmla="*/ 78186 w 230145"/>
                  <a:gd name="connsiteY3" fmla="*/ 261357 h 261357"/>
                  <a:gd name="connsiteX4" fmla="*/ 217850 w 230145"/>
                  <a:gd name="connsiteY4" fmla="*/ 108137 h 261357"/>
                  <a:gd name="connsiteX5" fmla="*/ 230145 w 230145"/>
                  <a:gd name="connsiteY5" fmla="*/ 108137 h 261357"/>
                  <a:gd name="connsiteX6" fmla="*/ 230145 w 230145"/>
                  <a:gd name="connsiteY6" fmla="*/ 120432 h 261357"/>
                  <a:gd name="connsiteX7" fmla="*/ 217850 w 230145"/>
                  <a:gd name="connsiteY7" fmla="*/ 120432 h 261357"/>
                  <a:gd name="connsiteX8" fmla="*/ 0 w 230145"/>
                  <a:gd name="connsiteY8" fmla="*/ 108137 h 261357"/>
                  <a:gd name="connsiteX9" fmla="*/ 12296 w 230145"/>
                  <a:gd name="connsiteY9" fmla="*/ 108137 h 261357"/>
                  <a:gd name="connsiteX10" fmla="*/ 12296 w 230145"/>
                  <a:gd name="connsiteY10" fmla="*/ 120432 h 261357"/>
                  <a:gd name="connsiteX11" fmla="*/ 0 w 230145"/>
                  <a:gd name="connsiteY11" fmla="*/ 120432 h 261357"/>
                  <a:gd name="connsiteX12" fmla="*/ 80393 w 230145"/>
                  <a:gd name="connsiteY12" fmla="*/ 103723 h 261357"/>
                  <a:gd name="connsiteX13" fmla="*/ 97734 w 230145"/>
                  <a:gd name="connsiteY13" fmla="*/ 121063 h 261357"/>
                  <a:gd name="connsiteX14" fmla="*/ 106719 w 230145"/>
                  <a:gd name="connsiteY14" fmla="*/ 112392 h 261357"/>
                  <a:gd name="connsiteX15" fmla="*/ 115389 w 230145"/>
                  <a:gd name="connsiteY15" fmla="*/ 103723 h 261357"/>
                  <a:gd name="connsiteX16" fmla="*/ 124058 w 230145"/>
                  <a:gd name="connsiteY16" fmla="*/ 112392 h 261357"/>
                  <a:gd name="connsiteX17" fmla="*/ 132728 w 230145"/>
                  <a:gd name="connsiteY17" fmla="*/ 121063 h 261357"/>
                  <a:gd name="connsiteX18" fmla="*/ 150067 w 230145"/>
                  <a:gd name="connsiteY18" fmla="*/ 103723 h 261357"/>
                  <a:gd name="connsiteX19" fmla="*/ 158738 w 230145"/>
                  <a:gd name="connsiteY19" fmla="*/ 112392 h 261357"/>
                  <a:gd name="connsiteX20" fmla="*/ 141398 w 230145"/>
                  <a:gd name="connsiteY20" fmla="*/ 129891 h 261357"/>
                  <a:gd name="connsiteX21" fmla="*/ 132728 w 230145"/>
                  <a:gd name="connsiteY21" fmla="*/ 138560 h 261357"/>
                  <a:gd name="connsiteX22" fmla="*/ 115231 w 230145"/>
                  <a:gd name="connsiteY22" fmla="*/ 121063 h 261357"/>
                  <a:gd name="connsiteX23" fmla="*/ 97734 w 230145"/>
                  <a:gd name="connsiteY23" fmla="*/ 138560 h 261357"/>
                  <a:gd name="connsiteX24" fmla="*/ 89064 w 230145"/>
                  <a:gd name="connsiteY24" fmla="*/ 129891 h 261357"/>
                  <a:gd name="connsiteX25" fmla="*/ 71724 w 230145"/>
                  <a:gd name="connsiteY25" fmla="*/ 112392 h 261357"/>
                  <a:gd name="connsiteX26" fmla="*/ 115073 w 230145"/>
                  <a:gd name="connsiteY26" fmla="*/ 33891 h 261357"/>
                  <a:gd name="connsiteX27" fmla="*/ 33891 w 230145"/>
                  <a:gd name="connsiteY27" fmla="*/ 115073 h 261357"/>
                  <a:gd name="connsiteX28" fmla="*/ 84650 w 230145"/>
                  <a:gd name="connsiteY28" fmla="*/ 190264 h 261357"/>
                  <a:gd name="connsiteX29" fmla="*/ 90482 w 230145"/>
                  <a:gd name="connsiteY29" fmla="*/ 192313 h 261357"/>
                  <a:gd name="connsiteX30" fmla="*/ 90482 w 230145"/>
                  <a:gd name="connsiteY30" fmla="*/ 224471 h 261357"/>
                  <a:gd name="connsiteX31" fmla="*/ 139822 w 230145"/>
                  <a:gd name="connsiteY31" fmla="*/ 224471 h 261357"/>
                  <a:gd name="connsiteX32" fmla="*/ 139822 w 230145"/>
                  <a:gd name="connsiteY32" fmla="*/ 192313 h 261357"/>
                  <a:gd name="connsiteX33" fmla="*/ 145654 w 230145"/>
                  <a:gd name="connsiteY33" fmla="*/ 190264 h 261357"/>
                  <a:gd name="connsiteX34" fmla="*/ 196255 w 230145"/>
                  <a:gd name="connsiteY34" fmla="*/ 115073 h 261357"/>
                  <a:gd name="connsiteX35" fmla="*/ 115073 w 230145"/>
                  <a:gd name="connsiteY35" fmla="*/ 33891 h 261357"/>
                  <a:gd name="connsiteX36" fmla="*/ 195781 w 230145"/>
                  <a:gd name="connsiteY36" fmla="*/ 33577 h 261357"/>
                  <a:gd name="connsiteX37" fmla="*/ 204451 w 230145"/>
                  <a:gd name="connsiteY37" fmla="*/ 42246 h 261357"/>
                  <a:gd name="connsiteX38" fmla="*/ 195781 w 230145"/>
                  <a:gd name="connsiteY38" fmla="*/ 50916 h 261357"/>
                  <a:gd name="connsiteX39" fmla="*/ 187111 w 230145"/>
                  <a:gd name="connsiteY39" fmla="*/ 42246 h 261357"/>
                  <a:gd name="connsiteX40" fmla="*/ 34207 w 230145"/>
                  <a:gd name="connsiteY40" fmla="*/ 33577 h 261357"/>
                  <a:gd name="connsiteX41" fmla="*/ 42876 w 230145"/>
                  <a:gd name="connsiteY41" fmla="*/ 42246 h 261357"/>
                  <a:gd name="connsiteX42" fmla="*/ 34207 w 230145"/>
                  <a:gd name="connsiteY42" fmla="*/ 50916 h 261357"/>
                  <a:gd name="connsiteX43" fmla="*/ 25537 w 230145"/>
                  <a:gd name="connsiteY43" fmla="*/ 42246 h 261357"/>
                  <a:gd name="connsiteX44" fmla="*/ 115231 w 230145"/>
                  <a:gd name="connsiteY44" fmla="*/ 21439 h 261357"/>
                  <a:gd name="connsiteX45" fmla="*/ 181279 w 230145"/>
                  <a:gd name="connsiteY45" fmla="*/ 48867 h 261357"/>
                  <a:gd name="connsiteX46" fmla="*/ 208707 w 230145"/>
                  <a:gd name="connsiteY46" fmla="*/ 115073 h 261357"/>
                  <a:gd name="connsiteX47" fmla="*/ 181279 w 230145"/>
                  <a:gd name="connsiteY47" fmla="*/ 181121 h 261357"/>
                  <a:gd name="connsiteX48" fmla="*/ 152118 w 230145"/>
                  <a:gd name="connsiteY48" fmla="*/ 200983 h 261357"/>
                  <a:gd name="connsiteX49" fmla="*/ 152118 w 230145"/>
                  <a:gd name="connsiteY49" fmla="*/ 236766 h 261357"/>
                  <a:gd name="connsiteX50" fmla="*/ 78186 w 230145"/>
                  <a:gd name="connsiteY50" fmla="*/ 236766 h 261357"/>
                  <a:gd name="connsiteX51" fmla="*/ 78186 w 230145"/>
                  <a:gd name="connsiteY51" fmla="*/ 200983 h 261357"/>
                  <a:gd name="connsiteX52" fmla="*/ 49025 w 230145"/>
                  <a:gd name="connsiteY52" fmla="*/ 181121 h 261357"/>
                  <a:gd name="connsiteX53" fmla="*/ 21753 w 230145"/>
                  <a:gd name="connsiteY53" fmla="*/ 115073 h 261357"/>
                  <a:gd name="connsiteX54" fmla="*/ 49025 w 230145"/>
                  <a:gd name="connsiteY54" fmla="*/ 48867 h 261357"/>
                  <a:gd name="connsiteX55" fmla="*/ 115231 w 230145"/>
                  <a:gd name="connsiteY55" fmla="*/ 21439 h 261357"/>
                  <a:gd name="connsiteX56" fmla="*/ 109082 w 230145"/>
                  <a:gd name="connsiteY56" fmla="*/ 0 h 261357"/>
                  <a:gd name="connsiteX57" fmla="*/ 121378 w 230145"/>
                  <a:gd name="connsiteY57" fmla="*/ 0 h 261357"/>
                  <a:gd name="connsiteX58" fmla="*/ 121378 w 230145"/>
                  <a:gd name="connsiteY58" fmla="*/ 12296 h 261357"/>
                  <a:gd name="connsiteX59" fmla="*/ 109082 w 230145"/>
                  <a:gd name="connsiteY59" fmla="*/ 12296 h 26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230145" h="261357">
                    <a:moveTo>
                      <a:pt x="78186" y="249062"/>
                    </a:moveTo>
                    <a:lnTo>
                      <a:pt x="152118" y="249062"/>
                    </a:lnTo>
                    <a:lnTo>
                      <a:pt x="152118" y="261357"/>
                    </a:lnTo>
                    <a:lnTo>
                      <a:pt x="78186" y="261357"/>
                    </a:lnTo>
                    <a:close/>
                    <a:moveTo>
                      <a:pt x="217850" y="108137"/>
                    </a:moveTo>
                    <a:lnTo>
                      <a:pt x="230145" y="108137"/>
                    </a:lnTo>
                    <a:lnTo>
                      <a:pt x="230145" y="120432"/>
                    </a:lnTo>
                    <a:lnTo>
                      <a:pt x="217850" y="120432"/>
                    </a:lnTo>
                    <a:close/>
                    <a:moveTo>
                      <a:pt x="0" y="108137"/>
                    </a:moveTo>
                    <a:lnTo>
                      <a:pt x="12296" y="108137"/>
                    </a:lnTo>
                    <a:lnTo>
                      <a:pt x="12296" y="120432"/>
                    </a:lnTo>
                    <a:lnTo>
                      <a:pt x="0" y="120432"/>
                    </a:lnTo>
                    <a:close/>
                    <a:moveTo>
                      <a:pt x="80393" y="103723"/>
                    </a:moveTo>
                    <a:lnTo>
                      <a:pt x="97734" y="121063"/>
                    </a:lnTo>
                    <a:lnTo>
                      <a:pt x="106719" y="112392"/>
                    </a:lnTo>
                    <a:lnTo>
                      <a:pt x="115389" y="103723"/>
                    </a:lnTo>
                    <a:lnTo>
                      <a:pt x="124058" y="112392"/>
                    </a:lnTo>
                    <a:lnTo>
                      <a:pt x="132728" y="121063"/>
                    </a:lnTo>
                    <a:lnTo>
                      <a:pt x="150067" y="103723"/>
                    </a:lnTo>
                    <a:lnTo>
                      <a:pt x="158738" y="112392"/>
                    </a:lnTo>
                    <a:lnTo>
                      <a:pt x="141398" y="129891"/>
                    </a:lnTo>
                    <a:lnTo>
                      <a:pt x="132728" y="138560"/>
                    </a:lnTo>
                    <a:lnTo>
                      <a:pt x="115231" y="121063"/>
                    </a:lnTo>
                    <a:lnTo>
                      <a:pt x="97734" y="138560"/>
                    </a:lnTo>
                    <a:lnTo>
                      <a:pt x="89064" y="129891"/>
                    </a:lnTo>
                    <a:lnTo>
                      <a:pt x="71724" y="112392"/>
                    </a:lnTo>
                    <a:close/>
                    <a:moveTo>
                      <a:pt x="115073" y="33891"/>
                    </a:moveTo>
                    <a:cubicBezTo>
                      <a:pt x="70305" y="33891"/>
                      <a:pt x="33891" y="70304"/>
                      <a:pt x="33891" y="115073"/>
                    </a:cubicBezTo>
                    <a:cubicBezTo>
                      <a:pt x="33891" y="148964"/>
                      <a:pt x="55014" y="178127"/>
                      <a:pt x="84650" y="190264"/>
                    </a:cubicBezTo>
                    <a:cubicBezTo>
                      <a:pt x="86542" y="191052"/>
                      <a:pt x="88591" y="191683"/>
                      <a:pt x="90482" y="192313"/>
                    </a:cubicBezTo>
                    <a:lnTo>
                      <a:pt x="90482" y="224471"/>
                    </a:lnTo>
                    <a:lnTo>
                      <a:pt x="139822" y="224471"/>
                    </a:lnTo>
                    <a:lnTo>
                      <a:pt x="139822" y="192313"/>
                    </a:lnTo>
                    <a:cubicBezTo>
                      <a:pt x="141871" y="191684"/>
                      <a:pt x="143762" y="191052"/>
                      <a:pt x="145654" y="190264"/>
                    </a:cubicBezTo>
                    <a:cubicBezTo>
                      <a:pt x="175290" y="178127"/>
                      <a:pt x="196255" y="148964"/>
                      <a:pt x="196255" y="115073"/>
                    </a:cubicBezTo>
                    <a:cubicBezTo>
                      <a:pt x="196255" y="70304"/>
                      <a:pt x="159842" y="33891"/>
                      <a:pt x="115073" y="33891"/>
                    </a:cubicBezTo>
                    <a:close/>
                    <a:moveTo>
                      <a:pt x="195781" y="33577"/>
                    </a:moveTo>
                    <a:lnTo>
                      <a:pt x="204451" y="42246"/>
                    </a:lnTo>
                    <a:lnTo>
                      <a:pt x="195781" y="50916"/>
                    </a:lnTo>
                    <a:lnTo>
                      <a:pt x="187111" y="42246"/>
                    </a:lnTo>
                    <a:close/>
                    <a:moveTo>
                      <a:pt x="34207" y="33577"/>
                    </a:moveTo>
                    <a:lnTo>
                      <a:pt x="42876" y="42246"/>
                    </a:lnTo>
                    <a:lnTo>
                      <a:pt x="34207" y="50916"/>
                    </a:lnTo>
                    <a:lnTo>
                      <a:pt x="25537" y="42246"/>
                    </a:lnTo>
                    <a:close/>
                    <a:moveTo>
                      <a:pt x="115231" y="21439"/>
                    </a:moveTo>
                    <a:cubicBezTo>
                      <a:pt x="140136" y="21439"/>
                      <a:pt x="163624" y="31212"/>
                      <a:pt x="181279" y="48867"/>
                    </a:cubicBezTo>
                    <a:cubicBezTo>
                      <a:pt x="198934" y="66680"/>
                      <a:pt x="208707" y="90168"/>
                      <a:pt x="208707" y="115073"/>
                    </a:cubicBezTo>
                    <a:cubicBezTo>
                      <a:pt x="208707" y="139981"/>
                      <a:pt x="198933" y="163466"/>
                      <a:pt x="181279" y="181121"/>
                    </a:cubicBezTo>
                    <a:cubicBezTo>
                      <a:pt x="172767" y="189634"/>
                      <a:pt x="162836" y="196413"/>
                      <a:pt x="152118" y="200983"/>
                    </a:cubicBezTo>
                    <a:lnTo>
                      <a:pt x="152118" y="236766"/>
                    </a:lnTo>
                    <a:lnTo>
                      <a:pt x="78186" y="236766"/>
                    </a:lnTo>
                    <a:lnTo>
                      <a:pt x="78186" y="200983"/>
                    </a:lnTo>
                    <a:cubicBezTo>
                      <a:pt x="67468" y="196255"/>
                      <a:pt x="57537" y="189634"/>
                      <a:pt x="49025" y="181121"/>
                    </a:cubicBezTo>
                    <a:cubicBezTo>
                      <a:pt x="31528" y="163466"/>
                      <a:pt x="21753" y="140136"/>
                      <a:pt x="21753" y="115073"/>
                    </a:cubicBezTo>
                    <a:cubicBezTo>
                      <a:pt x="21753" y="90010"/>
                      <a:pt x="31370" y="66364"/>
                      <a:pt x="49025" y="48867"/>
                    </a:cubicBezTo>
                    <a:cubicBezTo>
                      <a:pt x="66680" y="31370"/>
                      <a:pt x="90324" y="21439"/>
                      <a:pt x="115231" y="21439"/>
                    </a:cubicBezTo>
                    <a:close/>
                    <a:moveTo>
                      <a:pt x="109082" y="0"/>
                    </a:moveTo>
                    <a:lnTo>
                      <a:pt x="121378" y="0"/>
                    </a:lnTo>
                    <a:lnTo>
                      <a:pt x="121378" y="12296"/>
                    </a:lnTo>
                    <a:lnTo>
                      <a:pt x="109082" y="12296"/>
                    </a:lnTo>
                    <a:close/>
                  </a:path>
                </a:pathLst>
              </a:custGeom>
              <a:solidFill>
                <a:schemeClr val="bg2"/>
              </a:solidFill>
              <a:ln w="2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63" name="文本框 62"/>
          <p:cNvSpPr txBox="1"/>
          <p:nvPr/>
        </p:nvSpPr>
        <p:spPr>
          <a:xfrm>
            <a:off x="9518650" y="1673225"/>
            <a:ext cx="1680845" cy="4057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24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rPr>
              <a:t>选题的背景</a:t>
            </a:r>
            <a:endParaRPr lang="en-US" altLang="zh-CN" sz="24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B" panose="00020600040101010101" pitchFamily="18" charset="-122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16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69930" y="292100"/>
            <a:ext cx="1430655" cy="142430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/>
        </p:nvSpPr>
        <p:spPr>
          <a:xfrm>
            <a:off x="3756342" y="1251680"/>
            <a:ext cx="4687200" cy="46870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/>
          <p:cNvSpPr/>
          <p:nvPr/>
        </p:nvSpPr>
        <p:spPr>
          <a:xfrm>
            <a:off x="4409628" y="1904891"/>
            <a:ext cx="3380629" cy="3380629"/>
          </a:xfrm>
          <a:prstGeom prst="donut">
            <a:avLst>
              <a:gd name="adj" fmla="val 10069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369095" y="2333659"/>
            <a:ext cx="653211" cy="65321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rPr>
              <a:t>01</a:t>
            </a:r>
            <a:endParaRPr lang="zh-CN" altLang="en-US" sz="1600" b="1" dirty="0">
              <a:solidFill>
                <a:schemeClr val="bg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369095" y="4203541"/>
            <a:ext cx="653211" cy="65321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rPr>
              <a:t>04</a:t>
            </a:r>
            <a:endParaRPr lang="zh-CN" altLang="en-US" sz="1600" b="1" dirty="0">
              <a:solidFill>
                <a:schemeClr val="bg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7177579" y="2333659"/>
            <a:ext cx="653211" cy="65321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rPr>
              <a:t>02</a:t>
            </a:r>
            <a:endParaRPr lang="zh-CN" altLang="en-US" sz="1600" b="1" dirty="0">
              <a:solidFill>
                <a:schemeClr val="bg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177579" y="4203541"/>
            <a:ext cx="653211" cy="65321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rPr>
              <a:t>03</a:t>
            </a:r>
            <a:endParaRPr lang="zh-CN" altLang="en-US" sz="1600" b="1" dirty="0">
              <a:solidFill>
                <a:schemeClr val="bg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035842" y="2535048"/>
            <a:ext cx="2120314" cy="2120314"/>
            <a:chOff x="5035842" y="2535048"/>
            <a:chExt cx="2120314" cy="2120314"/>
          </a:xfrm>
        </p:grpSpPr>
        <p:sp>
          <p:nvSpPr>
            <p:cNvPr id="9" name="椭圆 8"/>
            <p:cNvSpPr/>
            <p:nvPr/>
          </p:nvSpPr>
          <p:spPr>
            <a:xfrm>
              <a:off x="5035842" y="2535048"/>
              <a:ext cx="2120314" cy="212031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600">
                <a:solidFill>
                  <a:schemeClr val="tx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0" name="图形 33"/>
            <p:cNvSpPr/>
            <p:nvPr/>
          </p:nvSpPr>
          <p:spPr>
            <a:xfrm>
              <a:off x="5814259" y="3086154"/>
              <a:ext cx="563481" cy="442730"/>
            </a:xfrm>
            <a:custGeom>
              <a:avLst/>
              <a:gdLst>
                <a:gd name="connsiteX0" fmla="*/ 682401 w 752982"/>
                <a:gd name="connsiteY0" fmla="*/ 295811 h 591621"/>
                <a:gd name="connsiteX1" fmla="*/ 658682 w 752982"/>
                <a:gd name="connsiteY1" fmla="*/ 300401 h 591621"/>
                <a:gd name="connsiteX2" fmla="*/ 551778 w 752982"/>
                <a:gd name="connsiteY2" fmla="*/ 132416 h 591621"/>
                <a:gd name="connsiteX3" fmla="*/ 564740 w 752982"/>
                <a:gd name="connsiteY3" fmla="*/ 86288 h 591621"/>
                <a:gd name="connsiteX4" fmla="*/ 482379 w 752982"/>
                <a:gd name="connsiteY4" fmla="*/ 0 h 591621"/>
                <a:gd name="connsiteX5" fmla="*/ 400036 w 752982"/>
                <a:gd name="connsiteY5" fmla="*/ 86288 h 591621"/>
                <a:gd name="connsiteX6" fmla="*/ 420743 w 752982"/>
                <a:gd name="connsiteY6" fmla="*/ 142940 h 591621"/>
                <a:gd name="connsiteX7" fmla="*/ 312996 w 752982"/>
                <a:gd name="connsiteY7" fmla="*/ 349899 h 591621"/>
                <a:gd name="connsiteX8" fmla="*/ 282375 w 752982"/>
                <a:gd name="connsiteY8" fmla="*/ 345113 h 591621"/>
                <a:gd name="connsiteX9" fmla="*/ 218946 w 752982"/>
                <a:gd name="connsiteY9" fmla="*/ 364887 h 591621"/>
                <a:gd name="connsiteX10" fmla="*/ 132659 w 752982"/>
                <a:gd name="connsiteY10" fmla="*/ 256423 h 591621"/>
                <a:gd name="connsiteX11" fmla="*/ 141193 w 752982"/>
                <a:gd name="connsiteY11" fmla="*/ 221858 h 591621"/>
                <a:gd name="connsiteX12" fmla="*/ 90959 w 752982"/>
                <a:gd name="connsiteY12" fmla="*/ 151061 h 591621"/>
                <a:gd name="connsiteX13" fmla="*/ 11753 w 752982"/>
                <a:gd name="connsiteY13" fmla="*/ 181018 h 591621"/>
                <a:gd name="connsiteX14" fmla="*/ 16271 w 752982"/>
                <a:gd name="connsiteY14" fmla="*/ 269099 h 591621"/>
                <a:gd name="connsiteX15" fmla="*/ 98094 w 752982"/>
                <a:gd name="connsiteY15" fmla="*/ 289984 h 591621"/>
                <a:gd name="connsiteX16" fmla="*/ 185009 w 752982"/>
                <a:gd name="connsiteY16" fmla="*/ 399273 h 591621"/>
                <a:gd name="connsiteX17" fmla="*/ 164732 w 752982"/>
                <a:gd name="connsiteY17" fmla="*/ 468367 h 591621"/>
                <a:gd name="connsiteX18" fmla="*/ 282375 w 752982"/>
                <a:gd name="connsiteY18" fmla="*/ 591621 h 591621"/>
                <a:gd name="connsiteX19" fmla="*/ 400036 w 752982"/>
                <a:gd name="connsiteY19" fmla="*/ 468367 h 591621"/>
                <a:gd name="connsiteX20" fmla="*/ 354983 w 752982"/>
                <a:gd name="connsiteY20" fmla="*/ 372148 h 591621"/>
                <a:gd name="connsiteX21" fmla="*/ 460686 w 752982"/>
                <a:gd name="connsiteY21" fmla="*/ 169150 h 591621"/>
                <a:gd name="connsiteX22" fmla="*/ 482379 w 752982"/>
                <a:gd name="connsiteY22" fmla="*/ 172557 h 591621"/>
                <a:gd name="connsiteX23" fmla="*/ 515904 w 752982"/>
                <a:gd name="connsiteY23" fmla="*/ 164937 h 591621"/>
                <a:gd name="connsiteX24" fmla="*/ 622109 w 752982"/>
                <a:gd name="connsiteY24" fmla="*/ 331810 h 591621"/>
                <a:gd name="connsiteX25" fmla="*/ 611801 w 752982"/>
                <a:gd name="connsiteY25" fmla="*/ 369763 h 591621"/>
                <a:gd name="connsiteX26" fmla="*/ 682401 w 752982"/>
                <a:gd name="connsiteY26" fmla="*/ 443716 h 591621"/>
                <a:gd name="connsiteX27" fmla="*/ 752983 w 752982"/>
                <a:gd name="connsiteY27" fmla="*/ 369763 h 591621"/>
                <a:gd name="connsiteX28" fmla="*/ 682401 w 752982"/>
                <a:gd name="connsiteY28" fmla="*/ 295811 h 591621"/>
                <a:gd name="connsiteX29" fmla="*/ 666086 w 752982"/>
                <a:gd name="connsiteY29" fmla="*/ 374694 h 591621"/>
                <a:gd name="connsiteX30" fmla="*/ 637133 w 752982"/>
                <a:gd name="connsiteY30" fmla="*/ 345113 h 591621"/>
                <a:gd name="connsiteX31" fmla="*/ 666105 w 752982"/>
                <a:gd name="connsiteY31" fmla="*/ 315532 h 591621"/>
                <a:gd name="connsiteX32" fmla="*/ 695058 w 752982"/>
                <a:gd name="connsiteY32" fmla="*/ 345113 h 591621"/>
                <a:gd name="connsiteX33" fmla="*/ 666105 w 752982"/>
                <a:gd name="connsiteY33" fmla="*/ 374694 h 59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52982" h="591621">
                  <a:moveTo>
                    <a:pt x="682401" y="295811"/>
                  </a:moveTo>
                  <a:cubicBezTo>
                    <a:pt x="674297" y="295901"/>
                    <a:pt x="666266" y="297443"/>
                    <a:pt x="658682" y="300401"/>
                  </a:cubicBezTo>
                  <a:lnTo>
                    <a:pt x="551778" y="132416"/>
                  </a:lnTo>
                  <a:cubicBezTo>
                    <a:pt x="560204" y="118647"/>
                    <a:pt x="564722" y="102638"/>
                    <a:pt x="564740" y="86288"/>
                  </a:cubicBezTo>
                  <a:cubicBezTo>
                    <a:pt x="564740" y="38635"/>
                    <a:pt x="527862" y="0"/>
                    <a:pt x="482379" y="0"/>
                  </a:cubicBezTo>
                  <a:cubicBezTo>
                    <a:pt x="436896" y="0"/>
                    <a:pt x="400036" y="38635"/>
                    <a:pt x="400036" y="86288"/>
                  </a:cubicBezTo>
                  <a:cubicBezTo>
                    <a:pt x="400036" y="108070"/>
                    <a:pt x="407996" y="127773"/>
                    <a:pt x="420743" y="142940"/>
                  </a:cubicBezTo>
                  <a:lnTo>
                    <a:pt x="312996" y="349899"/>
                  </a:lnTo>
                  <a:cubicBezTo>
                    <a:pt x="303064" y="346875"/>
                    <a:pt x="292756" y="345263"/>
                    <a:pt x="282375" y="345113"/>
                  </a:cubicBezTo>
                  <a:cubicBezTo>
                    <a:pt x="259728" y="345198"/>
                    <a:pt x="237630" y="352088"/>
                    <a:pt x="218946" y="364887"/>
                  </a:cubicBezTo>
                  <a:lnTo>
                    <a:pt x="132659" y="256423"/>
                  </a:lnTo>
                  <a:cubicBezTo>
                    <a:pt x="138207" y="245742"/>
                    <a:pt x="141132" y="233894"/>
                    <a:pt x="141193" y="221858"/>
                  </a:cubicBezTo>
                  <a:cubicBezTo>
                    <a:pt x="141193" y="189230"/>
                    <a:pt x="120773" y="160473"/>
                    <a:pt x="90959" y="151061"/>
                  </a:cubicBezTo>
                  <a:cubicBezTo>
                    <a:pt x="61145" y="141649"/>
                    <a:pt x="28964" y="153822"/>
                    <a:pt x="11753" y="181018"/>
                  </a:cubicBezTo>
                  <a:cubicBezTo>
                    <a:pt x="-5439" y="208400"/>
                    <a:pt x="-3633" y="243619"/>
                    <a:pt x="16271" y="269099"/>
                  </a:cubicBezTo>
                  <a:cubicBezTo>
                    <a:pt x="36171" y="294197"/>
                    <a:pt x="69409" y="302695"/>
                    <a:pt x="98094" y="289984"/>
                  </a:cubicBezTo>
                  <a:lnTo>
                    <a:pt x="185009" y="399273"/>
                  </a:lnTo>
                  <a:cubicBezTo>
                    <a:pt x="171720" y="419863"/>
                    <a:pt x="164677" y="443861"/>
                    <a:pt x="164732" y="468367"/>
                  </a:cubicBezTo>
                  <a:cubicBezTo>
                    <a:pt x="164732" y="536314"/>
                    <a:pt x="217494" y="591621"/>
                    <a:pt x="282375" y="591621"/>
                  </a:cubicBezTo>
                  <a:cubicBezTo>
                    <a:pt x="347256" y="591621"/>
                    <a:pt x="400036" y="536332"/>
                    <a:pt x="400036" y="468367"/>
                  </a:cubicBezTo>
                  <a:cubicBezTo>
                    <a:pt x="400123" y="431179"/>
                    <a:pt x="383601" y="395895"/>
                    <a:pt x="354983" y="372148"/>
                  </a:cubicBezTo>
                  <a:lnTo>
                    <a:pt x="460686" y="169150"/>
                  </a:lnTo>
                  <a:cubicBezTo>
                    <a:pt x="467660" y="171158"/>
                    <a:pt x="474831" y="172557"/>
                    <a:pt x="482379" y="172557"/>
                  </a:cubicBezTo>
                  <a:cubicBezTo>
                    <a:pt x="493979" y="172518"/>
                    <a:pt x="505427" y="169916"/>
                    <a:pt x="515904" y="164937"/>
                  </a:cubicBezTo>
                  <a:lnTo>
                    <a:pt x="622109" y="331810"/>
                  </a:lnTo>
                  <a:cubicBezTo>
                    <a:pt x="615395" y="343334"/>
                    <a:pt x="611839" y="356426"/>
                    <a:pt x="611801" y="369763"/>
                  </a:cubicBezTo>
                  <a:cubicBezTo>
                    <a:pt x="611801" y="410604"/>
                    <a:pt x="643408" y="443716"/>
                    <a:pt x="682401" y="443716"/>
                  </a:cubicBezTo>
                  <a:cubicBezTo>
                    <a:pt x="721376" y="443716"/>
                    <a:pt x="752983" y="410604"/>
                    <a:pt x="752983" y="369763"/>
                  </a:cubicBezTo>
                  <a:cubicBezTo>
                    <a:pt x="752983" y="328924"/>
                    <a:pt x="721376" y="295811"/>
                    <a:pt x="682401" y="295811"/>
                  </a:cubicBezTo>
                  <a:close/>
                  <a:moveTo>
                    <a:pt x="666086" y="374694"/>
                  </a:moveTo>
                  <a:cubicBezTo>
                    <a:pt x="650131" y="374694"/>
                    <a:pt x="637133" y="361427"/>
                    <a:pt x="637133" y="345113"/>
                  </a:cubicBezTo>
                  <a:cubicBezTo>
                    <a:pt x="637133" y="328799"/>
                    <a:pt x="650131" y="315532"/>
                    <a:pt x="666105" y="315532"/>
                  </a:cubicBezTo>
                  <a:cubicBezTo>
                    <a:pt x="682060" y="315532"/>
                    <a:pt x="695058" y="328799"/>
                    <a:pt x="695058" y="345113"/>
                  </a:cubicBezTo>
                  <a:cubicBezTo>
                    <a:pt x="695058" y="361427"/>
                    <a:pt x="682060" y="374694"/>
                    <a:pt x="666105" y="374694"/>
                  </a:cubicBezTo>
                  <a:close/>
                </a:path>
              </a:pathLst>
            </a:custGeom>
            <a:solidFill>
              <a:schemeClr val="accent1"/>
            </a:solidFill>
            <a:ln w="8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文本框 56"/>
            <p:cNvSpPr txBox="1"/>
            <p:nvPr/>
          </p:nvSpPr>
          <p:spPr>
            <a:xfrm flipH="1">
              <a:off x="5338346" y="3602629"/>
              <a:ext cx="1515306" cy="61531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为什么要做这个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平台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05108" y="1437298"/>
            <a:ext cx="3487379" cy="1187682"/>
            <a:chOff x="1005108" y="1437298"/>
            <a:chExt cx="3487379" cy="1187682"/>
          </a:xfrm>
        </p:grpSpPr>
        <p:grpSp>
          <p:nvGrpSpPr>
            <p:cNvPr id="13" name="组合 12"/>
            <p:cNvGrpSpPr/>
            <p:nvPr/>
          </p:nvGrpSpPr>
          <p:grpSpPr>
            <a:xfrm>
              <a:off x="1005108" y="1437298"/>
              <a:ext cx="2342391" cy="1187682"/>
              <a:chOff x="1001853" y="1632757"/>
              <a:chExt cx="2342391" cy="1187682"/>
            </a:xfrm>
          </p:grpSpPr>
          <p:sp>
            <p:nvSpPr>
              <p:cNvPr id="15" name="文本框 14"/>
              <p:cNvSpPr txBox="1"/>
              <p:nvPr/>
            </p:nvSpPr>
            <p:spPr>
              <a:xfrm>
                <a:off x="1001853" y="1632757"/>
                <a:ext cx="2242691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减少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人工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1001853" y="2102889"/>
                <a:ext cx="2342391" cy="71755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472E">
                      <a:lumMod val="60000"/>
                      <a:lumOff val="40000"/>
                    </a:srgbClr>
                  </a:buClr>
                  <a:buSzTx/>
                  <a:buFont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减少人工整理需求文档的重复工作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14" name="任意多边形: 形状 13"/>
            <p:cNvSpPr/>
            <p:nvPr/>
          </p:nvSpPr>
          <p:spPr>
            <a:xfrm>
              <a:off x="3371353" y="2019631"/>
              <a:ext cx="1121134" cy="365760"/>
            </a:xfrm>
            <a:custGeom>
              <a:avLst/>
              <a:gdLst>
                <a:gd name="connsiteX0" fmla="*/ 1121134 w 1121134"/>
                <a:gd name="connsiteY0" fmla="*/ 365760 h 365760"/>
                <a:gd name="connsiteX1" fmla="*/ 755374 w 1121134"/>
                <a:gd name="connsiteY1" fmla="*/ 0 h 365760"/>
                <a:gd name="connsiteX2" fmla="*/ 0 w 1121134"/>
                <a:gd name="connsiteY2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1134" h="365760">
                  <a:moveTo>
                    <a:pt x="1121134" y="365760"/>
                  </a:moveTo>
                  <a:lnTo>
                    <a:pt x="755374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694890" y="1390153"/>
            <a:ext cx="3621978" cy="1510898"/>
            <a:chOff x="7694890" y="1390153"/>
            <a:chExt cx="3621978" cy="1510898"/>
          </a:xfrm>
        </p:grpSpPr>
        <p:grpSp>
          <p:nvGrpSpPr>
            <p:cNvPr id="22" name="组合 21"/>
            <p:cNvGrpSpPr/>
            <p:nvPr/>
          </p:nvGrpSpPr>
          <p:grpSpPr>
            <a:xfrm>
              <a:off x="8974477" y="1390153"/>
              <a:ext cx="2342391" cy="1510898"/>
              <a:chOff x="906441" y="1632756"/>
              <a:chExt cx="2342391" cy="1510898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906441" y="1632756"/>
                <a:ext cx="2242691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保证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质量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906441" y="2102889"/>
                <a:ext cx="2342391" cy="1040765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472E">
                      <a:lumMod val="60000"/>
                      <a:lumOff val="40000"/>
                    </a:srgbClr>
                  </a:buClr>
                  <a:buSzTx/>
                  <a:buFont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通过来源证据和版本链降低需求信息缺失带来的维护风险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23" name="任意多边形: 形状 22"/>
            <p:cNvSpPr/>
            <p:nvPr/>
          </p:nvSpPr>
          <p:spPr>
            <a:xfrm flipH="1">
              <a:off x="7694890" y="2019631"/>
              <a:ext cx="1121134" cy="365760"/>
            </a:xfrm>
            <a:custGeom>
              <a:avLst/>
              <a:gdLst>
                <a:gd name="connsiteX0" fmla="*/ 1121134 w 1121134"/>
                <a:gd name="connsiteY0" fmla="*/ 365760 h 365760"/>
                <a:gd name="connsiteX1" fmla="*/ 755374 w 1121134"/>
                <a:gd name="connsiteY1" fmla="*/ 0 h 365760"/>
                <a:gd name="connsiteX2" fmla="*/ 0 w 1121134"/>
                <a:gd name="connsiteY2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1134" h="365760">
                  <a:moveTo>
                    <a:pt x="1121134" y="365760"/>
                  </a:moveTo>
                  <a:lnTo>
                    <a:pt x="755374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7699513" y="4593871"/>
            <a:ext cx="3617355" cy="1834113"/>
            <a:chOff x="7699513" y="4593871"/>
            <a:chExt cx="3617355" cy="1834113"/>
          </a:xfrm>
        </p:grpSpPr>
        <p:grpSp>
          <p:nvGrpSpPr>
            <p:cNvPr id="33" name="组合 32"/>
            <p:cNvGrpSpPr/>
            <p:nvPr/>
          </p:nvGrpSpPr>
          <p:grpSpPr>
            <a:xfrm>
              <a:off x="8974477" y="4593871"/>
              <a:ext cx="2342391" cy="1834113"/>
              <a:chOff x="1001853" y="1632756"/>
              <a:chExt cx="2342391" cy="1834113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1001853" y="1632756"/>
                <a:ext cx="2242691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r">
                  <a:lnSpc>
                    <a:spcPct val="120000"/>
                  </a:lnSpc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前言技术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融合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001853" y="2102889"/>
                <a:ext cx="2342391" cy="136398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A472E">
                      <a:lumMod val="60000"/>
                      <a:lumOff val="40000"/>
                    </a:srgbClr>
                  </a:buClr>
                  <a:buSzTx/>
                  <a:buFont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将多智能体协同、知识图谱和大语言模型辅助分析结合到文档驱动的需求管理流程中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34" name="任意多边形: 形状 33"/>
            <p:cNvSpPr/>
            <p:nvPr/>
          </p:nvSpPr>
          <p:spPr>
            <a:xfrm flipH="1" flipV="1">
              <a:off x="7699513" y="4757875"/>
              <a:ext cx="1121134" cy="365760"/>
            </a:xfrm>
            <a:custGeom>
              <a:avLst/>
              <a:gdLst>
                <a:gd name="connsiteX0" fmla="*/ 1121134 w 1121134"/>
                <a:gd name="connsiteY0" fmla="*/ 365760 h 365760"/>
                <a:gd name="connsiteX1" fmla="*/ 755374 w 1121134"/>
                <a:gd name="connsiteY1" fmla="*/ 0 h 365760"/>
                <a:gd name="connsiteX2" fmla="*/ 0 w 1121134"/>
                <a:gd name="connsiteY2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1134" h="365760">
                  <a:moveTo>
                    <a:pt x="1121134" y="365760"/>
                  </a:moveTo>
                  <a:lnTo>
                    <a:pt x="755374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005108" y="4593871"/>
            <a:ext cx="3492002" cy="1510898"/>
            <a:chOff x="1005108" y="4593871"/>
            <a:chExt cx="3492002" cy="1510898"/>
          </a:xfrm>
        </p:grpSpPr>
        <p:grpSp>
          <p:nvGrpSpPr>
            <p:cNvPr id="38" name="组合 37"/>
            <p:cNvGrpSpPr/>
            <p:nvPr/>
          </p:nvGrpSpPr>
          <p:grpSpPr>
            <a:xfrm>
              <a:off x="1005108" y="4593871"/>
              <a:ext cx="2342391" cy="1510898"/>
              <a:chOff x="906441" y="1632756"/>
              <a:chExt cx="2342391" cy="1510898"/>
            </a:xfrm>
          </p:grpSpPr>
          <p:sp>
            <p:nvSpPr>
              <p:cNvPr id="40" name="文本框 39"/>
              <p:cNvSpPr txBox="1"/>
              <p:nvPr/>
            </p:nvSpPr>
            <p:spPr>
              <a:xfrm>
                <a:off x="906441" y="1632756"/>
                <a:ext cx="2242691" cy="3689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智能辅助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906441" y="2102889"/>
                <a:ext cx="2342391" cy="1040765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spAutoFit/>
              </a:bodyPr>
              <a:lstStyle/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借助 </a:t>
                </a:r>
                <a:r>
                  <a:rPr lang="en-US" altLang="zh-CN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AI </a:t>
                </a: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辅助文档和人工基准</a:t>
                </a: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的评估，提高需求处理结果的可检查</a:t>
                </a:r>
                <a:r>
                  <a:rPr 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性</a:t>
                </a:r>
                <a:endParaRPr lang="zh-CN" altLang="en-US" sz="1400" dirty="0">
                  <a:solidFill>
                    <a:prstClr val="black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sp>
          <p:nvSpPr>
            <p:cNvPr id="39" name="任意多边形: 形状 38"/>
            <p:cNvSpPr/>
            <p:nvPr/>
          </p:nvSpPr>
          <p:spPr>
            <a:xfrm flipV="1">
              <a:off x="3375976" y="4757875"/>
              <a:ext cx="1121134" cy="365760"/>
            </a:xfrm>
            <a:custGeom>
              <a:avLst/>
              <a:gdLst>
                <a:gd name="connsiteX0" fmla="*/ 1121134 w 1121134"/>
                <a:gd name="connsiteY0" fmla="*/ 365760 h 365760"/>
                <a:gd name="connsiteX1" fmla="*/ 755374 w 1121134"/>
                <a:gd name="connsiteY1" fmla="*/ 0 h 365760"/>
                <a:gd name="connsiteX2" fmla="*/ 0 w 1121134"/>
                <a:gd name="connsiteY2" fmla="*/ 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1134" h="365760">
                  <a:moveTo>
                    <a:pt x="1121134" y="365760"/>
                  </a:moveTo>
                  <a:lnTo>
                    <a:pt x="755374" y="0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425450" y="107315"/>
            <a:ext cx="526923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01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引言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研究意义与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价值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29" name="图片 28" descr="校徽(1)"/>
          <p:cNvPicPr>
            <a:picLocks noChangeAspect="1"/>
          </p:cNvPicPr>
          <p:nvPr/>
        </p:nvPicPr>
        <p:blipFill>
          <a:blip r:embed="rId1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5810" y="28003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65"/>
          <p:cNvSpPr/>
          <p:nvPr>
            <p:custDataLst>
              <p:tags r:id="rId1"/>
            </p:custDataLst>
          </p:nvPr>
        </p:nvSpPr>
        <p:spPr>
          <a:xfrm>
            <a:off x="8096885" y="5274310"/>
            <a:ext cx="1713230" cy="1323975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65"/>
          <p:cNvSpPr/>
          <p:nvPr>
            <p:custDataLst>
              <p:tags r:id="rId2"/>
            </p:custDataLst>
          </p:nvPr>
        </p:nvSpPr>
        <p:spPr>
          <a:xfrm>
            <a:off x="9418320" y="4141470"/>
            <a:ext cx="1805940" cy="1053465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65"/>
          <p:cNvSpPr/>
          <p:nvPr>
            <p:custDataLst>
              <p:tags r:id="rId3"/>
            </p:custDataLst>
          </p:nvPr>
        </p:nvSpPr>
        <p:spPr>
          <a:xfrm>
            <a:off x="9418320" y="2577465"/>
            <a:ext cx="1868170" cy="1198245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65"/>
          <p:cNvSpPr/>
          <p:nvPr>
            <p:custDataLst>
              <p:tags r:id="rId4"/>
            </p:custDataLst>
          </p:nvPr>
        </p:nvSpPr>
        <p:spPr>
          <a:xfrm>
            <a:off x="6704330" y="4144010"/>
            <a:ext cx="1897380" cy="1050925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/>
          <p:cNvSpPr/>
          <p:nvPr>
            <p:custDataLst>
              <p:tags r:id="rId5"/>
            </p:custDataLst>
          </p:nvPr>
        </p:nvSpPr>
        <p:spPr>
          <a:xfrm>
            <a:off x="6704330" y="2577465"/>
            <a:ext cx="1897380" cy="1183005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: 圆角 3"/>
          <p:cNvSpPr/>
          <p:nvPr/>
        </p:nvSpPr>
        <p:spPr>
          <a:xfrm>
            <a:off x="6109335" y="1180465"/>
            <a:ext cx="5460365" cy="133858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设计并实现一个文档驱动的软件需求变更管理与可追溯平台。系统支持需求文档上传、规则需求提取、需求点维护、版本链记录、影响波及图展示和 AI 评估报告生成，实现需求内容的结构化管理与变更过程追溯</a:t>
            </a:r>
            <a:endParaRPr lang="zh-CN" altLang="en-US" sz="1600" dirty="0">
              <a:solidFill>
                <a:schemeClr val="tx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3554" y="636200"/>
            <a:ext cx="3970763" cy="4425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rPr>
              <a:t>核心</a:t>
            </a:r>
            <a:r>
              <a:rPr lang="zh-CN" altLang="en-US" sz="24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rPr>
              <a:t>目标</a:t>
            </a:r>
            <a:endParaRPr lang="zh-CN" altLang="en-US" sz="2400" dirty="0">
              <a:solidFill>
                <a:schemeClr val="accen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B" panose="00020600040101010101" pitchFamily="18" charset="-122"/>
            </a:endParaRPr>
          </a:p>
        </p:txBody>
      </p:sp>
      <p:grpSp>
        <p:nvGrpSpPr>
          <p:cNvPr id="36" name="组合 35"/>
          <p:cNvGrpSpPr/>
          <p:nvPr>
            <p:custDataLst>
              <p:tags r:id="rId6"/>
            </p:custDataLst>
          </p:nvPr>
        </p:nvGrpSpPr>
        <p:grpSpPr>
          <a:xfrm>
            <a:off x="5889159" y="2731766"/>
            <a:ext cx="2767965" cy="911225"/>
            <a:chOff x="6016752" y="3584800"/>
            <a:chExt cx="2767965" cy="911225"/>
          </a:xfrm>
        </p:grpSpPr>
        <p:sp>
          <p:nvSpPr>
            <p:cNvPr id="37" name="文本框 36"/>
            <p:cNvSpPr txBox="1"/>
            <p:nvPr>
              <p:custDataLst>
                <p:tags r:id="rId7"/>
              </p:custDataLst>
            </p:nvPr>
          </p:nvSpPr>
          <p:spPr>
            <a:xfrm>
              <a:off x="6016752" y="3593264"/>
              <a:ext cx="753016" cy="6642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36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01</a:t>
              </a:r>
              <a:endParaRPr lang="en-US" altLang="zh-CN" sz="36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8"/>
              </p:custDataLst>
            </p:nvPr>
          </p:nvSpPr>
          <p:spPr>
            <a:xfrm>
              <a:off x="6891147" y="3584800"/>
              <a:ext cx="1893570" cy="911225"/>
            </a:xfrm>
            <a:prstGeom prst="rect">
              <a:avLst/>
            </a:prstGeom>
            <a:noFill/>
          </p:spPr>
          <p:txBody>
            <a:bodyPr wrap="square" lIns="0" tIns="0" rIns="72000" bIns="72000">
              <a:noAutofit/>
            </a:bodyPr>
            <a:lstStyle/>
            <a:p>
              <a:pPr>
                <a:lnSpc>
                  <a:spcPct val="100000"/>
                </a:lnSpc>
                <a:buClr>
                  <a:srgbClr val="3A472E">
                    <a:lumMod val="60000"/>
                    <a:lumOff val="40000"/>
                  </a:srgbClr>
                </a:buClr>
                <a:defRPr/>
              </a:pPr>
              <a:r>
                <a:rPr lang="zh-CN" altLang="en-US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</a:rPr>
                <a:t>文档接入与解析</a:t>
              </a:r>
              <a:endParaRPr lang="zh-CN" altLang="en-US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472E">
                    <a:lumMod val="60000"/>
                    <a:lumOff val="40000"/>
                  </a:srgb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支持需求文档上传与文本解析，为规则提取提供基础数据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9"/>
            </p:custDataLst>
          </p:nvPr>
        </p:nvGrpSpPr>
        <p:grpSpPr>
          <a:xfrm>
            <a:off x="8756819" y="2731981"/>
            <a:ext cx="2467610" cy="900430"/>
            <a:chOff x="6016752" y="3584800"/>
            <a:chExt cx="2467610" cy="900430"/>
          </a:xfrm>
        </p:grpSpPr>
        <p:sp>
          <p:nvSpPr>
            <p:cNvPr id="40" name="文本框 39"/>
            <p:cNvSpPr txBox="1"/>
            <p:nvPr>
              <p:custDataLst>
                <p:tags r:id="rId10"/>
              </p:custDataLst>
            </p:nvPr>
          </p:nvSpPr>
          <p:spPr>
            <a:xfrm>
              <a:off x="6016752" y="3593264"/>
              <a:ext cx="753016" cy="6642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36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02</a:t>
              </a:r>
              <a:endParaRPr lang="en-US" altLang="zh-CN" sz="36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11"/>
              </p:custDataLst>
            </p:nvPr>
          </p:nvSpPr>
          <p:spPr>
            <a:xfrm>
              <a:off x="6769862" y="3584800"/>
              <a:ext cx="1714500" cy="900430"/>
            </a:xfrm>
            <a:prstGeom prst="rect">
              <a:avLst/>
            </a:prstGeom>
            <a:noFill/>
          </p:spPr>
          <p:txBody>
            <a:bodyPr wrap="square" lIns="0" tIns="0" rIns="72000" bIns="72000">
              <a:noAutofit/>
            </a:bodyPr>
            <a:lstStyle/>
            <a:p>
              <a:pPr marR="0" lvl="0" algn="l" fontAlgn="auto">
                <a:lnSpc>
                  <a:spcPct val="100000"/>
                </a:lnSpc>
                <a:spcBef>
                  <a:spcPts val="0"/>
                </a:spcBef>
                <a:buClr>
                  <a:srgbClr val="3A472E">
                    <a:lumMod val="60000"/>
                    <a:lumOff val="40000"/>
                  </a:srgbClr>
                </a:buClr>
                <a:buSzTx/>
                <a:buFontTx/>
                <a:defRPr/>
              </a:pPr>
              <a:r>
                <a:rPr lang="zh-CN" altLang="en-US" sz="1800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</a:rPr>
                <a:t>规则需求提取</a:t>
              </a:r>
              <a:endParaRPr lang="zh-CN" altLang="en-US" sz="1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endParaRPr>
            </a:p>
            <a:p>
              <a:pPr marR="0" lvl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472E">
                    <a:lumMod val="60000"/>
                    <a:lumOff val="40000"/>
                  </a:srgb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按编号、章节和关键词规则识别需求点，并保存来源证据</a:t>
              </a: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42" name="组合 41"/>
          <p:cNvGrpSpPr/>
          <p:nvPr>
            <p:custDataLst>
              <p:tags r:id="rId12"/>
            </p:custDataLst>
          </p:nvPr>
        </p:nvGrpSpPr>
        <p:grpSpPr>
          <a:xfrm>
            <a:off x="5889159" y="4182745"/>
            <a:ext cx="2990215" cy="1503470"/>
            <a:chOff x="6016752" y="2920800"/>
            <a:chExt cx="2990215" cy="1503470"/>
          </a:xfrm>
        </p:grpSpPr>
        <p:sp>
          <p:nvSpPr>
            <p:cNvPr id="43" name="文本框 42"/>
            <p:cNvSpPr txBox="1"/>
            <p:nvPr>
              <p:custDataLst>
                <p:tags r:id="rId13"/>
              </p:custDataLst>
            </p:nvPr>
          </p:nvSpPr>
          <p:spPr>
            <a:xfrm>
              <a:off x="6016752" y="2920800"/>
              <a:ext cx="753016" cy="6642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36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03</a:t>
              </a:r>
              <a:endParaRPr lang="en-US" altLang="zh-CN" sz="36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4"/>
              </p:custDataLst>
            </p:nvPr>
          </p:nvSpPr>
          <p:spPr>
            <a:xfrm>
              <a:off x="6891147" y="3584800"/>
              <a:ext cx="2115820" cy="839470"/>
            </a:xfrm>
            <a:prstGeom prst="rect">
              <a:avLst/>
            </a:prstGeom>
            <a:noFill/>
          </p:spPr>
          <p:txBody>
            <a:bodyPr wrap="square" lIns="0" tIns="0" rIns="72000" bIns="72000">
              <a:noAutofit/>
            </a:bodyPr>
            <a:lstStyle/>
            <a:p>
              <a:pPr marR="0" lvl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25450" y="107315"/>
            <a:ext cx="526923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01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引言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研究目标与核心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内容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48" name="椭圆 47"/>
          <p:cNvSpPr/>
          <p:nvPr>
            <p:custDataLst>
              <p:tags r:id="rId15"/>
            </p:custDataLst>
          </p:nvPr>
        </p:nvSpPr>
        <p:spPr>
          <a:xfrm>
            <a:off x="5958840" y="537210"/>
            <a:ext cx="613410" cy="58547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: 形状 48"/>
          <p:cNvSpPr/>
          <p:nvPr>
            <p:custDataLst>
              <p:tags r:id="rId16"/>
            </p:custDataLst>
          </p:nvPr>
        </p:nvSpPr>
        <p:spPr>
          <a:xfrm>
            <a:off x="6109251" y="648453"/>
            <a:ext cx="312476" cy="354854"/>
          </a:xfrm>
          <a:custGeom>
            <a:avLst/>
            <a:gdLst>
              <a:gd name="connsiteX0" fmla="*/ 78186 w 230145"/>
              <a:gd name="connsiteY0" fmla="*/ 249062 h 261357"/>
              <a:gd name="connsiteX1" fmla="*/ 152118 w 230145"/>
              <a:gd name="connsiteY1" fmla="*/ 249062 h 261357"/>
              <a:gd name="connsiteX2" fmla="*/ 152118 w 230145"/>
              <a:gd name="connsiteY2" fmla="*/ 261357 h 261357"/>
              <a:gd name="connsiteX3" fmla="*/ 78186 w 230145"/>
              <a:gd name="connsiteY3" fmla="*/ 261357 h 261357"/>
              <a:gd name="connsiteX4" fmla="*/ 217850 w 230145"/>
              <a:gd name="connsiteY4" fmla="*/ 108137 h 261357"/>
              <a:gd name="connsiteX5" fmla="*/ 230145 w 230145"/>
              <a:gd name="connsiteY5" fmla="*/ 108137 h 261357"/>
              <a:gd name="connsiteX6" fmla="*/ 230145 w 230145"/>
              <a:gd name="connsiteY6" fmla="*/ 120432 h 261357"/>
              <a:gd name="connsiteX7" fmla="*/ 217850 w 230145"/>
              <a:gd name="connsiteY7" fmla="*/ 120432 h 261357"/>
              <a:gd name="connsiteX8" fmla="*/ 0 w 230145"/>
              <a:gd name="connsiteY8" fmla="*/ 108137 h 261357"/>
              <a:gd name="connsiteX9" fmla="*/ 12296 w 230145"/>
              <a:gd name="connsiteY9" fmla="*/ 108137 h 261357"/>
              <a:gd name="connsiteX10" fmla="*/ 12296 w 230145"/>
              <a:gd name="connsiteY10" fmla="*/ 120432 h 261357"/>
              <a:gd name="connsiteX11" fmla="*/ 0 w 230145"/>
              <a:gd name="connsiteY11" fmla="*/ 120432 h 261357"/>
              <a:gd name="connsiteX12" fmla="*/ 80393 w 230145"/>
              <a:gd name="connsiteY12" fmla="*/ 103723 h 261357"/>
              <a:gd name="connsiteX13" fmla="*/ 97734 w 230145"/>
              <a:gd name="connsiteY13" fmla="*/ 121063 h 261357"/>
              <a:gd name="connsiteX14" fmla="*/ 106719 w 230145"/>
              <a:gd name="connsiteY14" fmla="*/ 112392 h 261357"/>
              <a:gd name="connsiteX15" fmla="*/ 115389 w 230145"/>
              <a:gd name="connsiteY15" fmla="*/ 103723 h 261357"/>
              <a:gd name="connsiteX16" fmla="*/ 124058 w 230145"/>
              <a:gd name="connsiteY16" fmla="*/ 112392 h 261357"/>
              <a:gd name="connsiteX17" fmla="*/ 132728 w 230145"/>
              <a:gd name="connsiteY17" fmla="*/ 121063 h 261357"/>
              <a:gd name="connsiteX18" fmla="*/ 150067 w 230145"/>
              <a:gd name="connsiteY18" fmla="*/ 103723 h 261357"/>
              <a:gd name="connsiteX19" fmla="*/ 158738 w 230145"/>
              <a:gd name="connsiteY19" fmla="*/ 112392 h 261357"/>
              <a:gd name="connsiteX20" fmla="*/ 141398 w 230145"/>
              <a:gd name="connsiteY20" fmla="*/ 129891 h 261357"/>
              <a:gd name="connsiteX21" fmla="*/ 132728 w 230145"/>
              <a:gd name="connsiteY21" fmla="*/ 138560 h 261357"/>
              <a:gd name="connsiteX22" fmla="*/ 115231 w 230145"/>
              <a:gd name="connsiteY22" fmla="*/ 121063 h 261357"/>
              <a:gd name="connsiteX23" fmla="*/ 97734 w 230145"/>
              <a:gd name="connsiteY23" fmla="*/ 138560 h 261357"/>
              <a:gd name="connsiteX24" fmla="*/ 89064 w 230145"/>
              <a:gd name="connsiteY24" fmla="*/ 129891 h 261357"/>
              <a:gd name="connsiteX25" fmla="*/ 71724 w 230145"/>
              <a:gd name="connsiteY25" fmla="*/ 112392 h 261357"/>
              <a:gd name="connsiteX26" fmla="*/ 115073 w 230145"/>
              <a:gd name="connsiteY26" fmla="*/ 33891 h 261357"/>
              <a:gd name="connsiteX27" fmla="*/ 33891 w 230145"/>
              <a:gd name="connsiteY27" fmla="*/ 115073 h 261357"/>
              <a:gd name="connsiteX28" fmla="*/ 84650 w 230145"/>
              <a:gd name="connsiteY28" fmla="*/ 190264 h 261357"/>
              <a:gd name="connsiteX29" fmla="*/ 90482 w 230145"/>
              <a:gd name="connsiteY29" fmla="*/ 192313 h 261357"/>
              <a:gd name="connsiteX30" fmla="*/ 90482 w 230145"/>
              <a:gd name="connsiteY30" fmla="*/ 224471 h 261357"/>
              <a:gd name="connsiteX31" fmla="*/ 139822 w 230145"/>
              <a:gd name="connsiteY31" fmla="*/ 224471 h 261357"/>
              <a:gd name="connsiteX32" fmla="*/ 139822 w 230145"/>
              <a:gd name="connsiteY32" fmla="*/ 192313 h 261357"/>
              <a:gd name="connsiteX33" fmla="*/ 145654 w 230145"/>
              <a:gd name="connsiteY33" fmla="*/ 190264 h 261357"/>
              <a:gd name="connsiteX34" fmla="*/ 196255 w 230145"/>
              <a:gd name="connsiteY34" fmla="*/ 115073 h 261357"/>
              <a:gd name="connsiteX35" fmla="*/ 115073 w 230145"/>
              <a:gd name="connsiteY35" fmla="*/ 33891 h 261357"/>
              <a:gd name="connsiteX36" fmla="*/ 195781 w 230145"/>
              <a:gd name="connsiteY36" fmla="*/ 33577 h 261357"/>
              <a:gd name="connsiteX37" fmla="*/ 204451 w 230145"/>
              <a:gd name="connsiteY37" fmla="*/ 42246 h 261357"/>
              <a:gd name="connsiteX38" fmla="*/ 195781 w 230145"/>
              <a:gd name="connsiteY38" fmla="*/ 50916 h 261357"/>
              <a:gd name="connsiteX39" fmla="*/ 187111 w 230145"/>
              <a:gd name="connsiteY39" fmla="*/ 42246 h 261357"/>
              <a:gd name="connsiteX40" fmla="*/ 34207 w 230145"/>
              <a:gd name="connsiteY40" fmla="*/ 33577 h 261357"/>
              <a:gd name="connsiteX41" fmla="*/ 42876 w 230145"/>
              <a:gd name="connsiteY41" fmla="*/ 42246 h 261357"/>
              <a:gd name="connsiteX42" fmla="*/ 34207 w 230145"/>
              <a:gd name="connsiteY42" fmla="*/ 50916 h 261357"/>
              <a:gd name="connsiteX43" fmla="*/ 25537 w 230145"/>
              <a:gd name="connsiteY43" fmla="*/ 42246 h 261357"/>
              <a:gd name="connsiteX44" fmla="*/ 115231 w 230145"/>
              <a:gd name="connsiteY44" fmla="*/ 21439 h 261357"/>
              <a:gd name="connsiteX45" fmla="*/ 181279 w 230145"/>
              <a:gd name="connsiteY45" fmla="*/ 48867 h 261357"/>
              <a:gd name="connsiteX46" fmla="*/ 208707 w 230145"/>
              <a:gd name="connsiteY46" fmla="*/ 115073 h 261357"/>
              <a:gd name="connsiteX47" fmla="*/ 181279 w 230145"/>
              <a:gd name="connsiteY47" fmla="*/ 181121 h 261357"/>
              <a:gd name="connsiteX48" fmla="*/ 152118 w 230145"/>
              <a:gd name="connsiteY48" fmla="*/ 200983 h 261357"/>
              <a:gd name="connsiteX49" fmla="*/ 152118 w 230145"/>
              <a:gd name="connsiteY49" fmla="*/ 236766 h 261357"/>
              <a:gd name="connsiteX50" fmla="*/ 78186 w 230145"/>
              <a:gd name="connsiteY50" fmla="*/ 236766 h 261357"/>
              <a:gd name="connsiteX51" fmla="*/ 78186 w 230145"/>
              <a:gd name="connsiteY51" fmla="*/ 200983 h 261357"/>
              <a:gd name="connsiteX52" fmla="*/ 49025 w 230145"/>
              <a:gd name="connsiteY52" fmla="*/ 181121 h 261357"/>
              <a:gd name="connsiteX53" fmla="*/ 21753 w 230145"/>
              <a:gd name="connsiteY53" fmla="*/ 115073 h 261357"/>
              <a:gd name="connsiteX54" fmla="*/ 49025 w 230145"/>
              <a:gd name="connsiteY54" fmla="*/ 48867 h 261357"/>
              <a:gd name="connsiteX55" fmla="*/ 115231 w 230145"/>
              <a:gd name="connsiteY55" fmla="*/ 21439 h 261357"/>
              <a:gd name="connsiteX56" fmla="*/ 109082 w 230145"/>
              <a:gd name="connsiteY56" fmla="*/ 0 h 261357"/>
              <a:gd name="connsiteX57" fmla="*/ 121378 w 230145"/>
              <a:gd name="connsiteY57" fmla="*/ 0 h 261357"/>
              <a:gd name="connsiteX58" fmla="*/ 121378 w 230145"/>
              <a:gd name="connsiteY58" fmla="*/ 12296 h 261357"/>
              <a:gd name="connsiteX59" fmla="*/ 109082 w 230145"/>
              <a:gd name="connsiteY59" fmla="*/ 12296 h 261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30145" h="261357">
                <a:moveTo>
                  <a:pt x="78186" y="249062"/>
                </a:moveTo>
                <a:lnTo>
                  <a:pt x="152118" y="249062"/>
                </a:lnTo>
                <a:lnTo>
                  <a:pt x="152118" y="261357"/>
                </a:lnTo>
                <a:lnTo>
                  <a:pt x="78186" y="261357"/>
                </a:lnTo>
                <a:close/>
                <a:moveTo>
                  <a:pt x="217850" y="108137"/>
                </a:moveTo>
                <a:lnTo>
                  <a:pt x="230145" y="108137"/>
                </a:lnTo>
                <a:lnTo>
                  <a:pt x="230145" y="120432"/>
                </a:lnTo>
                <a:lnTo>
                  <a:pt x="217850" y="120432"/>
                </a:lnTo>
                <a:close/>
                <a:moveTo>
                  <a:pt x="0" y="108137"/>
                </a:moveTo>
                <a:lnTo>
                  <a:pt x="12296" y="108137"/>
                </a:lnTo>
                <a:lnTo>
                  <a:pt x="12296" y="120432"/>
                </a:lnTo>
                <a:lnTo>
                  <a:pt x="0" y="120432"/>
                </a:lnTo>
                <a:close/>
                <a:moveTo>
                  <a:pt x="80393" y="103723"/>
                </a:moveTo>
                <a:lnTo>
                  <a:pt x="97734" y="121063"/>
                </a:lnTo>
                <a:lnTo>
                  <a:pt x="106719" y="112392"/>
                </a:lnTo>
                <a:lnTo>
                  <a:pt x="115389" y="103723"/>
                </a:lnTo>
                <a:lnTo>
                  <a:pt x="124058" y="112392"/>
                </a:lnTo>
                <a:lnTo>
                  <a:pt x="132728" y="121063"/>
                </a:lnTo>
                <a:lnTo>
                  <a:pt x="150067" y="103723"/>
                </a:lnTo>
                <a:lnTo>
                  <a:pt x="158738" y="112392"/>
                </a:lnTo>
                <a:lnTo>
                  <a:pt x="141398" y="129891"/>
                </a:lnTo>
                <a:lnTo>
                  <a:pt x="132728" y="138560"/>
                </a:lnTo>
                <a:lnTo>
                  <a:pt x="115231" y="121063"/>
                </a:lnTo>
                <a:lnTo>
                  <a:pt x="97734" y="138560"/>
                </a:lnTo>
                <a:lnTo>
                  <a:pt x="89064" y="129891"/>
                </a:lnTo>
                <a:lnTo>
                  <a:pt x="71724" y="112392"/>
                </a:lnTo>
                <a:close/>
                <a:moveTo>
                  <a:pt x="115073" y="33891"/>
                </a:moveTo>
                <a:cubicBezTo>
                  <a:pt x="70305" y="33891"/>
                  <a:pt x="33891" y="70304"/>
                  <a:pt x="33891" y="115073"/>
                </a:cubicBezTo>
                <a:cubicBezTo>
                  <a:pt x="33891" y="148964"/>
                  <a:pt x="55014" y="178127"/>
                  <a:pt x="84650" y="190264"/>
                </a:cubicBezTo>
                <a:cubicBezTo>
                  <a:pt x="86542" y="191052"/>
                  <a:pt x="88591" y="191683"/>
                  <a:pt x="90482" y="192313"/>
                </a:cubicBezTo>
                <a:lnTo>
                  <a:pt x="90482" y="224471"/>
                </a:lnTo>
                <a:lnTo>
                  <a:pt x="139822" y="224471"/>
                </a:lnTo>
                <a:lnTo>
                  <a:pt x="139822" y="192313"/>
                </a:lnTo>
                <a:cubicBezTo>
                  <a:pt x="141871" y="191684"/>
                  <a:pt x="143762" y="191052"/>
                  <a:pt x="145654" y="190264"/>
                </a:cubicBezTo>
                <a:cubicBezTo>
                  <a:pt x="175290" y="178127"/>
                  <a:pt x="196255" y="148964"/>
                  <a:pt x="196255" y="115073"/>
                </a:cubicBezTo>
                <a:cubicBezTo>
                  <a:pt x="196255" y="70304"/>
                  <a:pt x="159842" y="33891"/>
                  <a:pt x="115073" y="33891"/>
                </a:cubicBezTo>
                <a:close/>
                <a:moveTo>
                  <a:pt x="195781" y="33577"/>
                </a:moveTo>
                <a:lnTo>
                  <a:pt x="204451" y="42246"/>
                </a:lnTo>
                <a:lnTo>
                  <a:pt x="195781" y="50916"/>
                </a:lnTo>
                <a:lnTo>
                  <a:pt x="187111" y="42246"/>
                </a:lnTo>
                <a:close/>
                <a:moveTo>
                  <a:pt x="34207" y="33577"/>
                </a:moveTo>
                <a:lnTo>
                  <a:pt x="42876" y="42246"/>
                </a:lnTo>
                <a:lnTo>
                  <a:pt x="34207" y="50916"/>
                </a:lnTo>
                <a:lnTo>
                  <a:pt x="25537" y="42246"/>
                </a:lnTo>
                <a:close/>
                <a:moveTo>
                  <a:pt x="115231" y="21439"/>
                </a:moveTo>
                <a:cubicBezTo>
                  <a:pt x="140136" y="21439"/>
                  <a:pt x="163624" y="31212"/>
                  <a:pt x="181279" y="48867"/>
                </a:cubicBezTo>
                <a:cubicBezTo>
                  <a:pt x="198934" y="66680"/>
                  <a:pt x="208707" y="90168"/>
                  <a:pt x="208707" y="115073"/>
                </a:cubicBezTo>
                <a:cubicBezTo>
                  <a:pt x="208707" y="139981"/>
                  <a:pt x="198933" y="163466"/>
                  <a:pt x="181279" y="181121"/>
                </a:cubicBezTo>
                <a:cubicBezTo>
                  <a:pt x="172767" y="189634"/>
                  <a:pt x="162836" y="196413"/>
                  <a:pt x="152118" y="200983"/>
                </a:cubicBezTo>
                <a:lnTo>
                  <a:pt x="152118" y="236766"/>
                </a:lnTo>
                <a:lnTo>
                  <a:pt x="78186" y="236766"/>
                </a:lnTo>
                <a:lnTo>
                  <a:pt x="78186" y="200983"/>
                </a:lnTo>
                <a:cubicBezTo>
                  <a:pt x="67468" y="196255"/>
                  <a:pt x="57537" y="189634"/>
                  <a:pt x="49025" y="181121"/>
                </a:cubicBezTo>
                <a:cubicBezTo>
                  <a:pt x="31528" y="163466"/>
                  <a:pt x="21753" y="140136"/>
                  <a:pt x="21753" y="115073"/>
                </a:cubicBezTo>
                <a:cubicBezTo>
                  <a:pt x="21753" y="90010"/>
                  <a:pt x="31370" y="66364"/>
                  <a:pt x="49025" y="48867"/>
                </a:cubicBezTo>
                <a:cubicBezTo>
                  <a:pt x="66680" y="31370"/>
                  <a:pt x="90324" y="21439"/>
                  <a:pt x="115231" y="21439"/>
                </a:cubicBezTo>
                <a:close/>
                <a:moveTo>
                  <a:pt x="109082" y="0"/>
                </a:moveTo>
                <a:lnTo>
                  <a:pt x="121378" y="0"/>
                </a:lnTo>
                <a:lnTo>
                  <a:pt x="121378" y="12296"/>
                </a:lnTo>
                <a:lnTo>
                  <a:pt x="109082" y="12296"/>
                </a:lnTo>
                <a:close/>
              </a:path>
            </a:pathLst>
          </a:custGeom>
          <a:solidFill>
            <a:schemeClr val="bg1"/>
          </a:solidFill>
          <a:ln w="29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7"/>
            </p:custDataLst>
          </p:nvPr>
        </p:nvSpPr>
        <p:spPr>
          <a:xfrm>
            <a:off x="6704330" y="4144010"/>
            <a:ext cx="1691005" cy="1250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spcBef>
                <a:spcPts val="0"/>
              </a:spcBef>
              <a:buClr>
                <a:srgbClr val="3A472E">
                  <a:lumMod val="60000"/>
                  <a:lumOff val="40000"/>
                </a:srgbClr>
              </a:buClr>
              <a:buSzTx/>
              <a:buFontTx/>
              <a:defRPr/>
            </a:pPr>
            <a:r>
              <a:rPr lang="zh-CN" altLang="en-US" sz="1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rPr>
              <a:t>维护与版本链</a:t>
            </a:r>
            <a:endParaRPr lang="zh-CN" altLang="en-US" sz="1800" dirty="0">
              <a:solidFill>
                <a:schemeClr val="accen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B" panose="00020600040101010101" pitchFamily="18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472E">
                  <a:lumMod val="60000"/>
                  <a:lumOff val="40000"/>
                </a:srgbClr>
              </a:buClr>
              <a:buSzTx/>
              <a:buFontTx/>
              <a:defRPr/>
            </a:pPr>
            <a:r>
              <a: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支持需求增删改查，自动记录变更事件和版本快照</a:t>
            </a:r>
            <a:endParaRPr lang="zh-CN" altLang="en-US" sz="1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8"/>
            </p:custDataLst>
          </p:nvPr>
        </p:nvGrpSpPr>
        <p:grpSpPr>
          <a:xfrm>
            <a:off x="8756819" y="4143795"/>
            <a:ext cx="2467610" cy="901065"/>
            <a:chOff x="6016752" y="3593264"/>
            <a:chExt cx="2467610" cy="901065"/>
          </a:xfrm>
        </p:grpSpPr>
        <p:sp>
          <p:nvSpPr>
            <p:cNvPr id="10" name="文本框 9"/>
            <p:cNvSpPr txBox="1"/>
            <p:nvPr>
              <p:custDataLst>
                <p:tags r:id="rId19"/>
              </p:custDataLst>
            </p:nvPr>
          </p:nvSpPr>
          <p:spPr>
            <a:xfrm>
              <a:off x="6016752" y="3593264"/>
              <a:ext cx="753016" cy="6642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36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04</a:t>
              </a:r>
              <a:endParaRPr lang="en-US" altLang="zh-CN" sz="36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0"/>
              </p:custDataLst>
            </p:nvPr>
          </p:nvSpPr>
          <p:spPr>
            <a:xfrm>
              <a:off x="6769862" y="3593899"/>
              <a:ext cx="1714500" cy="900430"/>
            </a:xfrm>
            <a:prstGeom prst="rect">
              <a:avLst/>
            </a:prstGeom>
            <a:noFill/>
          </p:spPr>
          <p:txBody>
            <a:bodyPr wrap="square" lIns="0" tIns="0" rIns="72000" bIns="72000">
              <a:noAutofit/>
            </a:bodyPr>
            <a:lstStyle/>
            <a:p>
              <a:pPr marR="0" lvl="0" algn="l" fontAlgn="auto">
                <a:lnSpc>
                  <a:spcPct val="100000"/>
                </a:lnSpc>
                <a:spcBef>
                  <a:spcPts val="0"/>
                </a:spcBef>
                <a:buClr>
                  <a:srgbClr val="3A472E">
                    <a:lumMod val="60000"/>
                    <a:lumOff val="40000"/>
                  </a:srgbClr>
                </a:buClr>
                <a:buSzTx/>
                <a:buFontTx/>
                <a:defRPr/>
              </a:pPr>
              <a:r>
                <a:rPr lang="zh-CN" altLang="en-US" sz="1800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</a:rPr>
                <a:t>影响波及图展示</a:t>
              </a:r>
              <a:endParaRPr lang="zh-CN" altLang="en-US" sz="1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endParaRPr>
            </a:p>
            <a:p>
              <a:pPr marR="0" lvl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472E">
                    <a:lumMod val="60000"/>
                    <a:lumOff val="40000"/>
                  </a:srgb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基于文档、需求点和版本数据展示来源与演化关系</a:t>
              </a: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21"/>
            </p:custDataLst>
          </p:nvPr>
        </p:nvGrpSpPr>
        <p:grpSpPr>
          <a:xfrm>
            <a:off x="7342674" y="5296111"/>
            <a:ext cx="2467610" cy="900430"/>
            <a:chOff x="6016752" y="3584800"/>
            <a:chExt cx="2467610" cy="900430"/>
          </a:xfrm>
        </p:grpSpPr>
        <p:sp>
          <p:nvSpPr>
            <p:cNvPr id="13" name="文本框 12"/>
            <p:cNvSpPr txBox="1"/>
            <p:nvPr>
              <p:custDataLst>
                <p:tags r:id="rId22"/>
              </p:custDataLst>
            </p:nvPr>
          </p:nvSpPr>
          <p:spPr>
            <a:xfrm>
              <a:off x="6016752" y="3702484"/>
              <a:ext cx="753016" cy="6642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36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05</a:t>
              </a:r>
              <a:endParaRPr lang="en-US" altLang="zh-CN" sz="36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23"/>
              </p:custDataLst>
            </p:nvPr>
          </p:nvSpPr>
          <p:spPr>
            <a:xfrm>
              <a:off x="6891147" y="3584800"/>
              <a:ext cx="1593215" cy="900430"/>
            </a:xfrm>
            <a:prstGeom prst="rect">
              <a:avLst/>
            </a:prstGeom>
            <a:noFill/>
          </p:spPr>
          <p:txBody>
            <a:bodyPr wrap="square" lIns="0" tIns="0" rIns="72000" bIns="72000">
              <a:noAutofit/>
            </a:bodyPr>
            <a:lstStyle/>
            <a:p>
              <a:pPr marR="0" lvl="0" algn="l" fontAlgn="auto">
                <a:lnSpc>
                  <a:spcPct val="100000"/>
                </a:lnSpc>
                <a:spcBef>
                  <a:spcPts val="0"/>
                </a:spcBef>
                <a:buClr>
                  <a:srgbClr val="3A472E">
                    <a:lumMod val="60000"/>
                    <a:lumOff val="40000"/>
                  </a:srgbClr>
                </a:buClr>
                <a:buSzTx/>
                <a:buFontTx/>
                <a:defRPr/>
              </a:pPr>
              <a:r>
                <a:rPr lang="zh-CN" altLang="en-US" sz="1800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</a:rPr>
                <a:t>AI评估报告</a:t>
              </a:r>
              <a:endParaRPr lang="zh-CN" altLang="en-US" sz="18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endParaRPr>
            </a:p>
            <a:p>
              <a:pPr marR="0" lvl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472E">
                    <a:lumMod val="60000"/>
                    <a:lumOff val="40000"/>
                  </a:srgb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对比人工基准，计算 Precision、Recall、F1 并生成评估报告</a:t>
              </a: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970915" y="5152390"/>
            <a:ext cx="40640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24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</a:rPr>
              <a:t>研究内容总体图</a:t>
            </a:r>
            <a:endParaRPr lang="zh-CN" altLang="en-US" sz="2400" dirty="0">
              <a:solidFill>
                <a:schemeClr val="accen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B" panose="00020600040101010101" pitchFamily="18" charset="-122"/>
            </a:endParaRPr>
          </a:p>
        </p:txBody>
      </p:sp>
      <p:pic>
        <p:nvPicPr>
          <p:cNvPr id="262837785" name="图片 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4485" y="1651000"/>
            <a:ext cx="5356860" cy="3394075"/>
          </a:xfrm>
          <a:prstGeom prst="rect">
            <a:avLst/>
          </a:prstGeom>
        </p:spPr>
      </p:pic>
      <p:pic>
        <p:nvPicPr>
          <p:cNvPr id="28" name="图片 27" descr="校徽(1)"/>
          <p:cNvPicPr>
            <a:picLocks noChangeAspect="1"/>
          </p:cNvPicPr>
          <p:nvPr/>
        </p:nvPicPr>
        <p:blipFill>
          <a:blip r:embed="rId25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25175" y="4254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  <p:bldLst>
      <p:bldP spid="24" grpId="0" animBg="1"/>
      <p:bldP spid="23" grpId="0" animBg="1"/>
      <p:bldP spid="20" grpId="0" animBg="1"/>
      <p:bldP spid="19" grpId="0" animBg="1"/>
      <p:bldP spid="66" grpId="0" animBg="1"/>
      <p:bldP spid="4" grpId="0" animBg="1"/>
      <p:bldP spid="5" grpId="0"/>
      <p:bldP spid="48" grpId="0" animBg="1"/>
      <p:bldP spid="49" grpId="0" animBg="1"/>
      <p:bldP spid="8" grpId="0"/>
      <p:bldP spid="24" grpId="1" animBg="1"/>
      <p:bldP spid="23" grpId="1" animBg="1"/>
      <p:bldP spid="20" grpId="1" animBg="1"/>
      <p:bldP spid="19" grpId="1" animBg="1"/>
      <p:bldP spid="66" grpId="1" animBg="1"/>
      <p:bldP spid="4" grpId="1" animBg="1"/>
      <p:bldP spid="5" grpId="1"/>
      <p:bldP spid="48" grpId="1" animBg="1"/>
      <p:bldP spid="49" grpId="1" animBg="1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>
            <p:custDataLst>
              <p:tags r:id="rId1"/>
            </p:custDataLst>
          </p:nvPr>
        </p:nvGrpSpPr>
        <p:grpSpPr>
          <a:xfrm>
            <a:off x="3008788" y="4500796"/>
            <a:ext cx="2242691" cy="1492258"/>
            <a:chOff x="1043491" y="1838680"/>
            <a:chExt cx="2242691" cy="1492258"/>
          </a:xfrm>
        </p:grpSpPr>
        <p:sp>
          <p:nvSpPr>
            <p:cNvPr id="47" name="文本框 46"/>
            <p:cNvSpPr txBox="1"/>
            <p:nvPr>
              <p:custDataLst>
                <p:tags r:id="rId2"/>
              </p:custDataLst>
            </p:nvPr>
          </p:nvSpPr>
          <p:spPr>
            <a:xfrm>
              <a:off x="1143168" y="2290173"/>
              <a:ext cx="2043336" cy="1040765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系统根据编号、章节、关键词和文本结构规则识别需求点，并保存来源证据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3"/>
              </p:custDataLst>
            </p:nvPr>
          </p:nvSpPr>
          <p:spPr>
            <a:xfrm>
              <a:off x="1043491" y="1838680"/>
              <a:ext cx="2242691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规则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需求提取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4"/>
            </p:custDataLst>
          </p:nvPr>
        </p:nvGrpSpPr>
        <p:grpSpPr>
          <a:xfrm>
            <a:off x="1015873" y="2570753"/>
            <a:ext cx="10160254" cy="2348444"/>
            <a:chOff x="1015873" y="2570753"/>
            <a:chExt cx="10160254" cy="2348444"/>
          </a:xfrm>
        </p:grpSpPr>
        <p:sp>
          <p:nvSpPr>
            <p:cNvPr id="50" name="空心弧 49"/>
            <p:cNvSpPr/>
            <p:nvPr>
              <p:custDataLst>
                <p:tags r:id="rId5"/>
              </p:custDataLst>
            </p:nvPr>
          </p:nvSpPr>
          <p:spPr>
            <a:xfrm flipV="1">
              <a:off x="1015873" y="2621269"/>
              <a:ext cx="2297927" cy="2297927"/>
            </a:xfrm>
            <a:prstGeom prst="blockArc">
              <a:avLst>
                <a:gd name="adj1" fmla="val 10800000"/>
                <a:gd name="adj2" fmla="val 21566717"/>
                <a:gd name="adj3" fmla="val 1427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空心弧 50"/>
            <p:cNvSpPr/>
            <p:nvPr>
              <p:custDataLst>
                <p:tags r:id="rId6"/>
              </p:custDataLst>
            </p:nvPr>
          </p:nvSpPr>
          <p:spPr>
            <a:xfrm>
              <a:off x="2981170" y="2570753"/>
              <a:ext cx="2297927" cy="2297927"/>
            </a:xfrm>
            <a:prstGeom prst="blockArc">
              <a:avLst>
                <a:gd name="adj1" fmla="val 10800000"/>
                <a:gd name="adj2" fmla="val 21566060"/>
                <a:gd name="adj3" fmla="val 1496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空心弧 51"/>
            <p:cNvSpPr/>
            <p:nvPr>
              <p:custDataLst>
                <p:tags r:id="rId7"/>
              </p:custDataLst>
            </p:nvPr>
          </p:nvSpPr>
          <p:spPr>
            <a:xfrm flipV="1">
              <a:off x="4946467" y="2621270"/>
              <a:ext cx="2297927" cy="2297927"/>
            </a:xfrm>
            <a:prstGeom prst="blockArc">
              <a:avLst>
                <a:gd name="adj1" fmla="val 10866259"/>
                <a:gd name="adj2" fmla="val 21532115"/>
                <a:gd name="adj3" fmla="val 1495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空心弧 52"/>
            <p:cNvSpPr/>
            <p:nvPr>
              <p:custDataLst>
                <p:tags r:id="rId8"/>
              </p:custDataLst>
            </p:nvPr>
          </p:nvSpPr>
          <p:spPr>
            <a:xfrm>
              <a:off x="6911763" y="2570753"/>
              <a:ext cx="2297927" cy="2297927"/>
            </a:xfrm>
            <a:prstGeom prst="blockArc">
              <a:avLst>
                <a:gd name="adj1" fmla="val 10800000"/>
                <a:gd name="adj2" fmla="val 21532779"/>
                <a:gd name="adj3" fmla="val 14613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空心弧 53"/>
            <p:cNvSpPr/>
            <p:nvPr>
              <p:custDataLst>
                <p:tags r:id="rId9"/>
              </p:custDataLst>
            </p:nvPr>
          </p:nvSpPr>
          <p:spPr>
            <a:xfrm flipV="1">
              <a:off x="8878200" y="2621270"/>
              <a:ext cx="2297927" cy="2297927"/>
            </a:xfrm>
            <a:prstGeom prst="blockArc">
              <a:avLst>
                <a:gd name="adj1" fmla="val 10821554"/>
                <a:gd name="adj2" fmla="val 21532779"/>
                <a:gd name="adj3" fmla="val 1461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1651977" y="3232115"/>
              <a:ext cx="1025718" cy="1025718"/>
              <a:chOff x="1651977" y="3232115"/>
              <a:chExt cx="1025718" cy="1025718"/>
            </a:xfrm>
          </p:grpSpPr>
          <p:sp>
            <p:nvSpPr>
              <p:cNvPr id="68" name="椭圆 67"/>
              <p:cNvSpPr/>
              <p:nvPr>
                <p:custDataLst>
                  <p:tags r:id="rId10"/>
                </p:custDataLst>
              </p:nvPr>
            </p:nvSpPr>
            <p:spPr>
              <a:xfrm>
                <a:off x="1651977" y="3232115"/>
                <a:ext cx="1025718" cy="102571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图形 33"/>
              <p:cNvSpPr/>
              <p:nvPr>
                <p:custDataLst>
                  <p:tags r:id="rId11"/>
                </p:custDataLst>
              </p:nvPr>
            </p:nvSpPr>
            <p:spPr>
              <a:xfrm>
                <a:off x="1929658" y="3560193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3617274" y="3232115"/>
              <a:ext cx="1025718" cy="1025718"/>
              <a:chOff x="3617274" y="3232115"/>
              <a:chExt cx="1025718" cy="1025718"/>
            </a:xfrm>
          </p:grpSpPr>
          <p:sp>
            <p:nvSpPr>
              <p:cNvPr id="66" name="椭圆 65"/>
              <p:cNvSpPr/>
              <p:nvPr>
                <p:custDataLst>
                  <p:tags r:id="rId12"/>
                </p:custDataLst>
              </p:nvPr>
            </p:nvSpPr>
            <p:spPr>
              <a:xfrm>
                <a:off x="3617274" y="3232115"/>
                <a:ext cx="1025718" cy="102571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图形 33"/>
              <p:cNvSpPr/>
              <p:nvPr>
                <p:custDataLst>
                  <p:tags r:id="rId13"/>
                </p:custDataLst>
              </p:nvPr>
            </p:nvSpPr>
            <p:spPr>
              <a:xfrm>
                <a:off x="3894955" y="3560193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bg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5582571" y="3232116"/>
              <a:ext cx="1025718" cy="1025718"/>
              <a:chOff x="5582571" y="3232116"/>
              <a:chExt cx="1025718" cy="1025718"/>
            </a:xfrm>
          </p:grpSpPr>
          <p:sp>
            <p:nvSpPr>
              <p:cNvPr id="64" name="椭圆 63"/>
              <p:cNvSpPr/>
              <p:nvPr>
                <p:custDataLst>
                  <p:tags r:id="rId14"/>
                </p:custDataLst>
              </p:nvPr>
            </p:nvSpPr>
            <p:spPr>
              <a:xfrm>
                <a:off x="5582571" y="3232116"/>
                <a:ext cx="1025718" cy="102571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图形 33"/>
              <p:cNvSpPr/>
              <p:nvPr>
                <p:custDataLst>
                  <p:tags r:id="rId15"/>
                </p:custDataLst>
              </p:nvPr>
            </p:nvSpPr>
            <p:spPr>
              <a:xfrm>
                <a:off x="5860252" y="3560194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7547867" y="3232115"/>
              <a:ext cx="1025718" cy="1025718"/>
              <a:chOff x="7547867" y="3232115"/>
              <a:chExt cx="1025718" cy="1025718"/>
            </a:xfrm>
          </p:grpSpPr>
          <p:sp>
            <p:nvSpPr>
              <p:cNvPr id="62" name="椭圆 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547867" y="3232115"/>
                <a:ext cx="1025718" cy="102571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图形 33"/>
              <p:cNvSpPr/>
              <p:nvPr>
                <p:custDataLst>
                  <p:tags r:id="rId17"/>
                </p:custDataLst>
              </p:nvPr>
            </p:nvSpPr>
            <p:spPr>
              <a:xfrm>
                <a:off x="7825548" y="3560193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bg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9514304" y="3232116"/>
              <a:ext cx="1025718" cy="1025718"/>
              <a:chOff x="9514304" y="3232116"/>
              <a:chExt cx="1025718" cy="1025718"/>
            </a:xfrm>
            <a:solidFill>
              <a:schemeClr val="bg1"/>
            </a:solidFill>
          </p:grpSpPr>
          <p:sp>
            <p:nvSpPr>
              <p:cNvPr id="60" name="椭圆 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9514304" y="3232116"/>
                <a:ext cx="1025718" cy="1025718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图形 33"/>
              <p:cNvSpPr/>
              <p:nvPr>
                <p:custDataLst>
                  <p:tags r:id="rId19"/>
                </p:custDataLst>
              </p:nvPr>
            </p:nvSpPr>
            <p:spPr>
              <a:xfrm>
                <a:off x="9791985" y="3560194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2" name="组合 81"/>
          <p:cNvGrpSpPr/>
          <p:nvPr>
            <p:custDataLst>
              <p:tags r:id="rId20"/>
            </p:custDataLst>
          </p:nvPr>
        </p:nvGrpSpPr>
        <p:grpSpPr>
          <a:xfrm>
            <a:off x="1043491" y="1850992"/>
            <a:ext cx="2242691" cy="1492258"/>
            <a:chOff x="1043491" y="1838680"/>
            <a:chExt cx="2242691" cy="1492258"/>
          </a:xfrm>
        </p:grpSpPr>
        <p:sp>
          <p:nvSpPr>
            <p:cNvPr id="83" name="文本框 82"/>
            <p:cNvSpPr txBox="1"/>
            <p:nvPr>
              <p:custDataLst>
                <p:tags r:id="rId21"/>
              </p:custDataLst>
            </p:nvPr>
          </p:nvSpPr>
          <p:spPr>
            <a:xfrm>
              <a:off x="1143168" y="2290173"/>
              <a:ext cx="2043336" cy="1040765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用户上传需求文档，系统完成文件保存、文本解析和文档记录生成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84" name="文本框 83"/>
            <p:cNvSpPr txBox="1"/>
            <p:nvPr>
              <p:custDataLst>
                <p:tags r:id="rId22"/>
              </p:custDataLst>
            </p:nvPr>
          </p:nvSpPr>
          <p:spPr>
            <a:xfrm>
              <a:off x="1043491" y="1838680"/>
              <a:ext cx="2242691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文档上传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并解析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85" name="组合 84"/>
          <p:cNvGrpSpPr/>
          <p:nvPr>
            <p:custDataLst>
              <p:tags r:id="rId23"/>
            </p:custDataLst>
          </p:nvPr>
        </p:nvGrpSpPr>
        <p:grpSpPr>
          <a:xfrm>
            <a:off x="4974084" y="1850992"/>
            <a:ext cx="2326005" cy="1492258"/>
            <a:chOff x="1043491" y="1838680"/>
            <a:chExt cx="2326005" cy="1492258"/>
          </a:xfrm>
        </p:grpSpPr>
        <p:sp>
          <p:nvSpPr>
            <p:cNvPr id="86" name="文本框 85"/>
            <p:cNvSpPr txBox="1"/>
            <p:nvPr>
              <p:custDataLst>
                <p:tags r:id="rId24"/>
              </p:custDataLst>
            </p:nvPr>
          </p:nvSpPr>
          <p:spPr>
            <a:xfrm>
              <a:off x="1143168" y="2290173"/>
              <a:ext cx="2043336" cy="1040765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marR="0" lvl="0"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用户对需求进行新增、修改、删除操作，系统自动生成变更事件和版本快照</a:t>
              </a: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7" name="文本框 86"/>
            <p:cNvSpPr txBox="1"/>
            <p:nvPr>
              <p:custDataLst>
                <p:tags r:id="rId25"/>
              </p:custDataLst>
            </p:nvPr>
          </p:nvSpPr>
          <p:spPr>
            <a:xfrm>
              <a:off x="1043491" y="1838680"/>
              <a:ext cx="2326005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需求维护和版本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记录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88" name="组合 87"/>
          <p:cNvGrpSpPr/>
          <p:nvPr>
            <p:custDataLst>
              <p:tags r:id="rId26"/>
            </p:custDataLst>
          </p:nvPr>
        </p:nvGrpSpPr>
        <p:grpSpPr>
          <a:xfrm>
            <a:off x="8904677" y="1850992"/>
            <a:ext cx="2242691" cy="1492258"/>
            <a:chOff x="1043491" y="1838680"/>
            <a:chExt cx="2242691" cy="1492258"/>
          </a:xfrm>
        </p:grpSpPr>
        <p:sp>
          <p:nvSpPr>
            <p:cNvPr id="89" name="文本框 88"/>
            <p:cNvSpPr txBox="1"/>
            <p:nvPr>
              <p:custDataLst>
                <p:tags r:id="rId27"/>
              </p:custDataLst>
            </p:nvPr>
          </p:nvSpPr>
          <p:spPr>
            <a:xfrm>
              <a:off x="1143168" y="2290173"/>
              <a:ext cx="2043336" cy="1040765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marR="0" lvl="0"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系统以人工基准为参照，计算 Precision、Recall、F1，并生成 AI 评估报告</a:t>
              </a: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90" name="文本框 89"/>
            <p:cNvSpPr txBox="1"/>
            <p:nvPr>
              <p:custDataLst>
                <p:tags r:id="rId28"/>
              </p:custDataLst>
            </p:nvPr>
          </p:nvSpPr>
          <p:spPr>
            <a:xfrm>
              <a:off x="1043491" y="1838680"/>
              <a:ext cx="2242691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AI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评估与报告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生成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91" name="组合 90"/>
          <p:cNvGrpSpPr/>
          <p:nvPr>
            <p:custDataLst>
              <p:tags r:id="rId29"/>
            </p:custDataLst>
          </p:nvPr>
        </p:nvGrpSpPr>
        <p:grpSpPr>
          <a:xfrm>
            <a:off x="6939380" y="4500797"/>
            <a:ext cx="2242691" cy="1492257"/>
            <a:chOff x="1043491" y="1838681"/>
            <a:chExt cx="2242691" cy="1492257"/>
          </a:xfrm>
        </p:grpSpPr>
        <p:sp>
          <p:nvSpPr>
            <p:cNvPr id="92" name="文本框 91"/>
            <p:cNvSpPr txBox="1"/>
            <p:nvPr>
              <p:custDataLst>
                <p:tags r:id="rId30"/>
              </p:custDataLst>
            </p:nvPr>
          </p:nvSpPr>
          <p:spPr>
            <a:xfrm>
              <a:off x="1143168" y="2290173"/>
              <a:ext cx="2043336" cy="1040765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algn="ctr">
                <a:lnSpc>
                  <a:spcPct val="150000"/>
                </a:lnSpc>
                <a:buClr>
                  <a:schemeClr val="tx2">
                    <a:lumMod val="60000"/>
                    <a:lumOff val="40000"/>
                  </a:schemeClr>
                </a:buClr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系统基于 MySQL 中的文档、需求点和版本数据，展示需求来源和版本演化关系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93" name="文本框 92"/>
            <p:cNvSpPr txBox="1"/>
            <p:nvPr>
              <p:custDataLst>
                <p:tags r:id="rId31"/>
              </p:custDataLst>
            </p:nvPr>
          </p:nvSpPr>
          <p:spPr>
            <a:xfrm>
              <a:off x="1043491" y="1838681"/>
              <a:ext cx="2242691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追溯与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影响图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展示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25450" y="107315"/>
            <a:ext cx="526923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01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引言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技术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路线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32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78820" y="289560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25450" y="107315"/>
            <a:ext cx="422148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02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相关理论与关键技术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核心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理论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</a:endParaRPr>
          </a:p>
        </p:txBody>
      </p:sp>
      <p:grpSp>
        <p:nvGrpSpPr>
          <p:cNvPr id="53" name="组合 52"/>
          <p:cNvGrpSpPr/>
          <p:nvPr>
            <p:custDataLst>
              <p:tags r:id="rId1"/>
            </p:custDataLst>
          </p:nvPr>
        </p:nvGrpSpPr>
        <p:grpSpPr>
          <a:xfrm>
            <a:off x="1312872" y="1318260"/>
            <a:ext cx="4111298" cy="4638579"/>
            <a:chOff x="1312947" y="1618761"/>
            <a:chExt cx="2337690" cy="4638385"/>
          </a:xfrm>
        </p:grpSpPr>
        <p:grpSp>
          <p:nvGrpSpPr>
            <p:cNvPr id="55" name="组合 54"/>
            <p:cNvGrpSpPr/>
            <p:nvPr/>
          </p:nvGrpSpPr>
          <p:grpSpPr>
            <a:xfrm>
              <a:off x="1313035" y="1618761"/>
              <a:ext cx="2336694" cy="1421457"/>
              <a:chOff x="1612879" y="1895849"/>
              <a:chExt cx="2336694" cy="1421457"/>
            </a:xfrm>
          </p:grpSpPr>
          <p:sp>
            <p:nvSpPr>
              <p:cNvPr id="65" name="标题 1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612966" y="1895849"/>
                <a:ext cx="2336607" cy="452782"/>
              </a:xfrm>
              <a:prstGeom prst="rect">
                <a:avLst/>
              </a:prstGeom>
            </p:spPr>
            <p:txBody>
              <a:bodyPr vert="horz" lIns="0" tIns="0" rIns="0" bIns="0" rtlCol="0" anchor="ctr" anchorCtr="0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需求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变更管理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66" name="文本框 6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612879" y="2348337"/>
                <a:ext cx="2336607" cy="9689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R="0" lvl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关注需求在维护过程中的新增、修改、删除等变化。系统通过变更事件和版本记录，保存需求变化前后的内容，使变更过程可查看、可回溯。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1312947" y="3225962"/>
              <a:ext cx="2337690" cy="1421457"/>
              <a:chOff x="-2140332" y="3503050"/>
              <a:chExt cx="2337690" cy="1421457"/>
            </a:xfrm>
          </p:grpSpPr>
          <p:sp>
            <p:nvSpPr>
              <p:cNvPr id="62" name="标题 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-2140332" y="3503050"/>
                <a:ext cx="2336607" cy="452782"/>
              </a:xfrm>
              <a:prstGeom prst="rect">
                <a:avLst/>
              </a:prstGeom>
            </p:spPr>
            <p:txBody>
              <a:bodyPr vert="horz" lIns="0" tIns="0" rIns="0" bIns="0" rtlCol="0" anchor="ctr" anchorCtr="0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需求可追溯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性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63" name="文本框 6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-2139249" y="3955538"/>
                <a:ext cx="2336607" cy="9689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R="0" lvl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建立需求与来源文档、来源证据、变更事件、需求版本之间的关联关系，用于回答“需求从哪里来、改过什么、当前依据是什么”的问题</a:t>
                </a:r>
                <a:endParaRPr lang="zh-CN" altLang="en-US" sz="1400" dirty="0">
                  <a:solidFill>
                    <a:prstClr val="black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1313669" y="4833784"/>
              <a:ext cx="2336607" cy="1423362"/>
              <a:chOff x="-5892734" y="5110872"/>
              <a:chExt cx="2336607" cy="1423362"/>
            </a:xfrm>
          </p:grpSpPr>
          <p:sp>
            <p:nvSpPr>
              <p:cNvPr id="59" name="标题 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-5892734" y="5110872"/>
                <a:ext cx="2336607" cy="452782"/>
              </a:xfrm>
              <a:prstGeom prst="rect">
                <a:avLst/>
              </a:prstGeom>
            </p:spPr>
            <p:txBody>
              <a:bodyPr vert="horz" lIns="0" tIns="0" rIns="0" bIns="0" rtlCol="0" anchor="ctr" anchorCtr="0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影响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波及图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60" name="文本框 5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-5892734" y="5565265"/>
                <a:ext cx="2336607" cy="9689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R="0" lvl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基于文档、需求点和版本记录生成影响波及图，展示需求来源、变更过程和版本演化关系，辅助用户理解需求变化的影响范围</a:t>
                </a:r>
                <a:endParaRPr lang="zh-CN" altLang="en-US" sz="1400" dirty="0">
                  <a:solidFill>
                    <a:prstClr val="black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" panose="00020600040101010101" pitchFamily="18" charset="-122"/>
                </a:endParaRPr>
              </a:p>
            </p:txBody>
          </p:sp>
        </p:grpSp>
      </p:grpSp>
      <p:pic>
        <p:nvPicPr>
          <p:cNvPr id="2066769943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0270" y="1452880"/>
            <a:ext cx="5174615" cy="3973830"/>
          </a:xfrm>
          <a:prstGeom prst="rect">
            <a:avLst/>
          </a:prstGeom>
        </p:spPr>
      </p:pic>
      <p:sp>
        <p:nvSpPr>
          <p:cNvPr id="3" name="标题 1"/>
          <p:cNvSpPr txBox="1"/>
          <p:nvPr>
            <p:custDataLst>
              <p:tags r:id="rId9"/>
            </p:custDataLst>
          </p:nvPr>
        </p:nvSpPr>
        <p:spPr>
          <a:xfrm>
            <a:off x="6237605" y="5504180"/>
            <a:ext cx="4761230" cy="45275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14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需求变更管理与需求可追溯性关系示意图</a:t>
            </a:r>
            <a:endParaRPr lang="zh-CN" altLang="en-US" sz="14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10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7870" y="27114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5" name="组合 64"/>
          <p:cNvGrpSpPr/>
          <p:nvPr>
            <p:custDataLst>
              <p:tags r:id="rId1"/>
            </p:custDataLst>
          </p:nvPr>
        </p:nvGrpSpPr>
        <p:grpSpPr>
          <a:xfrm>
            <a:off x="861060" y="1772920"/>
            <a:ext cx="2427605" cy="4174490"/>
            <a:chOff x="861231" y="2185416"/>
            <a:chExt cx="3019646" cy="3825752"/>
          </a:xfrm>
        </p:grpSpPr>
        <p:sp>
          <p:nvSpPr>
            <p:cNvPr id="66" name="矩形: 圆角 65"/>
            <p:cNvSpPr/>
            <p:nvPr>
              <p:custDataLst>
                <p:tags r:id="rId2"/>
              </p:custDataLst>
            </p:nvPr>
          </p:nvSpPr>
          <p:spPr>
            <a:xfrm>
              <a:off x="861231" y="2185416"/>
              <a:ext cx="3019646" cy="3825752"/>
            </a:xfrm>
            <a:prstGeom prst="roundRect">
              <a:avLst>
                <a:gd name="adj" fmla="val 584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: 圆角 66"/>
            <p:cNvSpPr/>
            <p:nvPr>
              <p:custDataLst>
                <p:tags r:id="rId3"/>
              </p:custDataLst>
            </p:nvPr>
          </p:nvSpPr>
          <p:spPr>
            <a:xfrm>
              <a:off x="1973872" y="5552126"/>
              <a:ext cx="794365" cy="56288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文本框 67"/>
            <p:cNvSpPr txBox="1"/>
            <p:nvPr>
              <p:custDataLst>
                <p:tags r:id="rId4"/>
              </p:custDataLst>
            </p:nvPr>
          </p:nvSpPr>
          <p:spPr>
            <a:xfrm flipH="1">
              <a:off x="1537478" y="3244438"/>
              <a:ext cx="1667153" cy="7047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Watcher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  <a:p>
              <a:pPr indent="0" algn="ctr">
                <a:lnSpc>
                  <a:spcPct val="125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监控智能体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5"/>
              </p:custDataLst>
            </p:nvPr>
          </p:nvSpPr>
          <p:spPr>
            <a:xfrm flipH="1">
              <a:off x="1363673" y="4025524"/>
              <a:ext cx="2014763" cy="1184272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负责接收文档上传和需求操作事件，触发后续解析、提取、维护和评估流程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70" name="图形 38"/>
            <p:cNvSpPr/>
            <p:nvPr>
              <p:custDataLst>
                <p:tags r:id="rId6"/>
              </p:custDataLst>
            </p:nvPr>
          </p:nvSpPr>
          <p:spPr>
            <a:xfrm>
              <a:off x="2163702" y="2665891"/>
              <a:ext cx="414704" cy="414667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4" name="组合 33"/>
          <p:cNvGrpSpPr/>
          <p:nvPr>
            <p:custDataLst>
              <p:tags r:id="rId7"/>
            </p:custDataLst>
          </p:nvPr>
        </p:nvGrpSpPr>
        <p:grpSpPr>
          <a:xfrm>
            <a:off x="3620770" y="1772920"/>
            <a:ext cx="2427605" cy="4174490"/>
            <a:chOff x="861231" y="2185416"/>
            <a:chExt cx="3019646" cy="3825752"/>
          </a:xfrm>
        </p:grpSpPr>
        <p:sp>
          <p:nvSpPr>
            <p:cNvPr id="35" name="矩形: 圆角 65"/>
            <p:cNvSpPr/>
            <p:nvPr>
              <p:custDataLst>
                <p:tags r:id="rId8"/>
              </p:custDataLst>
            </p:nvPr>
          </p:nvSpPr>
          <p:spPr>
            <a:xfrm>
              <a:off x="861231" y="2185416"/>
              <a:ext cx="3019646" cy="3825752"/>
            </a:xfrm>
            <a:prstGeom prst="roundRect">
              <a:avLst>
                <a:gd name="adj" fmla="val 584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: 圆角 66"/>
            <p:cNvSpPr/>
            <p:nvPr>
              <p:custDataLst>
                <p:tags r:id="rId9"/>
              </p:custDataLst>
            </p:nvPr>
          </p:nvSpPr>
          <p:spPr>
            <a:xfrm>
              <a:off x="1973872" y="5552126"/>
              <a:ext cx="794365" cy="56288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/>
            <p:cNvSpPr txBox="1"/>
            <p:nvPr>
              <p:custDataLst>
                <p:tags r:id="rId10"/>
              </p:custDataLst>
            </p:nvPr>
          </p:nvSpPr>
          <p:spPr>
            <a:xfrm flipH="1">
              <a:off x="1537478" y="3244438"/>
              <a:ext cx="1667153" cy="7047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Analyzer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  <a:p>
              <a:pPr indent="0" algn="ctr">
                <a:lnSpc>
                  <a:spcPct val="125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分析智能体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11"/>
              </p:custDataLst>
            </p:nvPr>
          </p:nvSpPr>
          <p:spPr>
            <a:xfrm flipH="1">
              <a:off x="1363673" y="4025524"/>
              <a:ext cx="2014763" cy="1480486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负责文档文本解析、规则需求提取和文档整体分析，将文档内容整理为结构化需求点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39" name="图形 38"/>
            <p:cNvSpPr/>
            <p:nvPr>
              <p:custDataLst>
                <p:tags r:id="rId12"/>
              </p:custDataLst>
            </p:nvPr>
          </p:nvSpPr>
          <p:spPr>
            <a:xfrm>
              <a:off x="2163702" y="2665891"/>
              <a:ext cx="414704" cy="414667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0" name="组合 39"/>
          <p:cNvGrpSpPr/>
          <p:nvPr>
            <p:custDataLst>
              <p:tags r:id="rId13"/>
            </p:custDataLst>
          </p:nvPr>
        </p:nvGrpSpPr>
        <p:grpSpPr>
          <a:xfrm>
            <a:off x="6380480" y="1772920"/>
            <a:ext cx="2427605" cy="4174490"/>
            <a:chOff x="861231" y="2185416"/>
            <a:chExt cx="3019646" cy="3825752"/>
          </a:xfrm>
        </p:grpSpPr>
        <p:sp>
          <p:nvSpPr>
            <p:cNvPr id="41" name="矩形: 圆角 65"/>
            <p:cNvSpPr/>
            <p:nvPr>
              <p:custDataLst>
                <p:tags r:id="rId14"/>
              </p:custDataLst>
            </p:nvPr>
          </p:nvSpPr>
          <p:spPr>
            <a:xfrm>
              <a:off x="861231" y="2185416"/>
              <a:ext cx="3019646" cy="3825752"/>
            </a:xfrm>
            <a:prstGeom prst="roundRect">
              <a:avLst>
                <a:gd name="adj" fmla="val 584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: 圆角 66"/>
            <p:cNvSpPr/>
            <p:nvPr>
              <p:custDataLst>
                <p:tags r:id="rId15"/>
              </p:custDataLst>
            </p:nvPr>
          </p:nvSpPr>
          <p:spPr>
            <a:xfrm>
              <a:off x="1973872" y="5552126"/>
              <a:ext cx="794365" cy="56288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文本框 42"/>
            <p:cNvSpPr txBox="1"/>
            <p:nvPr>
              <p:custDataLst>
                <p:tags r:id="rId16"/>
              </p:custDataLst>
            </p:nvPr>
          </p:nvSpPr>
          <p:spPr>
            <a:xfrm flipH="1">
              <a:off x="1537478" y="3244438"/>
              <a:ext cx="1667153" cy="7047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Maintainer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  <a:p>
              <a:pPr indent="0" algn="ctr">
                <a:lnSpc>
                  <a:spcPct val="125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维护智能体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7"/>
              </p:custDataLst>
            </p:nvPr>
          </p:nvSpPr>
          <p:spPr>
            <a:xfrm flipH="1">
              <a:off x="1363673" y="4025524"/>
              <a:ext cx="2014763" cy="1184272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负责维护来源证据、变更事件和需求版本记录，保证需求来源和演化过程可追溯</a:t>
              </a:r>
              <a:endParaRPr lang="zh-CN" altLang="en-US" sz="1400" dirty="0">
                <a:solidFill>
                  <a:prstClr val="black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5" name="图形 38"/>
            <p:cNvSpPr/>
            <p:nvPr>
              <p:custDataLst>
                <p:tags r:id="rId18"/>
              </p:custDataLst>
            </p:nvPr>
          </p:nvSpPr>
          <p:spPr>
            <a:xfrm>
              <a:off x="2163702" y="2665891"/>
              <a:ext cx="414704" cy="414667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6" name="组合 45"/>
          <p:cNvGrpSpPr/>
          <p:nvPr>
            <p:custDataLst>
              <p:tags r:id="rId19"/>
            </p:custDataLst>
          </p:nvPr>
        </p:nvGrpSpPr>
        <p:grpSpPr>
          <a:xfrm>
            <a:off x="9140190" y="1772920"/>
            <a:ext cx="2427605" cy="4174490"/>
            <a:chOff x="861231" y="2185416"/>
            <a:chExt cx="3019646" cy="3825752"/>
          </a:xfrm>
        </p:grpSpPr>
        <p:sp>
          <p:nvSpPr>
            <p:cNvPr id="47" name="矩形: 圆角 65"/>
            <p:cNvSpPr/>
            <p:nvPr>
              <p:custDataLst>
                <p:tags r:id="rId20"/>
              </p:custDataLst>
            </p:nvPr>
          </p:nvSpPr>
          <p:spPr>
            <a:xfrm>
              <a:off x="861231" y="2185416"/>
              <a:ext cx="3019646" cy="3825752"/>
            </a:xfrm>
            <a:prstGeom prst="roundRect">
              <a:avLst>
                <a:gd name="adj" fmla="val 584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66"/>
            <p:cNvSpPr/>
            <p:nvPr>
              <p:custDataLst>
                <p:tags r:id="rId21"/>
              </p:custDataLst>
            </p:nvPr>
          </p:nvSpPr>
          <p:spPr>
            <a:xfrm>
              <a:off x="1973872" y="5552126"/>
              <a:ext cx="794365" cy="56288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文本框 48"/>
            <p:cNvSpPr txBox="1"/>
            <p:nvPr>
              <p:custDataLst>
                <p:tags r:id="rId22"/>
              </p:custDataLst>
            </p:nvPr>
          </p:nvSpPr>
          <p:spPr>
            <a:xfrm flipH="1">
              <a:off x="1537478" y="3244438"/>
              <a:ext cx="1667153" cy="7047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Evaluation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  <a:p>
              <a:pPr indent="0" algn="ctr">
                <a:lnSpc>
                  <a:spcPct val="125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  <a:sym typeface="Noto Sans SC" panose="020B0200000000000000" charset="-122"/>
                </a:rPr>
                <a:t>评估智能体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23"/>
              </p:custDataLst>
            </p:nvPr>
          </p:nvSpPr>
          <p:spPr>
            <a:xfrm flipH="1">
              <a:off x="1363673" y="4025524"/>
              <a:ext cx="2014763" cy="1184272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+mn-ea"/>
                </a:rPr>
                <a:t>负责管理人工基准，对比规则提取结果，计算评估指标，并生成 AI 评估报告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51" name="图形 38"/>
            <p:cNvSpPr/>
            <p:nvPr>
              <p:custDataLst>
                <p:tags r:id="rId24"/>
              </p:custDataLst>
            </p:nvPr>
          </p:nvSpPr>
          <p:spPr>
            <a:xfrm>
              <a:off x="2163702" y="2665891"/>
              <a:ext cx="414704" cy="414667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02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相关理论与关键技术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多智能体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协同思想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pic>
        <p:nvPicPr>
          <p:cNvPr id="53" name="图片 52" descr="校徽(1)"/>
          <p:cNvPicPr>
            <a:picLocks noChangeAspect="1"/>
          </p:cNvPicPr>
          <p:nvPr/>
        </p:nvPicPr>
        <p:blipFill>
          <a:blip r:embed="rId25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7870" y="27114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5" name="组合 64"/>
          <p:cNvGrpSpPr/>
          <p:nvPr>
            <p:custDataLst>
              <p:tags r:id="rId1"/>
            </p:custDataLst>
          </p:nvPr>
        </p:nvGrpSpPr>
        <p:grpSpPr>
          <a:xfrm>
            <a:off x="879475" y="1419860"/>
            <a:ext cx="4987290" cy="4705985"/>
            <a:chOff x="861231" y="2185416"/>
            <a:chExt cx="3019646" cy="3825752"/>
          </a:xfrm>
        </p:grpSpPr>
        <p:sp>
          <p:nvSpPr>
            <p:cNvPr id="66" name="矩形: 圆角 65"/>
            <p:cNvSpPr/>
            <p:nvPr>
              <p:custDataLst>
                <p:tags r:id="rId2"/>
              </p:custDataLst>
            </p:nvPr>
          </p:nvSpPr>
          <p:spPr>
            <a:xfrm>
              <a:off x="861231" y="2185416"/>
              <a:ext cx="3019646" cy="3825752"/>
            </a:xfrm>
            <a:prstGeom prst="roundRect">
              <a:avLst>
                <a:gd name="adj" fmla="val 584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/>
            <p:cNvSpPr txBox="1"/>
            <p:nvPr>
              <p:custDataLst>
                <p:tags r:id="rId3"/>
              </p:custDataLst>
            </p:nvPr>
          </p:nvSpPr>
          <p:spPr>
            <a:xfrm flipH="1">
              <a:off x="1377577" y="3562191"/>
              <a:ext cx="1986953" cy="31231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MySQL 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数据存储与关系建模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4"/>
              </p:custDataLst>
            </p:nvPr>
          </p:nvSpPr>
          <p:spPr>
            <a:xfrm flipH="1">
              <a:off x="1391355" y="4025524"/>
              <a:ext cx="2014763" cy="1576038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核心作用：用于保存需求文档、需求点、来源证据、变更事件、需求版本和评估记录等核心数据。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技术支撑：系统基于 </a:t>
              </a:r>
              <a:r>
                <a:rPr lang="en-US" altLang="zh-CN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MySQL </a:t>
              </a: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中的文档、需求点和版本数据生成影响波及图，展示需求来源、变更过程和版本演化关系。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02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相关理论与关键技术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关键技术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栈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grpSp>
        <p:nvGrpSpPr>
          <p:cNvPr id="3" name="组合 2"/>
          <p:cNvGrpSpPr/>
          <p:nvPr>
            <p:custDataLst>
              <p:tags r:id="rId5"/>
            </p:custDataLst>
          </p:nvPr>
        </p:nvGrpSpPr>
        <p:grpSpPr>
          <a:xfrm>
            <a:off x="6259830" y="1419860"/>
            <a:ext cx="4987290" cy="4705985"/>
            <a:chOff x="861231" y="2185416"/>
            <a:chExt cx="3019646" cy="3825752"/>
          </a:xfrm>
        </p:grpSpPr>
        <p:sp>
          <p:nvSpPr>
            <p:cNvPr id="4" name="矩形: 圆角 65"/>
            <p:cNvSpPr/>
            <p:nvPr>
              <p:custDataLst>
                <p:tags r:id="rId6"/>
              </p:custDataLst>
            </p:nvPr>
          </p:nvSpPr>
          <p:spPr>
            <a:xfrm>
              <a:off x="861231" y="2185416"/>
              <a:ext cx="3019646" cy="3825752"/>
            </a:xfrm>
            <a:prstGeom prst="roundRect">
              <a:avLst>
                <a:gd name="adj" fmla="val 584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 flipH="1">
              <a:off x="1317215" y="3560642"/>
              <a:ext cx="2107293" cy="31231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大语言模型 </a:t>
              </a: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LLM 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辅助分析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8"/>
              </p:custDataLst>
            </p:nvPr>
          </p:nvSpPr>
          <p:spPr>
            <a:xfrm flipH="1">
              <a:off x="1363673" y="4025524"/>
              <a:ext cx="2014763" cy="1313279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核心作用：用于对需求文档进行整体分析，并在评估阶段生成自然语言形式的评估报告。</a:t>
              </a:r>
              <a:endParaRPr lang="en-US" altLang="zh-CN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应用方式：引用</a:t>
              </a:r>
              <a:r>
                <a:rPr lang="en-US" altLang="zh-CN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AI </a:t>
              </a: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对文档进行总结性分析和基准对比后</a:t>
              </a: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的评估说明，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285365" y="1515110"/>
            <a:ext cx="2266950" cy="14128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978775" y="1520190"/>
            <a:ext cx="1403350" cy="1403350"/>
          </a:xfrm>
          <a:prstGeom prst="rect">
            <a:avLst/>
          </a:prstGeom>
        </p:spPr>
      </p:pic>
      <p:pic>
        <p:nvPicPr>
          <p:cNvPr id="12" name="图片 11" descr="校徽(1)"/>
          <p:cNvPicPr>
            <a:picLocks noChangeAspect="1"/>
          </p:cNvPicPr>
          <p:nvPr/>
        </p:nvPicPr>
        <p:blipFill>
          <a:blip r:embed="rId13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7870" y="24320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>
            <p:custDataLst>
              <p:tags r:id="rId1"/>
            </p:custDataLst>
          </p:nvPr>
        </p:nvGrpSpPr>
        <p:grpSpPr>
          <a:xfrm>
            <a:off x="4682490" y="3434351"/>
            <a:ext cx="2827020" cy="1614980"/>
            <a:chOff x="782561" y="3946194"/>
            <a:chExt cx="2827332" cy="1106455"/>
          </a:xfrm>
        </p:grpSpPr>
        <p:sp>
          <p:nvSpPr>
            <p:cNvPr id="25" name="文本框 24"/>
            <p:cNvSpPr txBox="1"/>
            <p:nvPr>
              <p:custDataLst>
                <p:tags r:id="rId2"/>
              </p:custDataLst>
            </p:nvPr>
          </p:nvSpPr>
          <p:spPr>
            <a:xfrm>
              <a:off x="782561" y="4339600"/>
              <a:ext cx="2827332" cy="713049"/>
            </a:xfrm>
            <a:prstGeom prst="rect">
              <a:avLst/>
            </a:prstGeom>
            <a:noFill/>
          </p:spPr>
          <p:txBody>
            <a:bodyPr wrap="square" lIns="0" tIns="0" rIns="72000" bIns="7200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基于 FastAPI 实现接口路由和业务处理，完成文档解析、规则提取、版本记录、评估和导出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3"/>
              </p:custDataLst>
            </p:nvPr>
          </p:nvSpPr>
          <p:spPr>
            <a:xfrm>
              <a:off x="1074882" y="3946194"/>
              <a:ext cx="2242691" cy="25276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应用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层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4"/>
            </p:custDataLst>
          </p:nvPr>
        </p:nvGrpSpPr>
        <p:grpSpPr>
          <a:xfrm>
            <a:off x="8359775" y="3440020"/>
            <a:ext cx="2827020" cy="1616630"/>
            <a:chOff x="782561" y="3946725"/>
            <a:chExt cx="2827332" cy="1102921"/>
          </a:xfrm>
        </p:grpSpPr>
        <p:sp>
          <p:nvSpPr>
            <p:cNvPr id="30" name="文本框 29"/>
            <p:cNvSpPr txBox="1"/>
            <p:nvPr>
              <p:custDataLst>
                <p:tags r:id="rId5"/>
              </p:custDataLst>
            </p:nvPr>
          </p:nvSpPr>
          <p:spPr>
            <a:xfrm>
              <a:off x="782561" y="4339600"/>
              <a:ext cx="2827332" cy="710046"/>
            </a:xfrm>
            <a:prstGeom prst="rect">
              <a:avLst/>
            </a:prstGeom>
            <a:noFill/>
          </p:spPr>
          <p:txBody>
            <a:bodyPr wrap="square" lIns="0" tIns="0" rIns="72000" bIns="7200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基于 MySQL 保存文档、需求点、来源证据、变更事件、版本链和评估记录等数据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6"/>
              </p:custDataLst>
            </p:nvPr>
          </p:nvSpPr>
          <p:spPr>
            <a:xfrm>
              <a:off x="1074882" y="3946725"/>
              <a:ext cx="2242691" cy="2517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数据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层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cxnSp>
        <p:nvCxnSpPr>
          <p:cNvPr id="32" name="直接连接符 31"/>
          <p:cNvCxnSpPr/>
          <p:nvPr>
            <p:custDataLst>
              <p:tags r:id="rId7"/>
            </p:custDataLst>
          </p:nvPr>
        </p:nvCxnSpPr>
        <p:spPr>
          <a:xfrm>
            <a:off x="3594884" y="2263685"/>
            <a:ext cx="1325006" cy="0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8"/>
            </p:custDataLst>
          </p:nvPr>
        </p:nvCxnSpPr>
        <p:spPr>
          <a:xfrm>
            <a:off x="7272110" y="2263685"/>
            <a:ext cx="1325006" cy="0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>
            <p:custDataLst>
              <p:tags r:id="rId9"/>
            </p:custDataLst>
          </p:nvPr>
        </p:nvGrpSpPr>
        <p:grpSpPr>
          <a:xfrm>
            <a:off x="1005205" y="3495653"/>
            <a:ext cx="2827020" cy="1576737"/>
            <a:chOff x="782561" y="3965241"/>
            <a:chExt cx="2827332" cy="1101300"/>
          </a:xfrm>
        </p:grpSpPr>
        <p:sp>
          <p:nvSpPr>
            <p:cNvPr id="64" name="文本框 63"/>
            <p:cNvSpPr txBox="1"/>
            <p:nvPr>
              <p:custDataLst>
                <p:tags r:id="rId10"/>
              </p:custDataLst>
            </p:nvPr>
          </p:nvSpPr>
          <p:spPr>
            <a:xfrm>
              <a:off x="782561" y="4339600"/>
              <a:ext cx="2827332" cy="726941"/>
            </a:xfrm>
            <a:prstGeom prst="rect">
              <a:avLst/>
            </a:prstGeom>
            <a:noFill/>
          </p:spPr>
          <p:txBody>
            <a:bodyPr wrap="square" lIns="0" tIns="0" rIns="72000" bIns="72000">
              <a:spAutoFit/>
            </a:bodyPr>
            <a:lstStyle/>
            <a:p>
              <a:pPr marR="0" lvl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None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基于 Jinja2 与 Bootstrap 构建页面，提供需求管理、追溯维护、影响图和AI评估等入口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65" name="文本框 64"/>
            <p:cNvSpPr txBox="1"/>
            <p:nvPr>
              <p:custDataLst>
                <p:tags r:id="rId11"/>
              </p:custDataLst>
            </p:nvPr>
          </p:nvSpPr>
          <p:spPr>
            <a:xfrm>
              <a:off x="1074882" y="3965241"/>
              <a:ext cx="2242691" cy="21466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表现</a:t>
              </a: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层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03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系统设计与实现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总体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架构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pic>
        <p:nvPicPr>
          <p:cNvPr id="3" name="Picture 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/>
          <a:stretch>
            <a:fillRect/>
          </a:stretch>
        </p:blipFill>
        <p:spPr>
          <a:xfrm>
            <a:off x="1840865" y="1692275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l="12471" r="12471"/>
          <a:stretch>
            <a:fillRect/>
          </a:stretch>
        </p:blipFill>
        <p:spPr>
          <a:xfrm>
            <a:off x="5524500" y="1692275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4" name="Picture 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94" r="94"/>
          <a:stretch>
            <a:fillRect/>
          </a:stretch>
        </p:blipFill>
        <p:spPr>
          <a:xfrm>
            <a:off x="9201785" y="1726565"/>
            <a:ext cx="1127125" cy="11271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5" name="图片 34" descr="校徽(1)"/>
          <p:cNvPicPr>
            <a:picLocks noChangeAspect="1"/>
          </p:cNvPicPr>
          <p:nvPr/>
        </p:nvPicPr>
        <p:blipFill>
          <a:blip r:embed="rId18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4695" y="302260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>
            <p:custDataLst>
              <p:tags r:id="rId1"/>
            </p:custDataLst>
          </p:nvPr>
        </p:nvGrpSpPr>
        <p:grpSpPr>
          <a:xfrm>
            <a:off x="3008788" y="4316011"/>
            <a:ext cx="2242691" cy="2000258"/>
            <a:chOff x="1043491" y="1653895"/>
            <a:chExt cx="2242691" cy="2000258"/>
          </a:xfrm>
        </p:grpSpPr>
        <p:sp>
          <p:nvSpPr>
            <p:cNvPr id="47" name="文本框 46"/>
            <p:cNvSpPr txBox="1"/>
            <p:nvPr>
              <p:custDataLst>
                <p:tags r:id="rId2"/>
              </p:custDataLst>
            </p:nvPr>
          </p:nvSpPr>
          <p:spPr>
            <a:xfrm>
              <a:off x="1143168" y="2290173"/>
              <a:ext cx="2043336" cy="1363980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对上传文档进行文本解析，基于编号、章节、关键词和文本结构规则识别需求点，并整理为结构化数据。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3"/>
              </p:custDataLst>
            </p:nvPr>
          </p:nvSpPr>
          <p:spPr>
            <a:xfrm>
              <a:off x="1043491" y="1653895"/>
              <a:ext cx="2242691" cy="7385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需求分析（</a:t>
              </a: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Analyzer）</a:t>
              </a:r>
              <a:endParaRPr lang="en-US" altLang="zh-CN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4"/>
            </p:custDataLst>
          </p:nvPr>
        </p:nvGrpSpPr>
        <p:grpSpPr>
          <a:xfrm>
            <a:off x="1015873" y="2570753"/>
            <a:ext cx="10160254" cy="2348444"/>
            <a:chOff x="1015873" y="2570753"/>
            <a:chExt cx="10160254" cy="2348444"/>
          </a:xfrm>
        </p:grpSpPr>
        <p:sp>
          <p:nvSpPr>
            <p:cNvPr id="50" name="空心弧 49"/>
            <p:cNvSpPr/>
            <p:nvPr>
              <p:custDataLst>
                <p:tags r:id="rId5"/>
              </p:custDataLst>
            </p:nvPr>
          </p:nvSpPr>
          <p:spPr>
            <a:xfrm flipV="1">
              <a:off x="1015873" y="2621269"/>
              <a:ext cx="2297927" cy="2297927"/>
            </a:xfrm>
            <a:prstGeom prst="blockArc">
              <a:avLst>
                <a:gd name="adj1" fmla="val 10800000"/>
                <a:gd name="adj2" fmla="val 21566717"/>
                <a:gd name="adj3" fmla="val 1427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空心弧 50"/>
            <p:cNvSpPr/>
            <p:nvPr>
              <p:custDataLst>
                <p:tags r:id="rId6"/>
              </p:custDataLst>
            </p:nvPr>
          </p:nvSpPr>
          <p:spPr>
            <a:xfrm>
              <a:off x="2981170" y="2570753"/>
              <a:ext cx="2297927" cy="2297927"/>
            </a:xfrm>
            <a:prstGeom prst="blockArc">
              <a:avLst>
                <a:gd name="adj1" fmla="val 10800000"/>
                <a:gd name="adj2" fmla="val 21566060"/>
                <a:gd name="adj3" fmla="val 1496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空心弧 51"/>
            <p:cNvSpPr/>
            <p:nvPr>
              <p:custDataLst>
                <p:tags r:id="rId7"/>
              </p:custDataLst>
            </p:nvPr>
          </p:nvSpPr>
          <p:spPr>
            <a:xfrm flipV="1">
              <a:off x="4946467" y="2621270"/>
              <a:ext cx="2297927" cy="2297927"/>
            </a:xfrm>
            <a:prstGeom prst="blockArc">
              <a:avLst>
                <a:gd name="adj1" fmla="val 10866259"/>
                <a:gd name="adj2" fmla="val 21532115"/>
                <a:gd name="adj3" fmla="val 1495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空心弧 52"/>
            <p:cNvSpPr/>
            <p:nvPr>
              <p:custDataLst>
                <p:tags r:id="rId8"/>
              </p:custDataLst>
            </p:nvPr>
          </p:nvSpPr>
          <p:spPr>
            <a:xfrm>
              <a:off x="6911763" y="2570753"/>
              <a:ext cx="2297927" cy="2297927"/>
            </a:xfrm>
            <a:prstGeom prst="blockArc">
              <a:avLst>
                <a:gd name="adj1" fmla="val 10800000"/>
                <a:gd name="adj2" fmla="val 21532779"/>
                <a:gd name="adj3" fmla="val 14613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空心弧 53"/>
            <p:cNvSpPr/>
            <p:nvPr>
              <p:custDataLst>
                <p:tags r:id="rId9"/>
              </p:custDataLst>
            </p:nvPr>
          </p:nvSpPr>
          <p:spPr>
            <a:xfrm flipV="1">
              <a:off x="8878200" y="2621270"/>
              <a:ext cx="2297927" cy="2297927"/>
            </a:xfrm>
            <a:prstGeom prst="blockArc">
              <a:avLst>
                <a:gd name="adj1" fmla="val 10821554"/>
                <a:gd name="adj2" fmla="val 21532779"/>
                <a:gd name="adj3" fmla="val 1461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1651977" y="3232115"/>
              <a:ext cx="1025718" cy="1025718"/>
              <a:chOff x="1651977" y="3232115"/>
              <a:chExt cx="1025718" cy="1025718"/>
            </a:xfrm>
          </p:grpSpPr>
          <p:sp>
            <p:nvSpPr>
              <p:cNvPr id="68" name="椭圆 67"/>
              <p:cNvSpPr/>
              <p:nvPr>
                <p:custDataLst>
                  <p:tags r:id="rId10"/>
                </p:custDataLst>
              </p:nvPr>
            </p:nvSpPr>
            <p:spPr>
              <a:xfrm>
                <a:off x="1651977" y="3232115"/>
                <a:ext cx="1025718" cy="102571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图形 33"/>
              <p:cNvSpPr/>
              <p:nvPr>
                <p:custDataLst>
                  <p:tags r:id="rId11"/>
                </p:custDataLst>
              </p:nvPr>
            </p:nvSpPr>
            <p:spPr>
              <a:xfrm>
                <a:off x="1929658" y="3560193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3617274" y="3232115"/>
              <a:ext cx="1025718" cy="1025718"/>
              <a:chOff x="3617274" y="3232115"/>
              <a:chExt cx="1025718" cy="1025718"/>
            </a:xfrm>
          </p:grpSpPr>
          <p:sp>
            <p:nvSpPr>
              <p:cNvPr id="66" name="椭圆 65"/>
              <p:cNvSpPr/>
              <p:nvPr>
                <p:custDataLst>
                  <p:tags r:id="rId12"/>
                </p:custDataLst>
              </p:nvPr>
            </p:nvSpPr>
            <p:spPr>
              <a:xfrm>
                <a:off x="3617274" y="3232115"/>
                <a:ext cx="1025718" cy="102571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图形 33"/>
              <p:cNvSpPr/>
              <p:nvPr>
                <p:custDataLst>
                  <p:tags r:id="rId13"/>
                </p:custDataLst>
              </p:nvPr>
            </p:nvSpPr>
            <p:spPr>
              <a:xfrm>
                <a:off x="3894955" y="3560193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bg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5582571" y="3232116"/>
              <a:ext cx="1025718" cy="1025718"/>
              <a:chOff x="5582571" y="3232116"/>
              <a:chExt cx="1025718" cy="1025718"/>
            </a:xfrm>
          </p:grpSpPr>
          <p:sp>
            <p:nvSpPr>
              <p:cNvPr id="64" name="椭圆 63"/>
              <p:cNvSpPr/>
              <p:nvPr>
                <p:custDataLst>
                  <p:tags r:id="rId14"/>
                </p:custDataLst>
              </p:nvPr>
            </p:nvSpPr>
            <p:spPr>
              <a:xfrm>
                <a:off x="5582571" y="3232116"/>
                <a:ext cx="1025718" cy="102571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图形 33"/>
              <p:cNvSpPr/>
              <p:nvPr>
                <p:custDataLst>
                  <p:tags r:id="rId15"/>
                </p:custDataLst>
              </p:nvPr>
            </p:nvSpPr>
            <p:spPr>
              <a:xfrm>
                <a:off x="5860252" y="3560194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7547867" y="3232115"/>
              <a:ext cx="1025718" cy="1025718"/>
              <a:chOff x="7547867" y="3232115"/>
              <a:chExt cx="1025718" cy="1025718"/>
            </a:xfrm>
          </p:grpSpPr>
          <p:sp>
            <p:nvSpPr>
              <p:cNvPr id="62" name="椭圆 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547867" y="3232115"/>
                <a:ext cx="1025718" cy="102571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图形 33"/>
              <p:cNvSpPr/>
              <p:nvPr>
                <p:custDataLst>
                  <p:tags r:id="rId17"/>
                </p:custDataLst>
              </p:nvPr>
            </p:nvSpPr>
            <p:spPr>
              <a:xfrm>
                <a:off x="7825548" y="3560193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bg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9514304" y="3232116"/>
              <a:ext cx="1025718" cy="1025718"/>
              <a:chOff x="9514304" y="3232116"/>
              <a:chExt cx="1025718" cy="1025718"/>
            </a:xfrm>
            <a:solidFill>
              <a:schemeClr val="bg1"/>
            </a:solidFill>
          </p:grpSpPr>
          <p:sp>
            <p:nvSpPr>
              <p:cNvPr id="60" name="椭圆 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9514304" y="3232116"/>
                <a:ext cx="1025718" cy="1025718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图形 33"/>
              <p:cNvSpPr/>
              <p:nvPr>
                <p:custDataLst>
                  <p:tags r:id="rId19"/>
                </p:custDataLst>
              </p:nvPr>
            </p:nvSpPr>
            <p:spPr>
              <a:xfrm>
                <a:off x="9791985" y="3560194"/>
                <a:ext cx="470356" cy="369562"/>
              </a:xfrm>
              <a:custGeom>
                <a:avLst/>
                <a:gdLst>
                  <a:gd name="connsiteX0" fmla="*/ 682401 w 752982"/>
                  <a:gd name="connsiteY0" fmla="*/ 295811 h 591621"/>
                  <a:gd name="connsiteX1" fmla="*/ 658682 w 752982"/>
                  <a:gd name="connsiteY1" fmla="*/ 300401 h 591621"/>
                  <a:gd name="connsiteX2" fmla="*/ 551778 w 752982"/>
                  <a:gd name="connsiteY2" fmla="*/ 132416 h 591621"/>
                  <a:gd name="connsiteX3" fmla="*/ 564740 w 752982"/>
                  <a:gd name="connsiteY3" fmla="*/ 86288 h 591621"/>
                  <a:gd name="connsiteX4" fmla="*/ 482379 w 752982"/>
                  <a:gd name="connsiteY4" fmla="*/ 0 h 591621"/>
                  <a:gd name="connsiteX5" fmla="*/ 400036 w 752982"/>
                  <a:gd name="connsiteY5" fmla="*/ 86288 h 591621"/>
                  <a:gd name="connsiteX6" fmla="*/ 420743 w 752982"/>
                  <a:gd name="connsiteY6" fmla="*/ 142940 h 591621"/>
                  <a:gd name="connsiteX7" fmla="*/ 312996 w 752982"/>
                  <a:gd name="connsiteY7" fmla="*/ 349899 h 591621"/>
                  <a:gd name="connsiteX8" fmla="*/ 282375 w 752982"/>
                  <a:gd name="connsiteY8" fmla="*/ 345113 h 591621"/>
                  <a:gd name="connsiteX9" fmla="*/ 218946 w 752982"/>
                  <a:gd name="connsiteY9" fmla="*/ 364887 h 591621"/>
                  <a:gd name="connsiteX10" fmla="*/ 132659 w 752982"/>
                  <a:gd name="connsiteY10" fmla="*/ 256423 h 591621"/>
                  <a:gd name="connsiteX11" fmla="*/ 141193 w 752982"/>
                  <a:gd name="connsiteY11" fmla="*/ 221858 h 591621"/>
                  <a:gd name="connsiteX12" fmla="*/ 90959 w 752982"/>
                  <a:gd name="connsiteY12" fmla="*/ 151061 h 591621"/>
                  <a:gd name="connsiteX13" fmla="*/ 11753 w 752982"/>
                  <a:gd name="connsiteY13" fmla="*/ 181018 h 591621"/>
                  <a:gd name="connsiteX14" fmla="*/ 16271 w 752982"/>
                  <a:gd name="connsiteY14" fmla="*/ 269099 h 591621"/>
                  <a:gd name="connsiteX15" fmla="*/ 98094 w 752982"/>
                  <a:gd name="connsiteY15" fmla="*/ 289984 h 591621"/>
                  <a:gd name="connsiteX16" fmla="*/ 185009 w 752982"/>
                  <a:gd name="connsiteY16" fmla="*/ 399273 h 591621"/>
                  <a:gd name="connsiteX17" fmla="*/ 164732 w 752982"/>
                  <a:gd name="connsiteY17" fmla="*/ 468367 h 591621"/>
                  <a:gd name="connsiteX18" fmla="*/ 282375 w 752982"/>
                  <a:gd name="connsiteY18" fmla="*/ 591621 h 591621"/>
                  <a:gd name="connsiteX19" fmla="*/ 400036 w 752982"/>
                  <a:gd name="connsiteY19" fmla="*/ 468367 h 591621"/>
                  <a:gd name="connsiteX20" fmla="*/ 354983 w 752982"/>
                  <a:gd name="connsiteY20" fmla="*/ 372148 h 591621"/>
                  <a:gd name="connsiteX21" fmla="*/ 460686 w 752982"/>
                  <a:gd name="connsiteY21" fmla="*/ 169150 h 591621"/>
                  <a:gd name="connsiteX22" fmla="*/ 482379 w 752982"/>
                  <a:gd name="connsiteY22" fmla="*/ 172557 h 591621"/>
                  <a:gd name="connsiteX23" fmla="*/ 515904 w 752982"/>
                  <a:gd name="connsiteY23" fmla="*/ 164937 h 591621"/>
                  <a:gd name="connsiteX24" fmla="*/ 622109 w 752982"/>
                  <a:gd name="connsiteY24" fmla="*/ 331810 h 591621"/>
                  <a:gd name="connsiteX25" fmla="*/ 611801 w 752982"/>
                  <a:gd name="connsiteY25" fmla="*/ 369763 h 591621"/>
                  <a:gd name="connsiteX26" fmla="*/ 682401 w 752982"/>
                  <a:gd name="connsiteY26" fmla="*/ 443716 h 591621"/>
                  <a:gd name="connsiteX27" fmla="*/ 752983 w 752982"/>
                  <a:gd name="connsiteY27" fmla="*/ 369763 h 591621"/>
                  <a:gd name="connsiteX28" fmla="*/ 682401 w 752982"/>
                  <a:gd name="connsiteY28" fmla="*/ 295811 h 591621"/>
                  <a:gd name="connsiteX29" fmla="*/ 666086 w 752982"/>
                  <a:gd name="connsiteY29" fmla="*/ 374694 h 591621"/>
                  <a:gd name="connsiteX30" fmla="*/ 637133 w 752982"/>
                  <a:gd name="connsiteY30" fmla="*/ 345113 h 591621"/>
                  <a:gd name="connsiteX31" fmla="*/ 666105 w 752982"/>
                  <a:gd name="connsiteY31" fmla="*/ 315532 h 591621"/>
                  <a:gd name="connsiteX32" fmla="*/ 695058 w 752982"/>
                  <a:gd name="connsiteY32" fmla="*/ 345113 h 591621"/>
                  <a:gd name="connsiteX33" fmla="*/ 666105 w 752982"/>
                  <a:gd name="connsiteY33" fmla="*/ 374694 h 591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52982" h="591621">
                    <a:moveTo>
                      <a:pt x="682401" y="295811"/>
                    </a:moveTo>
                    <a:cubicBezTo>
                      <a:pt x="674297" y="295901"/>
                      <a:pt x="666266" y="297443"/>
                      <a:pt x="658682" y="300401"/>
                    </a:cubicBezTo>
                    <a:lnTo>
                      <a:pt x="551778" y="132416"/>
                    </a:lnTo>
                    <a:cubicBezTo>
                      <a:pt x="560204" y="118647"/>
                      <a:pt x="564722" y="102638"/>
                      <a:pt x="564740" y="86288"/>
                    </a:cubicBezTo>
                    <a:cubicBezTo>
                      <a:pt x="564740" y="38635"/>
                      <a:pt x="527862" y="0"/>
                      <a:pt x="482379" y="0"/>
                    </a:cubicBezTo>
                    <a:cubicBezTo>
                      <a:pt x="436896" y="0"/>
                      <a:pt x="400036" y="38635"/>
                      <a:pt x="400036" y="86288"/>
                    </a:cubicBezTo>
                    <a:cubicBezTo>
                      <a:pt x="400036" y="108070"/>
                      <a:pt x="407996" y="127773"/>
                      <a:pt x="420743" y="142940"/>
                    </a:cubicBezTo>
                    <a:lnTo>
                      <a:pt x="312996" y="349899"/>
                    </a:lnTo>
                    <a:cubicBezTo>
                      <a:pt x="303064" y="346875"/>
                      <a:pt x="292756" y="345263"/>
                      <a:pt x="282375" y="345113"/>
                    </a:cubicBezTo>
                    <a:cubicBezTo>
                      <a:pt x="259728" y="345198"/>
                      <a:pt x="237630" y="352088"/>
                      <a:pt x="218946" y="364887"/>
                    </a:cubicBezTo>
                    <a:lnTo>
                      <a:pt x="132659" y="256423"/>
                    </a:lnTo>
                    <a:cubicBezTo>
                      <a:pt x="138207" y="245742"/>
                      <a:pt x="141132" y="233894"/>
                      <a:pt x="141193" y="221858"/>
                    </a:cubicBezTo>
                    <a:cubicBezTo>
                      <a:pt x="141193" y="189230"/>
                      <a:pt x="120773" y="160473"/>
                      <a:pt x="90959" y="151061"/>
                    </a:cubicBezTo>
                    <a:cubicBezTo>
                      <a:pt x="61145" y="141649"/>
                      <a:pt x="28964" y="153822"/>
                      <a:pt x="11753" y="181018"/>
                    </a:cubicBezTo>
                    <a:cubicBezTo>
                      <a:pt x="-5439" y="208400"/>
                      <a:pt x="-3633" y="243619"/>
                      <a:pt x="16271" y="269099"/>
                    </a:cubicBezTo>
                    <a:cubicBezTo>
                      <a:pt x="36171" y="294197"/>
                      <a:pt x="69409" y="302695"/>
                      <a:pt x="98094" y="289984"/>
                    </a:cubicBezTo>
                    <a:lnTo>
                      <a:pt x="185009" y="399273"/>
                    </a:lnTo>
                    <a:cubicBezTo>
                      <a:pt x="171720" y="419863"/>
                      <a:pt x="164677" y="443861"/>
                      <a:pt x="164732" y="468367"/>
                    </a:cubicBezTo>
                    <a:cubicBezTo>
                      <a:pt x="164732" y="536314"/>
                      <a:pt x="217494" y="591621"/>
                      <a:pt x="282375" y="591621"/>
                    </a:cubicBezTo>
                    <a:cubicBezTo>
                      <a:pt x="347256" y="591621"/>
                      <a:pt x="400036" y="536332"/>
                      <a:pt x="400036" y="468367"/>
                    </a:cubicBezTo>
                    <a:cubicBezTo>
                      <a:pt x="400123" y="431179"/>
                      <a:pt x="383601" y="395895"/>
                      <a:pt x="354983" y="372148"/>
                    </a:cubicBezTo>
                    <a:lnTo>
                      <a:pt x="460686" y="169150"/>
                    </a:lnTo>
                    <a:cubicBezTo>
                      <a:pt x="467660" y="171158"/>
                      <a:pt x="474831" y="172557"/>
                      <a:pt x="482379" y="172557"/>
                    </a:cubicBezTo>
                    <a:cubicBezTo>
                      <a:pt x="493979" y="172518"/>
                      <a:pt x="505427" y="169916"/>
                      <a:pt x="515904" y="164937"/>
                    </a:cubicBezTo>
                    <a:lnTo>
                      <a:pt x="622109" y="331810"/>
                    </a:lnTo>
                    <a:cubicBezTo>
                      <a:pt x="615395" y="343334"/>
                      <a:pt x="611839" y="356426"/>
                      <a:pt x="611801" y="369763"/>
                    </a:cubicBezTo>
                    <a:cubicBezTo>
                      <a:pt x="611801" y="410604"/>
                      <a:pt x="643408" y="443716"/>
                      <a:pt x="682401" y="443716"/>
                    </a:cubicBezTo>
                    <a:cubicBezTo>
                      <a:pt x="721376" y="443716"/>
                      <a:pt x="752983" y="410604"/>
                      <a:pt x="752983" y="369763"/>
                    </a:cubicBezTo>
                    <a:cubicBezTo>
                      <a:pt x="752983" y="328924"/>
                      <a:pt x="721376" y="295811"/>
                      <a:pt x="682401" y="295811"/>
                    </a:cubicBezTo>
                    <a:close/>
                    <a:moveTo>
                      <a:pt x="666086" y="374694"/>
                    </a:moveTo>
                    <a:cubicBezTo>
                      <a:pt x="650131" y="374694"/>
                      <a:pt x="637133" y="361427"/>
                      <a:pt x="637133" y="345113"/>
                    </a:cubicBezTo>
                    <a:cubicBezTo>
                      <a:pt x="637133" y="328799"/>
                      <a:pt x="650131" y="315532"/>
                      <a:pt x="666105" y="315532"/>
                    </a:cubicBezTo>
                    <a:cubicBezTo>
                      <a:pt x="682060" y="315532"/>
                      <a:pt x="695058" y="328799"/>
                      <a:pt x="695058" y="345113"/>
                    </a:cubicBezTo>
                    <a:cubicBezTo>
                      <a:pt x="695058" y="361427"/>
                      <a:pt x="682060" y="374694"/>
                      <a:pt x="666105" y="3746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2" name="组合 81"/>
          <p:cNvGrpSpPr/>
          <p:nvPr>
            <p:custDataLst>
              <p:tags r:id="rId20"/>
            </p:custDataLst>
          </p:nvPr>
        </p:nvGrpSpPr>
        <p:grpSpPr>
          <a:xfrm>
            <a:off x="1070796" y="1121377"/>
            <a:ext cx="2242691" cy="2138688"/>
            <a:chOff x="1043491" y="1838680"/>
            <a:chExt cx="2242691" cy="2138688"/>
          </a:xfrm>
        </p:grpSpPr>
        <p:sp>
          <p:nvSpPr>
            <p:cNvPr id="83" name="文本框 82"/>
            <p:cNvSpPr txBox="1"/>
            <p:nvPr>
              <p:custDataLst>
                <p:tags r:id="rId21"/>
              </p:custDataLst>
            </p:nvPr>
          </p:nvSpPr>
          <p:spPr>
            <a:xfrm>
              <a:off x="1143168" y="2290173"/>
              <a:ext cx="2043336" cy="1687195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marR="0" lvl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接收用户上传的需求文档和需求操作事件，完成基础校验，并触发后续文本解析、需求提取和维护流程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84" name="文本框 83"/>
            <p:cNvSpPr txBox="1"/>
            <p:nvPr>
              <p:custDataLst>
                <p:tags r:id="rId22"/>
              </p:custDataLst>
            </p:nvPr>
          </p:nvSpPr>
          <p:spPr>
            <a:xfrm>
              <a:off x="1043491" y="1838680"/>
              <a:ext cx="2242691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文档监控（</a:t>
              </a: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Watcher）</a:t>
              </a:r>
              <a:endParaRPr lang="en-US" altLang="zh-CN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85" name="组合 84"/>
          <p:cNvGrpSpPr/>
          <p:nvPr>
            <p:custDataLst>
              <p:tags r:id="rId23"/>
            </p:custDataLst>
          </p:nvPr>
        </p:nvGrpSpPr>
        <p:grpSpPr>
          <a:xfrm>
            <a:off x="4933444" y="1121377"/>
            <a:ext cx="2326005" cy="1815473"/>
            <a:chOff x="1043491" y="1838680"/>
            <a:chExt cx="2326005" cy="1815473"/>
          </a:xfrm>
        </p:grpSpPr>
        <p:sp>
          <p:nvSpPr>
            <p:cNvPr id="86" name="文本框 85"/>
            <p:cNvSpPr txBox="1"/>
            <p:nvPr>
              <p:custDataLst>
                <p:tags r:id="rId24"/>
              </p:custDataLst>
            </p:nvPr>
          </p:nvSpPr>
          <p:spPr>
            <a:xfrm>
              <a:off x="1143168" y="2290173"/>
              <a:ext cx="2043336" cy="1363980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持续接收用户对需求点的新增、修改和删除操作，识别需求变化，并将变更信息传递给维护模块处理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87" name="文本框 86"/>
            <p:cNvSpPr txBox="1"/>
            <p:nvPr>
              <p:custDataLst>
                <p:tags r:id="rId25"/>
              </p:custDataLst>
            </p:nvPr>
          </p:nvSpPr>
          <p:spPr>
            <a:xfrm>
              <a:off x="1043491" y="1838680"/>
              <a:ext cx="2326005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变更感知（</a:t>
              </a: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Watcher）</a:t>
              </a:r>
              <a:endParaRPr lang="en-US" altLang="zh-CN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88" name="组合 87"/>
          <p:cNvGrpSpPr/>
          <p:nvPr>
            <p:custDataLst>
              <p:tags r:id="rId26"/>
            </p:custDataLst>
          </p:nvPr>
        </p:nvGrpSpPr>
        <p:grpSpPr>
          <a:xfrm>
            <a:off x="8895787" y="1121377"/>
            <a:ext cx="2766060" cy="1815473"/>
            <a:chOff x="1043491" y="1838680"/>
            <a:chExt cx="2766060" cy="1815473"/>
          </a:xfrm>
        </p:grpSpPr>
        <p:sp>
          <p:nvSpPr>
            <p:cNvPr id="89" name="文本框 88"/>
            <p:cNvSpPr txBox="1"/>
            <p:nvPr>
              <p:custDataLst>
                <p:tags r:id="rId27"/>
              </p:custDataLst>
            </p:nvPr>
          </p:nvSpPr>
          <p:spPr>
            <a:xfrm>
              <a:off x="1143168" y="2290173"/>
              <a:ext cx="2043336" cy="1363980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marR="0" lvl="0" algn="just" fontAlgn="auto">
                <a:lnSpc>
                  <a:spcPct val="150000"/>
                </a:lnSpc>
                <a:spcBef>
                  <a:spcPts val="0"/>
                </a:spcBef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以人工确认基准为参照，对比规则提取结果，计算 Precision、Recall、F1，并生成 AI 评估报告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90" name="文本框 89"/>
            <p:cNvSpPr txBox="1"/>
            <p:nvPr>
              <p:custDataLst>
                <p:tags r:id="rId28"/>
              </p:custDataLst>
            </p:nvPr>
          </p:nvSpPr>
          <p:spPr>
            <a:xfrm>
              <a:off x="1043491" y="1838680"/>
              <a:ext cx="2766060" cy="3689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评估验证（</a:t>
              </a: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Evaluation）</a:t>
              </a:r>
              <a:endParaRPr lang="en-US" altLang="zh-CN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91" name="组合 90"/>
          <p:cNvGrpSpPr/>
          <p:nvPr>
            <p:custDataLst>
              <p:tags r:id="rId29"/>
            </p:custDataLst>
          </p:nvPr>
        </p:nvGrpSpPr>
        <p:grpSpPr>
          <a:xfrm>
            <a:off x="6939380" y="4316012"/>
            <a:ext cx="2242691" cy="2000257"/>
            <a:chOff x="1043491" y="1653896"/>
            <a:chExt cx="2242691" cy="2000257"/>
          </a:xfrm>
        </p:grpSpPr>
        <p:sp>
          <p:nvSpPr>
            <p:cNvPr id="92" name="文本框 91"/>
            <p:cNvSpPr txBox="1"/>
            <p:nvPr>
              <p:custDataLst>
                <p:tags r:id="rId30"/>
              </p:custDataLst>
            </p:nvPr>
          </p:nvSpPr>
          <p:spPr>
            <a:xfrm>
              <a:off x="1143168" y="2290173"/>
              <a:ext cx="2043336" cy="1363980"/>
            </a:xfrm>
            <a:prstGeom prst="rect">
              <a:avLst/>
            </a:prstGeom>
            <a:noFill/>
          </p:spPr>
          <p:txBody>
            <a:bodyPr wrap="square" lIns="0" tIns="0" rIns="0" bIns="72000">
              <a:spAutoFit/>
            </a:bodyPr>
            <a:lstStyle/>
            <a:p>
              <a:pPr algn="ctr">
                <a:lnSpc>
                  <a:spcPct val="150000"/>
                </a:lnSpc>
                <a:buClr>
                  <a:schemeClr val="tx2">
                    <a:lumMod val="60000"/>
                    <a:lumOff val="40000"/>
                  </a:schemeClr>
                </a:buClr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保存需求来源证据、变更事件和版本快照，维护文档、需求点和版本记录之间的关联关系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93" name="文本框 92"/>
            <p:cNvSpPr txBox="1"/>
            <p:nvPr>
              <p:custDataLst>
                <p:tags r:id="rId31"/>
              </p:custDataLst>
            </p:nvPr>
          </p:nvSpPr>
          <p:spPr>
            <a:xfrm>
              <a:off x="1043491" y="1653896"/>
              <a:ext cx="2242691" cy="7385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数据维护与追溯管理（</a:t>
              </a:r>
              <a:r>
                <a:rPr lang="en-US" altLang="zh-CN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Maintainer）</a:t>
              </a:r>
              <a:endParaRPr lang="en-US" altLang="zh-CN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03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系统设计与实现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多智能体协同处理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流程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32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73740" y="-6413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1143831" y="1818732"/>
            <a:ext cx="1954272" cy="2747376"/>
            <a:chOff x="1040043" y="1399321"/>
            <a:chExt cx="1954272" cy="2747376"/>
          </a:xfrm>
        </p:grpSpPr>
        <p:grpSp>
          <p:nvGrpSpPr>
            <p:cNvPr id="43" name="组合 42"/>
            <p:cNvGrpSpPr/>
            <p:nvPr/>
          </p:nvGrpSpPr>
          <p:grpSpPr>
            <a:xfrm>
              <a:off x="1143290" y="1399321"/>
              <a:ext cx="1851025" cy="2449830"/>
              <a:chOff x="782562" y="3795715"/>
              <a:chExt cx="1851025" cy="2449830"/>
            </a:xfrm>
          </p:grpSpPr>
          <p:sp>
            <p:nvSpPr>
              <p:cNvPr id="45" name="文本框 44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782562" y="4881565"/>
                <a:ext cx="1851025" cy="136398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支持docx</a:t>
                </a: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类型需求文档上传与文本解析。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系统基于编号、章节、关键词和文本结构规则识别需求点，并保存需求编号、标题、描述和来源片段。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  <p:sp>
            <p:nvSpPr>
              <p:cNvPr id="46" name="文本框 4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82562" y="3795715"/>
                <a:ext cx="1680998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需求文档解析与规则提取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</p:grpSp>
        <p:cxnSp>
          <p:nvCxnSpPr>
            <p:cNvPr id="44" name="直接连接符 43"/>
            <p:cNvCxnSpPr/>
            <p:nvPr>
              <p:custDataLst>
                <p:tags r:id="rId4"/>
              </p:custDataLst>
            </p:nvPr>
          </p:nvCxnSpPr>
          <p:spPr>
            <a:xfrm flipV="1">
              <a:off x="1040043" y="1577515"/>
              <a:ext cx="0" cy="2569182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/>
          <p:cNvGrpSpPr/>
          <p:nvPr>
            <p:custDataLst>
              <p:tags r:id="rId5"/>
            </p:custDataLst>
          </p:nvPr>
        </p:nvGrpSpPr>
        <p:grpSpPr>
          <a:xfrm>
            <a:off x="3804173" y="1818732"/>
            <a:ext cx="1954272" cy="2857500"/>
            <a:chOff x="1040043" y="1399321"/>
            <a:chExt cx="1954272" cy="2857500"/>
          </a:xfrm>
        </p:grpSpPr>
        <p:grpSp>
          <p:nvGrpSpPr>
            <p:cNvPr id="52" name="组合 51"/>
            <p:cNvGrpSpPr/>
            <p:nvPr/>
          </p:nvGrpSpPr>
          <p:grpSpPr>
            <a:xfrm>
              <a:off x="1143290" y="1399321"/>
              <a:ext cx="1851025" cy="2857500"/>
              <a:chOff x="782562" y="3795715"/>
              <a:chExt cx="1851025" cy="2857500"/>
            </a:xfrm>
          </p:grpSpPr>
          <p:sp>
            <p:nvSpPr>
              <p:cNvPr id="54" name="文本框 53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82562" y="4881565"/>
                <a:ext cx="1851025" cy="1771650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支持需求点新增、修改、删除和查询。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当需求发生变化时，系统自动生成变更事件和版本快照，记录变更类型、版本号以及前后内容。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  <p:sp>
            <p:nvSpPr>
              <p:cNvPr id="55" name="文本框 54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82562" y="3795715"/>
                <a:ext cx="1680998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需求维护与版本记录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</p:grpSp>
        <p:cxnSp>
          <p:nvCxnSpPr>
            <p:cNvPr id="53" name="直接连接符 52"/>
            <p:cNvCxnSpPr/>
            <p:nvPr>
              <p:custDataLst>
                <p:tags r:id="rId8"/>
              </p:custDataLst>
            </p:nvPr>
          </p:nvCxnSpPr>
          <p:spPr>
            <a:xfrm flipV="1">
              <a:off x="1040043" y="1577515"/>
              <a:ext cx="0" cy="2569182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组合 57"/>
          <p:cNvGrpSpPr/>
          <p:nvPr>
            <p:custDataLst>
              <p:tags r:id="rId9"/>
            </p:custDataLst>
          </p:nvPr>
        </p:nvGrpSpPr>
        <p:grpSpPr>
          <a:xfrm>
            <a:off x="6464515" y="1818732"/>
            <a:ext cx="1954272" cy="3408680"/>
            <a:chOff x="1040043" y="1399321"/>
            <a:chExt cx="1954272" cy="3408680"/>
          </a:xfrm>
        </p:grpSpPr>
        <p:grpSp>
          <p:nvGrpSpPr>
            <p:cNvPr id="59" name="组合 58"/>
            <p:cNvGrpSpPr/>
            <p:nvPr/>
          </p:nvGrpSpPr>
          <p:grpSpPr>
            <a:xfrm>
              <a:off x="1143290" y="1399321"/>
              <a:ext cx="1851025" cy="3408680"/>
              <a:chOff x="782562" y="3795715"/>
              <a:chExt cx="1851025" cy="3408680"/>
            </a:xfrm>
          </p:grpSpPr>
          <p:sp>
            <p:nvSpPr>
              <p:cNvPr id="61" name="文本框 60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82562" y="4880930"/>
                <a:ext cx="1851025" cy="2323465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系统保存每条需求的来源文档、来源片段和来源位置。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基于 MySQL 中的文档、需求点和版本数据，展示需求来源、变更过程和版本演化关系。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  <p:sp>
            <p:nvSpPr>
              <p:cNvPr id="62" name="文本框 6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82562" y="3795715"/>
                <a:ext cx="1680998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defRPr/>
                </a:pP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来源证据与影响波及图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</p:grpSp>
        <p:cxnSp>
          <p:nvCxnSpPr>
            <p:cNvPr id="60" name="直接连接符 59"/>
            <p:cNvCxnSpPr/>
            <p:nvPr>
              <p:custDataLst>
                <p:tags r:id="rId12"/>
              </p:custDataLst>
            </p:nvPr>
          </p:nvCxnSpPr>
          <p:spPr>
            <a:xfrm flipV="1">
              <a:off x="1040043" y="1577515"/>
              <a:ext cx="0" cy="2569182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/>
          <p:cNvGrpSpPr/>
          <p:nvPr>
            <p:custDataLst>
              <p:tags r:id="rId13"/>
            </p:custDataLst>
          </p:nvPr>
        </p:nvGrpSpPr>
        <p:grpSpPr>
          <a:xfrm>
            <a:off x="9124857" y="1818732"/>
            <a:ext cx="1954272" cy="3235325"/>
            <a:chOff x="1040043" y="1399321"/>
            <a:chExt cx="1954272" cy="3235325"/>
          </a:xfrm>
        </p:grpSpPr>
        <p:grpSp>
          <p:nvGrpSpPr>
            <p:cNvPr id="66" name="组合 65"/>
            <p:cNvGrpSpPr/>
            <p:nvPr/>
          </p:nvGrpSpPr>
          <p:grpSpPr>
            <a:xfrm>
              <a:off x="1143290" y="1399321"/>
              <a:ext cx="1851025" cy="3235325"/>
              <a:chOff x="782562" y="3795715"/>
              <a:chExt cx="1851025" cy="3235325"/>
            </a:xfrm>
          </p:grpSpPr>
          <p:sp>
            <p:nvSpPr>
              <p:cNvPr id="68" name="文本框 67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82562" y="4881565"/>
                <a:ext cx="1851025" cy="2149475"/>
              </a:xfrm>
              <a:prstGeom prst="rect">
                <a:avLst/>
              </a:prstGeom>
              <a:noFill/>
            </p:spPr>
            <p:txBody>
              <a:bodyPr wrap="square" lIns="0" tIns="0" rIns="72000" bIns="72000">
                <a:noAutofit/>
              </a:bodyPr>
              <a:lstStyle/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以人工确认基准为参照，对比规则提取结果，计算 Precision、Recall、F1。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  <a:p>
                <a:pPr marR="0" lvl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系统生成 AI 评估报告，并支持导出最新变更说明文档。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  <p:sp>
            <p:nvSpPr>
              <p:cNvPr id="69" name="文本框 68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82562" y="3795715"/>
                <a:ext cx="1680998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defRPr/>
                </a:pPr>
                <a:r>
                  <a:rPr lang="en-US" altLang="zh-CN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AI</a:t>
                </a:r>
                <a:r>
                  <a: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评估报告与文档导出</a:t>
                </a:r>
                <a:endPara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</p:grpSp>
        <p:cxnSp>
          <p:nvCxnSpPr>
            <p:cNvPr id="67" name="直接连接符 66"/>
            <p:cNvCxnSpPr/>
            <p:nvPr>
              <p:custDataLst>
                <p:tags r:id="rId16"/>
              </p:custDataLst>
            </p:nvPr>
          </p:nvCxnSpPr>
          <p:spPr>
            <a:xfrm flipV="1">
              <a:off x="1040043" y="1577515"/>
              <a:ext cx="0" cy="2569182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03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系统设计与实现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核心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功能实现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17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09300" y="270510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4379976" y="1289304"/>
            <a:ext cx="0" cy="380642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977759" y="1616505"/>
            <a:ext cx="5420911" cy="1867406"/>
            <a:chOff x="977759" y="1616505"/>
            <a:chExt cx="5420911" cy="1867406"/>
          </a:xfrm>
        </p:grpSpPr>
        <p:sp>
          <p:nvSpPr>
            <p:cNvPr id="4" name="椭圆 3"/>
            <p:cNvSpPr/>
            <p:nvPr>
              <p:custDataLst>
                <p:tags r:id="rId3"/>
              </p:custDataLst>
            </p:nvPr>
          </p:nvSpPr>
          <p:spPr>
            <a:xfrm>
              <a:off x="4282334" y="1826521"/>
              <a:ext cx="195283" cy="195283"/>
            </a:xfrm>
            <a:prstGeom prst="ellipse">
              <a:avLst/>
            </a:prstGeom>
            <a:solidFill>
              <a:schemeClr val="bg2"/>
            </a:solidFill>
            <a:ln w="762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>
              <p:custDataLst>
                <p:tags r:id="rId4"/>
              </p:custDataLst>
            </p:nvPr>
          </p:nvSpPr>
          <p:spPr>
            <a:xfrm flipH="1">
              <a:off x="977759" y="2406951"/>
              <a:ext cx="2711187" cy="1076960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None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负责上传文件保存、文档文本解析和规则需求提取。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None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将需求点、来源证据、变更事件和版本记录写入数据库，形成需求管理主流程。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5"/>
              </p:custDataLst>
            </p:nvPr>
          </p:nvSpPr>
          <p:spPr>
            <a:xfrm flipH="1">
              <a:off x="4731517" y="1616505"/>
              <a:ext cx="1667153" cy="61531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文档解析与需求入库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6"/>
            </p:custDataLst>
          </p:nvPr>
        </p:nvGrpSpPr>
        <p:grpSpPr>
          <a:xfrm>
            <a:off x="977759" y="3492171"/>
            <a:ext cx="5420911" cy="1652141"/>
            <a:chOff x="977759" y="3607398"/>
            <a:chExt cx="5420911" cy="1652141"/>
          </a:xfrm>
        </p:grpSpPr>
        <p:grpSp>
          <p:nvGrpSpPr>
            <p:cNvPr id="9" name="组合 8"/>
            <p:cNvGrpSpPr/>
            <p:nvPr/>
          </p:nvGrpSpPr>
          <p:grpSpPr>
            <a:xfrm>
              <a:off x="977759" y="3817415"/>
              <a:ext cx="3499858" cy="1442124"/>
              <a:chOff x="977759" y="1826522"/>
              <a:chExt cx="3499858" cy="1442124"/>
            </a:xfrm>
          </p:grpSpPr>
          <p:sp>
            <p:nvSpPr>
              <p:cNvPr id="11" name="椭圆 10"/>
              <p:cNvSpPr/>
              <p:nvPr>
                <p:custDataLst>
                  <p:tags r:id="rId7"/>
                </p:custDataLst>
              </p:nvPr>
            </p:nvSpPr>
            <p:spPr>
              <a:xfrm>
                <a:off x="4282334" y="1826522"/>
                <a:ext cx="195283" cy="195283"/>
              </a:xfrm>
              <a:prstGeom prst="ellipse">
                <a:avLst/>
              </a:prstGeom>
              <a:solidFill>
                <a:schemeClr val="bg2"/>
              </a:solidFill>
              <a:ln w="762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977759" y="2406951"/>
                <a:ext cx="2711187" cy="8616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读取原始 docx 文档、来源证据和人工变更记录。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在文档末尾追加“当前变更说明”，生成最新变更说明版 docx 文件。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</p:grpSp>
        <p:sp>
          <p:nvSpPr>
            <p:cNvPr id="10" name="文本框 9"/>
            <p:cNvSpPr txBox="1"/>
            <p:nvPr>
              <p:custDataLst>
                <p:tags r:id="rId9"/>
              </p:custDataLst>
            </p:nvPr>
          </p:nvSpPr>
          <p:spPr>
            <a:xfrm flipH="1">
              <a:off x="4731517" y="3607398"/>
              <a:ext cx="1667153" cy="61531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最新变更文档导出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cxnSp>
        <p:nvCxnSpPr>
          <p:cNvPr id="14" name="直接连接符 13"/>
          <p:cNvCxnSpPr/>
          <p:nvPr>
            <p:custDataLst>
              <p:tags r:id="rId10"/>
            </p:custDataLst>
          </p:nvPr>
        </p:nvCxnSpPr>
        <p:spPr>
          <a:xfrm>
            <a:off x="7812024" y="2111909"/>
            <a:ext cx="0" cy="392164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>
            <p:custDataLst>
              <p:tags r:id="rId11"/>
            </p:custDataLst>
          </p:nvPr>
        </p:nvGrpSpPr>
        <p:grpSpPr>
          <a:xfrm flipH="1">
            <a:off x="5793330" y="2554338"/>
            <a:ext cx="5682174" cy="1652141"/>
            <a:chOff x="716496" y="1616505"/>
            <a:chExt cx="5682174" cy="1652141"/>
          </a:xfrm>
        </p:grpSpPr>
        <p:sp>
          <p:nvSpPr>
            <p:cNvPr id="19" name="椭圆 18"/>
            <p:cNvSpPr/>
            <p:nvPr>
              <p:custDataLst>
                <p:tags r:id="rId12"/>
              </p:custDataLst>
            </p:nvPr>
          </p:nvSpPr>
          <p:spPr>
            <a:xfrm>
              <a:off x="4282334" y="1826521"/>
              <a:ext cx="195283" cy="195283"/>
            </a:xfrm>
            <a:prstGeom prst="ellipse">
              <a:avLst/>
            </a:prstGeom>
            <a:solidFill>
              <a:schemeClr val="bg2"/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/>
            <p:cNvSpPr/>
            <p:nvPr>
              <p:custDataLst>
                <p:tags r:id="rId13"/>
              </p:custDataLst>
            </p:nvPr>
          </p:nvSpPr>
          <p:spPr>
            <a:xfrm>
              <a:off x="716496" y="1647049"/>
              <a:ext cx="3233712" cy="55422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CN" b="1" dirty="0">
                  <a:solidFill>
                    <a:schemeClr val="bg2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document_evaluation_service.py</a:t>
              </a:r>
              <a:endParaRPr lang="en-US" altLang="zh-CN" b="1" dirty="0">
                <a:solidFill>
                  <a:schemeClr val="bg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4"/>
              </p:custDataLst>
            </p:nvPr>
          </p:nvSpPr>
          <p:spPr>
            <a:xfrm flipH="1">
              <a:off x="977759" y="2406951"/>
              <a:ext cx="2711187" cy="861695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None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维护人工确认基准，对比系统提取结果与标准答案。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None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统计 TP、FP、FN，计算 Precision、Recall、F1，并生成 AI 评估报告。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5"/>
              </p:custDataLst>
            </p:nvPr>
          </p:nvSpPr>
          <p:spPr>
            <a:xfrm flipH="1">
              <a:off x="4731517" y="1616505"/>
              <a:ext cx="1667153" cy="61531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人工基准与评估计算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6"/>
            </p:custDataLst>
          </p:nvPr>
        </p:nvGrpSpPr>
        <p:grpSpPr>
          <a:xfrm flipH="1">
            <a:off x="5793330" y="4430003"/>
            <a:ext cx="5682174" cy="1867406"/>
            <a:chOff x="716496" y="3607398"/>
            <a:chExt cx="5682174" cy="1867406"/>
          </a:xfrm>
        </p:grpSpPr>
        <p:grpSp>
          <p:nvGrpSpPr>
            <p:cNvPr id="25" name="组合 24"/>
            <p:cNvGrpSpPr/>
            <p:nvPr/>
          </p:nvGrpSpPr>
          <p:grpSpPr>
            <a:xfrm>
              <a:off x="716496" y="3637942"/>
              <a:ext cx="3761121" cy="1836862"/>
              <a:chOff x="716496" y="1647049"/>
              <a:chExt cx="3761121" cy="1836862"/>
            </a:xfrm>
          </p:grpSpPr>
          <p:sp>
            <p:nvSpPr>
              <p:cNvPr id="29" name="椭圆 28"/>
              <p:cNvSpPr/>
              <p:nvPr>
                <p:custDataLst>
                  <p:tags r:id="rId17"/>
                </p:custDataLst>
              </p:nvPr>
            </p:nvSpPr>
            <p:spPr>
              <a:xfrm>
                <a:off x="4282334" y="1826522"/>
                <a:ext cx="195283" cy="195283"/>
              </a:xfrm>
              <a:prstGeom prst="ellipse">
                <a:avLst/>
              </a:prstGeom>
              <a:solidFill>
                <a:schemeClr val="bg2"/>
              </a:solidFill>
              <a:ln w="762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矩形: 圆角 2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16496" y="1647049"/>
                <a:ext cx="3233712" cy="554227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bg2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rPr>
                  <a:t>llm_client.py</a:t>
                </a:r>
                <a:endParaRPr lang="en-US" altLang="zh-CN" b="1" dirty="0">
                  <a:solidFill>
                    <a:schemeClr val="bg2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endParaRPr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19"/>
                </p:custDataLst>
              </p:nvPr>
            </p:nvSpPr>
            <p:spPr>
              <a:xfrm flipH="1">
                <a:off x="977759" y="2406951"/>
                <a:ext cx="2711187" cy="1076960"/>
              </a:xfrm>
              <a:prstGeom prst="rect">
                <a:avLst/>
              </a:prstGeom>
              <a:noFill/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统一封装大语言模型调用入口，支持文本生成和 JSON 结果解析。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2">
                      <a:lumMod val="60000"/>
                      <a:lumOff val="40000"/>
                    </a:schemeClr>
                  </a:buClr>
                  <a:buSzTx/>
                  <a:buNone/>
                  <a:defRPr/>
                </a:pPr>
                <a:r>
                  <a: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rPr>
                  <a:t>处理 API Key、模型地址、超时设置和异常提示，保证 AI 调用过程可控</a:t>
                </a:r>
                <a:endPara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endParaRPr>
              </a:p>
            </p:txBody>
          </p:sp>
        </p:grpSp>
        <p:sp>
          <p:nvSpPr>
            <p:cNvPr id="28" name="文本框 27"/>
            <p:cNvSpPr txBox="1"/>
            <p:nvPr>
              <p:custDataLst>
                <p:tags r:id="rId20"/>
              </p:custDataLst>
            </p:nvPr>
          </p:nvSpPr>
          <p:spPr>
            <a:xfrm flipH="1">
              <a:off x="4731517" y="3607398"/>
              <a:ext cx="1667153" cy="61531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大模型调用封装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03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系统设计与实现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核心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代码实现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sp>
        <p:nvSpPr>
          <p:cNvPr id="33" name="矩形: 圆角 19"/>
          <p:cNvSpPr/>
          <p:nvPr>
            <p:custDataLst>
              <p:tags r:id="rId21"/>
            </p:custDataLst>
          </p:nvPr>
        </p:nvSpPr>
        <p:spPr>
          <a:xfrm flipH="1">
            <a:off x="717042" y="1616507"/>
            <a:ext cx="3233712" cy="55422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bg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document_service.py</a:t>
            </a:r>
            <a:endParaRPr lang="en-US" altLang="zh-CN" b="1" dirty="0">
              <a:solidFill>
                <a:schemeClr val="bg2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34" name="矩形: 圆角 19"/>
          <p:cNvSpPr/>
          <p:nvPr>
            <p:custDataLst>
              <p:tags r:id="rId22"/>
            </p:custDataLst>
          </p:nvPr>
        </p:nvSpPr>
        <p:spPr>
          <a:xfrm flipH="1">
            <a:off x="716407" y="3491662"/>
            <a:ext cx="3233712" cy="55422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b="1" dirty="0">
                <a:solidFill>
                  <a:schemeClr val="bg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document_export_service.py</a:t>
            </a:r>
            <a:endParaRPr lang="en-US" altLang="zh-CN" b="1" dirty="0">
              <a:solidFill>
                <a:schemeClr val="bg2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pic>
        <p:nvPicPr>
          <p:cNvPr id="35" name="图片 34" descr="校徽(1)"/>
          <p:cNvPicPr>
            <a:picLocks noChangeAspect="1"/>
          </p:cNvPicPr>
          <p:nvPr/>
        </p:nvPicPr>
        <p:blipFill>
          <a:blip r:embed="rId23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7870" y="28003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  <p:bldLst>
      <p:bldP spid="33" grpId="0" animBg="1"/>
      <p:bldP spid="33" grpId="1" animBg="1"/>
      <p:bldP spid="34" grpId="0" animBg="1"/>
      <p:bldP spid="3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: 圆角 39"/>
          <p:cNvSpPr/>
          <p:nvPr>
            <p:custDataLst>
              <p:tags r:id="rId1"/>
            </p:custDataLst>
          </p:nvPr>
        </p:nvSpPr>
        <p:spPr>
          <a:xfrm>
            <a:off x="8757920" y="4126230"/>
            <a:ext cx="2349500" cy="56642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: 圆角 39"/>
          <p:cNvSpPr/>
          <p:nvPr>
            <p:custDataLst>
              <p:tags r:id="rId2"/>
            </p:custDataLst>
          </p:nvPr>
        </p:nvSpPr>
        <p:spPr>
          <a:xfrm>
            <a:off x="4923790" y="4126230"/>
            <a:ext cx="2349500" cy="56642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圆角 39"/>
          <p:cNvSpPr/>
          <p:nvPr>
            <p:custDataLst>
              <p:tags r:id="rId3"/>
            </p:custDataLst>
          </p:nvPr>
        </p:nvSpPr>
        <p:spPr>
          <a:xfrm>
            <a:off x="1089660" y="4126230"/>
            <a:ext cx="2349500" cy="56642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39"/>
          <p:cNvSpPr/>
          <p:nvPr>
            <p:custDataLst>
              <p:tags r:id="rId4"/>
            </p:custDataLst>
          </p:nvPr>
        </p:nvSpPr>
        <p:spPr>
          <a:xfrm>
            <a:off x="8752205" y="1688465"/>
            <a:ext cx="2349500" cy="56642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39"/>
          <p:cNvSpPr/>
          <p:nvPr>
            <p:custDataLst>
              <p:tags r:id="rId5"/>
            </p:custDataLst>
          </p:nvPr>
        </p:nvSpPr>
        <p:spPr>
          <a:xfrm>
            <a:off x="4923790" y="1688465"/>
            <a:ext cx="2349500" cy="56642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39"/>
          <p:cNvSpPr/>
          <p:nvPr>
            <p:custDataLst>
              <p:tags r:id="rId6"/>
            </p:custDataLst>
          </p:nvPr>
        </p:nvSpPr>
        <p:spPr>
          <a:xfrm>
            <a:off x="1090295" y="1688465"/>
            <a:ext cx="2349500" cy="56642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25450" y="107315"/>
            <a:ext cx="5113655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04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系统测试与实验分析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功能测试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 flipH="1">
            <a:off x="1089660" y="2470785"/>
            <a:ext cx="2350135" cy="96901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成功支持docx</a:t>
            </a:r>
            <a:r>
              <a:rPr kumimoji="0" lang="zh-CN" altLang="en-US" sz="1400" b="0" i="0" u="none" strike="noStrike" kern="1200" cap="none" spc="0" normalizeH="0" baseline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类型需求文档上传，并完成文件保存、文本解析和文档记录生成</a:t>
            </a:r>
            <a:endParaRPr kumimoji="0" lang="zh-CN" altLang="en-US" sz="1400" b="0" i="0" u="none" strike="noStrike" kern="1200" cap="none" spc="0" normalizeH="0" baseline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8"/>
            </p:custDataLst>
          </p:nvPr>
        </p:nvSpPr>
        <p:spPr>
          <a:xfrm flipH="1">
            <a:off x="1337945" y="1746250"/>
            <a:ext cx="1854200" cy="3841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文档上传与解析</a:t>
            </a:r>
            <a:endParaRPr lang="zh-CN" altLang="en-US" sz="20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9"/>
            </p:custDataLst>
          </p:nvPr>
        </p:nvSpPr>
        <p:spPr>
          <a:xfrm flipH="1">
            <a:off x="4923790" y="2470785"/>
            <a:ext cx="2350135" cy="129222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成功基于编号、章节、关键词和文本结构规则识别需求点，并保存需求标题、描述和来源证据</a:t>
            </a:r>
            <a:endParaRPr kumimoji="0" lang="zh-CN" altLang="en-US" sz="1400" b="0" i="0" u="none" strike="noStrike" kern="1200" cap="none" spc="0" normalizeH="0" baseline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 flipH="1">
            <a:off x="5328920" y="1746250"/>
            <a:ext cx="1534160" cy="3841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规则需求提取</a:t>
            </a:r>
            <a:endParaRPr lang="zh-CN" altLang="en-US" sz="20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1"/>
            </p:custDataLst>
          </p:nvPr>
        </p:nvSpPr>
        <p:spPr>
          <a:xfrm flipH="1">
            <a:off x="8757920" y="2470785"/>
            <a:ext cx="2350135" cy="96901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成功提供完整的需求点管理功能，并支持新增、编辑、删除、查询和状态维护</a:t>
            </a:r>
            <a:endParaRPr kumimoji="0" lang="zh-CN" altLang="en-US" sz="1400" b="0" i="0" u="none" strike="noStrike" kern="1200" cap="none" spc="0" normalizeH="0" baseline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2"/>
            </p:custDataLst>
          </p:nvPr>
        </p:nvSpPr>
        <p:spPr>
          <a:xfrm flipH="1">
            <a:off x="9261575" y="1746108"/>
            <a:ext cx="1340286" cy="3841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需求维护</a:t>
            </a:r>
            <a:endParaRPr lang="zh-CN" altLang="en-US" sz="20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3"/>
            </p:custDataLst>
          </p:nvPr>
        </p:nvSpPr>
        <p:spPr>
          <a:xfrm flipH="1">
            <a:off x="1089660" y="4942205"/>
            <a:ext cx="2350135" cy="129222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成功展示需求在新增、修改、删除过程中形成的版本记录，并支持查看历史快照和变更内容</a:t>
            </a:r>
            <a:endParaRPr kumimoji="0" lang="zh-CN" altLang="en-US" sz="1400" b="0" i="0" u="none" strike="noStrike" kern="1200" cap="none" spc="0" normalizeH="0" baseline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4"/>
            </p:custDataLst>
          </p:nvPr>
        </p:nvSpPr>
        <p:spPr>
          <a:xfrm flipH="1">
            <a:off x="1593315" y="4217528"/>
            <a:ext cx="1340286" cy="3841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版本链查看</a:t>
            </a:r>
            <a:endParaRPr lang="zh-CN" altLang="en-US" sz="20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5"/>
            </p:custDataLst>
          </p:nvPr>
        </p:nvSpPr>
        <p:spPr>
          <a:xfrm flipH="1">
            <a:off x="4923790" y="4942205"/>
            <a:ext cx="2350135" cy="969010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成功基于 MySQL 中的文档、需求点和版本数据生成图谱，展示需求来源与版本演化关系</a:t>
            </a:r>
            <a:endParaRPr kumimoji="0" lang="zh-CN" altLang="en-US" sz="1400" b="0" i="0" u="none" strike="noStrike" kern="1200" cap="none" spc="0" normalizeH="0" baseline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16"/>
            </p:custDataLst>
          </p:nvPr>
        </p:nvSpPr>
        <p:spPr>
          <a:xfrm flipH="1">
            <a:off x="5427445" y="4217528"/>
            <a:ext cx="1340286" cy="3841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影响波及图</a:t>
            </a:r>
            <a:endParaRPr lang="zh-CN" altLang="en-US" sz="20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7"/>
            </p:custDataLst>
          </p:nvPr>
        </p:nvSpPr>
        <p:spPr>
          <a:xfrm flipH="1">
            <a:off x="8757920" y="4942205"/>
            <a:ext cx="2350135" cy="129222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成功对比规则提取结果与人工确认基准，生成 TP、FP、FN、Precision、Recall、F1 及差异明细。</a:t>
            </a:r>
            <a:endParaRPr kumimoji="0" lang="zh-CN" altLang="en-US" sz="1400" b="0" i="0" u="none" strike="noStrike" kern="1200" cap="none" spc="0" normalizeH="0" baseline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18"/>
            </p:custDataLst>
          </p:nvPr>
        </p:nvSpPr>
        <p:spPr>
          <a:xfrm flipH="1">
            <a:off x="9261575" y="4217528"/>
            <a:ext cx="1340286" cy="3841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AI</a:t>
            </a:r>
            <a:r>
              <a: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rPr>
              <a:t>评估报告</a:t>
            </a:r>
            <a:endParaRPr lang="zh-CN" altLang="en-US" sz="2000" b="1" dirty="0">
              <a:solidFill>
                <a:schemeClr val="accent1"/>
              </a:solidFill>
              <a:latin typeface="思源宋体 Medium" panose="02020500000000000000" pitchFamily="18" charset="-122"/>
              <a:ea typeface="思源宋体 Medium" panose="02020500000000000000" pitchFamily="18" charset="-122"/>
              <a:cs typeface="阿里巴巴普惠体 B" panose="00020600040101010101" pitchFamily="18" charset="-122"/>
            </a:endParaRPr>
          </a:p>
        </p:txBody>
      </p:sp>
      <p:pic>
        <p:nvPicPr>
          <p:cNvPr id="75" name="图片 74" descr="校徽(1)"/>
          <p:cNvPicPr>
            <a:picLocks noChangeAspect="1"/>
          </p:cNvPicPr>
          <p:nvPr/>
        </p:nvPicPr>
        <p:blipFill>
          <a:blip r:embed="rId19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7870" y="26860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1166555" y="4293179"/>
            <a:ext cx="3368869" cy="1741237"/>
            <a:chOff x="1166555" y="4293179"/>
            <a:chExt cx="3368869" cy="1741237"/>
          </a:xfrm>
        </p:grpSpPr>
        <p:sp>
          <p:nvSpPr>
            <p:cNvPr id="3" name="椭圆 2"/>
            <p:cNvSpPr/>
            <p:nvPr/>
          </p:nvSpPr>
          <p:spPr>
            <a:xfrm>
              <a:off x="1166555" y="4293179"/>
              <a:ext cx="1741237" cy="174123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2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03</a:t>
              </a:r>
              <a:endParaRPr lang="zh-CN" altLang="en-US" sz="2400" b="1" dirty="0">
                <a:solidFill>
                  <a:schemeClr val="bg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cxnSp>
          <p:nvCxnSpPr>
            <p:cNvPr id="4" name="直接连接符 3"/>
            <p:cNvCxnSpPr/>
            <p:nvPr>
              <p:custDataLst>
                <p:tags r:id="rId2"/>
              </p:custDataLst>
            </p:nvPr>
          </p:nvCxnSpPr>
          <p:spPr>
            <a:xfrm flipV="1">
              <a:off x="2907792" y="5171615"/>
              <a:ext cx="1627632" cy="1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>
            <p:custDataLst>
              <p:tags r:id="rId3"/>
            </p:custDataLst>
          </p:nvPr>
        </p:nvGrpSpPr>
        <p:grpSpPr>
          <a:xfrm>
            <a:off x="1166555" y="1423532"/>
            <a:ext cx="3368869" cy="1741237"/>
            <a:chOff x="1166555" y="1423532"/>
            <a:chExt cx="3368869" cy="1741237"/>
          </a:xfrm>
        </p:grpSpPr>
        <p:sp>
          <p:nvSpPr>
            <p:cNvPr id="6" name="椭圆 5"/>
            <p:cNvSpPr/>
            <p:nvPr/>
          </p:nvSpPr>
          <p:spPr>
            <a:xfrm>
              <a:off x="1166555" y="1423532"/>
              <a:ext cx="1741237" cy="174123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2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01</a:t>
              </a:r>
              <a:endParaRPr lang="zh-CN" altLang="en-US" sz="2400" b="1" dirty="0">
                <a:solidFill>
                  <a:schemeClr val="bg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cxnSp>
          <p:nvCxnSpPr>
            <p:cNvPr id="7" name="直接连接符 6"/>
            <p:cNvCxnSpPr>
              <a:stCxn id="6" idx="6"/>
            </p:cNvCxnSpPr>
            <p:nvPr>
              <p:custDataLst>
                <p:tags r:id="rId4"/>
              </p:custDataLst>
            </p:nvPr>
          </p:nvCxnSpPr>
          <p:spPr>
            <a:xfrm flipV="1">
              <a:off x="2907792" y="2294150"/>
              <a:ext cx="1627632" cy="1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>
            <p:custDataLst>
              <p:tags r:id="rId5"/>
            </p:custDataLst>
          </p:nvPr>
        </p:nvGrpSpPr>
        <p:grpSpPr>
          <a:xfrm>
            <a:off x="1166555" y="2858356"/>
            <a:ext cx="3370699" cy="1741237"/>
            <a:chOff x="1166555" y="2858356"/>
            <a:chExt cx="3370699" cy="1741237"/>
          </a:xfrm>
        </p:grpSpPr>
        <p:sp>
          <p:nvSpPr>
            <p:cNvPr id="9" name="椭圆 8"/>
            <p:cNvSpPr/>
            <p:nvPr/>
          </p:nvSpPr>
          <p:spPr>
            <a:xfrm>
              <a:off x="1166555" y="2858356"/>
              <a:ext cx="1741237" cy="174123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2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02</a:t>
              </a:r>
              <a:endParaRPr lang="zh-CN" altLang="en-US" sz="2400" b="1" dirty="0">
                <a:solidFill>
                  <a:schemeClr val="bg2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6"/>
              </p:custDataLst>
            </p:nvPr>
          </p:nvCxnSpPr>
          <p:spPr>
            <a:xfrm flipV="1">
              <a:off x="2909622" y="3728972"/>
              <a:ext cx="1627632" cy="1"/>
            </a:xfrm>
            <a:prstGeom prst="line">
              <a:avLst/>
            </a:prstGeom>
            <a:ln>
              <a:solidFill>
                <a:schemeClr val="accent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>
            <a:off x="4974404" y="1366389"/>
            <a:ext cx="5741581" cy="1236885"/>
            <a:chOff x="5093277" y="1434420"/>
            <a:chExt cx="5741581" cy="1236885"/>
          </a:xfrm>
        </p:grpSpPr>
        <p:sp>
          <p:nvSpPr>
            <p:cNvPr id="12" name="文本框 11"/>
            <p:cNvSpPr txBox="1"/>
            <p:nvPr>
              <p:custDataLst>
                <p:tags r:id="rId8"/>
              </p:custDataLst>
            </p:nvPr>
          </p:nvSpPr>
          <p:spPr>
            <a:xfrm flipH="1">
              <a:off x="5093277" y="1434420"/>
              <a:ext cx="3717641" cy="5226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R="0" indent="0" fontAlgn="auto">
                <a:lnSpc>
                  <a:spcPct val="17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实验设计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9"/>
              </p:custDataLst>
            </p:nvPr>
          </p:nvSpPr>
          <p:spPr>
            <a:xfrm flipH="1">
              <a:off x="5093277" y="2025510"/>
              <a:ext cx="5741581" cy="645795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选取多份需求文档作为测试对象，以规则提取结果为预测集合、人工确认基准为标准集合，统计 TP、FP、FN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0"/>
            </p:custDataLst>
          </p:nvPr>
        </p:nvGrpSpPr>
        <p:grpSpPr>
          <a:xfrm>
            <a:off x="4973769" y="4781390"/>
            <a:ext cx="5741581" cy="1236885"/>
            <a:chOff x="5093277" y="1434420"/>
            <a:chExt cx="5741581" cy="1236885"/>
          </a:xfrm>
        </p:grpSpPr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 flipH="1">
              <a:off x="5093277" y="1434420"/>
              <a:ext cx="3717641" cy="5226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R="0" indent="0" fontAlgn="auto">
                <a:lnSpc>
                  <a:spcPct val="17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2000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分析结论</a:t>
              </a:r>
              <a:endParaRPr lang="zh-CN" altLang="en-US" sz="2000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2"/>
              </p:custDataLst>
            </p:nvPr>
          </p:nvSpPr>
          <p:spPr>
            <a:xfrm flipH="1">
              <a:off x="5093277" y="2025510"/>
              <a:ext cx="5741581" cy="645795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实验结果表明，系统对结构清晰、编号明确的需求文档具有较好的提取效果，但对复杂表述和隐含需求仍存在漏提、多提情况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3"/>
            </p:custDataLst>
          </p:nvPr>
        </p:nvGrpSpPr>
        <p:grpSpPr>
          <a:xfrm>
            <a:off x="4637839" y="2967442"/>
            <a:ext cx="6387606" cy="1523067"/>
            <a:chOff x="4637839" y="2967442"/>
            <a:chExt cx="6387606" cy="1523067"/>
          </a:xfrm>
        </p:grpSpPr>
        <p:grpSp>
          <p:nvGrpSpPr>
            <p:cNvPr id="22" name="组合 21"/>
            <p:cNvGrpSpPr/>
            <p:nvPr/>
          </p:nvGrpSpPr>
          <p:grpSpPr>
            <a:xfrm>
              <a:off x="4637839" y="2967442"/>
              <a:ext cx="6387606" cy="1523065"/>
              <a:chOff x="4637839" y="2858356"/>
              <a:chExt cx="6387606" cy="1523065"/>
            </a:xfrm>
          </p:grpSpPr>
          <p:sp>
            <p:nvSpPr>
              <p:cNvPr id="24" name="矩形 23"/>
              <p:cNvSpPr/>
              <p:nvPr>
                <p:custDataLst>
                  <p:tags r:id="rId14"/>
                </p:custDataLst>
              </p:nvPr>
            </p:nvSpPr>
            <p:spPr>
              <a:xfrm>
                <a:off x="4637839" y="2858356"/>
                <a:ext cx="6387606" cy="15230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4974404" y="2956980"/>
                <a:ext cx="5741581" cy="1245153"/>
                <a:chOff x="5093276" y="1398720"/>
                <a:chExt cx="5741581" cy="1245153"/>
              </a:xfrm>
            </p:grpSpPr>
            <p:sp>
              <p:nvSpPr>
                <p:cNvPr id="28" name="文本框 27"/>
                <p:cNvSpPr txBox="1"/>
                <p:nvPr>
                  <p:custDataLst>
                    <p:tags r:id="rId15"/>
                  </p:custDataLst>
                </p:nvPr>
              </p:nvSpPr>
              <p:spPr>
                <a:xfrm flipH="1">
                  <a:off x="5093276" y="1398720"/>
                  <a:ext cx="3717641" cy="5391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>
                    <a:lnSpc>
                      <a:spcPct val="170000"/>
                    </a:lnSpc>
                    <a:spcBef>
                      <a:spcPct val="0"/>
                    </a:spcBef>
                    <a:defRPr/>
                  </a:pPr>
                  <a:r>
                    <a:rPr lang="zh-CN" altLang="en-US" sz="2000" b="1" dirty="0">
                      <a:solidFill>
                        <a:schemeClr val="accent1"/>
                      </a:solidFill>
                      <a:latin typeface="思源宋体 Medium" panose="02020500000000000000" pitchFamily="18" charset="-122"/>
                      <a:ea typeface="思源宋体 Medium" panose="02020500000000000000" pitchFamily="18" charset="-122"/>
                      <a:cs typeface="阿里巴巴普惠体 B" panose="00020600040101010101" pitchFamily="18" charset="-122"/>
                    </a:rPr>
                    <a:t>核心指标</a:t>
                  </a:r>
                  <a:endParaRPr lang="zh-CN" altLang="en-US" sz="2000" b="1" dirty="0">
                    <a:solidFill>
                      <a:schemeClr val="accent1"/>
                    </a:solidFill>
                    <a:latin typeface="思源宋体 Medium" panose="02020500000000000000" pitchFamily="18" charset="-122"/>
                    <a:ea typeface="思源宋体 Medium" panose="02020500000000000000" pitchFamily="18" charset="-122"/>
                    <a:cs typeface="阿里巴巴普惠体 B" panose="00020600040101010101" pitchFamily="18" charset="-122"/>
                  </a:endParaRPr>
                </a:p>
              </p:txBody>
            </p:sp>
            <p:sp>
              <p:nvSpPr>
                <p:cNvPr id="29" name="文本框 28"/>
                <p:cNvSpPr txBox="1"/>
                <p:nvPr>
                  <p:custDataLst>
                    <p:tags r:id="rId16"/>
                  </p:custDataLst>
                </p:nvPr>
              </p:nvSpPr>
              <p:spPr>
                <a:xfrm flipH="1">
                  <a:off x="5093276" y="1998078"/>
                  <a:ext cx="5741581" cy="64579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tx2">
                        <a:lumMod val="60000"/>
                        <a:lumOff val="40000"/>
                      </a:schemeClr>
                    </a:buClr>
                    <a:buSzTx/>
                    <a:buFontTx/>
                    <a:defRPr/>
                  </a:pPr>
                  <a:r>
                    <a:rPr lang="zh-CN" altLang="en-US" sz="1400">
                      <a:solidFill>
                        <a:srgbClr val="4B5563"/>
                      </a:solidFill>
                      <a:latin typeface="Noto Sans SC" panose="020B0200000000000000" charset="-122"/>
                      <a:ea typeface="Noto Sans SC" panose="020B0200000000000000" charset="-122"/>
                      <a:cs typeface="Noto Sans SC" panose="020B0200000000000000" charset="-122"/>
                    </a:rPr>
                    <a:t>通过 Precision、Recall 和 F1 分数，从提取准确性、需求覆盖程度和综合效果三个角度评价系统表现。</a:t>
                  </a:r>
                  <a:endParaRPr lang="zh-CN" altLang="en-US" sz="1400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endParaRPr>
                </a:p>
              </p:txBody>
            </p:sp>
          </p:grpSp>
        </p:grpSp>
        <p:sp>
          <p:nvSpPr>
            <p:cNvPr id="23" name="矩形 22"/>
            <p:cNvSpPr/>
            <p:nvPr>
              <p:custDataLst>
                <p:tags r:id="rId17"/>
              </p:custDataLst>
            </p:nvPr>
          </p:nvSpPr>
          <p:spPr>
            <a:xfrm rot="16200000" flipH="1">
              <a:off x="3912882" y="3692400"/>
              <a:ext cx="1523067" cy="731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25450" y="107315"/>
            <a:ext cx="524129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04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系统测试与实验分析</a:t>
            </a:r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—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指标实验与结果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  <a:sym typeface="+mn-ea"/>
              </a:rPr>
              <a:t>分析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pic>
        <p:nvPicPr>
          <p:cNvPr id="31" name="图片 30" descr="校徽(1)"/>
          <p:cNvPicPr>
            <a:picLocks noChangeAspect="1"/>
          </p:cNvPicPr>
          <p:nvPr/>
        </p:nvPicPr>
        <p:blipFill>
          <a:blip r:embed="rId18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88345" y="252730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1" y="0"/>
            <a:ext cx="12192001" cy="759684"/>
            <a:chOff x="-1" y="172828"/>
            <a:chExt cx="12192001" cy="759684"/>
          </a:xfrm>
        </p:grpSpPr>
        <p:sp>
          <p:nvSpPr>
            <p:cNvPr id="21" name="矩形 20"/>
            <p:cNvSpPr/>
            <p:nvPr/>
          </p:nvSpPr>
          <p:spPr>
            <a:xfrm flipH="1">
              <a:off x="2211572" y="215664"/>
              <a:ext cx="9980428" cy="369332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 flipV="1">
              <a:off x="-1" y="172828"/>
              <a:ext cx="12192001" cy="759684"/>
            </a:xfrm>
            <a:custGeom>
              <a:avLst/>
              <a:gdLst>
                <a:gd name="connsiteX0" fmla="*/ 0 w 12192001"/>
                <a:gd name="connsiteY0" fmla="*/ 758228 h 758228"/>
                <a:gd name="connsiteX1" fmla="*/ 12192001 w 12192001"/>
                <a:gd name="connsiteY1" fmla="*/ 758228 h 758228"/>
                <a:gd name="connsiteX2" fmla="*/ 12192001 w 12192001"/>
                <a:gd name="connsiteY2" fmla="*/ 559704 h 758228"/>
                <a:gd name="connsiteX3" fmla="*/ 9797756 w 12192001"/>
                <a:gd name="connsiteY3" fmla="*/ 559704 h 758228"/>
                <a:gd name="connsiteX4" fmla="*/ 4666650 w 12192001"/>
                <a:gd name="connsiteY4" fmla="*/ 559704 h 758228"/>
                <a:gd name="connsiteX5" fmla="*/ 3915045 w 12192001"/>
                <a:gd name="connsiteY5" fmla="*/ 137128 h 758228"/>
                <a:gd name="connsiteX6" fmla="*/ 3616468 w 12192001"/>
                <a:gd name="connsiteY6" fmla="*/ 0 h 758228"/>
                <a:gd name="connsiteX7" fmla="*/ 0 w 12192001"/>
                <a:gd name="connsiteY7" fmla="*/ 0 h 758228"/>
                <a:gd name="connsiteX0-1" fmla="*/ 0 w 12192001"/>
                <a:gd name="connsiteY0-2" fmla="*/ 758285 h 758285"/>
                <a:gd name="connsiteX1-3" fmla="*/ 12192001 w 12192001"/>
                <a:gd name="connsiteY1-4" fmla="*/ 758285 h 758285"/>
                <a:gd name="connsiteX2-5" fmla="*/ 12192001 w 12192001"/>
                <a:gd name="connsiteY2-6" fmla="*/ 559761 h 758285"/>
                <a:gd name="connsiteX3-7" fmla="*/ 9797756 w 12192001"/>
                <a:gd name="connsiteY3-8" fmla="*/ 559761 h 758285"/>
                <a:gd name="connsiteX4-9" fmla="*/ 4666650 w 12192001"/>
                <a:gd name="connsiteY4-10" fmla="*/ 559761 h 758285"/>
                <a:gd name="connsiteX5-11" fmla="*/ 3984895 w 12192001"/>
                <a:gd name="connsiteY5-12" fmla="*/ 92735 h 758285"/>
                <a:gd name="connsiteX6-13" fmla="*/ 3616468 w 12192001"/>
                <a:gd name="connsiteY6-14" fmla="*/ 57 h 758285"/>
                <a:gd name="connsiteX7-15" fmla="*/ 0 w 12192001"/>
                <a:gd name="connsiteY7-16" fmla="*/ 57 h 758285"/>
                <a:gd name="connsiteX8" fmla="*/ 0 w 12192001"/>
                <a:gd name="connsiteY8" fmla="*/ 758285 h 758285"/>
                <a:gd name="connsiteX0-17" fmla="*/ 0 w 12192001"/>
                <a:gd name="connsiteY0-18" fmla="*/ 759569 h 759569"/>
                <a:gd name="connsiteX1-19" fmla="*/ 12192001 w 12192001"/>
                <a:gd name="connsiteY1-20" fmla="*/ 759569 h 759569"/>
                <a:gd name="connsiteX2-21" fmla="*/ 12192001 w 12192001"/>
                <a:gd name="connsiteY2-22" fmla="*/ 561045 h 759569"/>
                <a:gd name="connsiteX3-23" fmla="*/ 9797756 w 12192001"/>
                <a:gd name="connsiteY3-24" fmla="*/ 561045 h 759569"/>
                <a:gd name="connsiteX4-25" fmla="*/ 4666650 w 12192001"/>
                <a:gd name="connsiteY4-26" fmla="*/ 561045 h 759569"/>
                <a:gd name="connsiteX5-27" fmla="*/ 4029345 w 12192001"/>
                <a:gd name="connsiteY5-28" fmla="*/ 81319 h 759569"/>
                <a:gd name="connsiteX6-29" fmla="*/ 3616468 w 12192001"/>
                <a:gd name="connsiteY6-30" fmla="*/ 1341 h 759569"/>
                <a:gd name="connsiteX7-31" fmla="*/ 0 w 12192001"/>
                <a:gd name="connsiteY7-32" fmla="*/ 1341 h 759569"/>
                <a:gd name="connsiteX8-33" fmla="*/ 0 w 12192001"/>
                <a:gd name="connsiteY8-34" fmla="*/ 759569 h 759569"/>
                <a:gd name="connsiteX0-35" fmla="*/ 0 w 12192001"/>
                <a:gd name="connsiteY0-36" fmla="*/ 758302 h 758302"/>
                <a:gd name="connsiteX1-37" fmla="*/ 12192001 w 12192001"/>
                <a:gd name="connsiteY1-38" fmla="*/ 758302 h 758302"/>
                <a:gd name="connsiteX2-39" fmla="*/ 12192001 w 12192001"/>
                <a:gd name="connsiteY2-40" fmla="*/ 559778 h 758302"/>
                <a:gd name="connsiteX3-41" fmla="*/ 9797756 w 12192001"/>
                <a:gd name="connsiteY3-42" fmla="*/ 559778 h 758302"/>
                <a:gd name="connsiteX4-43" fmla="*/ 4666650 w 12192001"/>
                <a:gd name="connsiteY4-44" fmla="*/ 559778 h 758302"/>
                <a:gd name="connsiteX5-45" fmla="*/ 4029345 w 12192001"/>
                <a:gd name="connsiteY5-46" fmla="*/ 80052 h 758302"/>
                <a:gd name="connsiteX6-47" fmla="*/ 3616468 w 12192001"/>
                <a:gd name="connsiteY6-48" fmla="*/ 74 h 758302"/>
                <a:gd name="connsiteX7-49" fmla="*/ 0 w 12192001"/>
                <a:gd name="connsiteY7-50" fmla="*/ 74 h 758302"/>
                <a:gd name="connsiteX8-51" fmla="*/ 0 w 12192001"/>
                <a:gd name="connsiteY8-52" fmla="*/ 758302 h 758302"/>
                <a:gd name="connsiteX0-53" fmla="*/ 0 w 12192001"/>
                <a:gd name="connsiteY0-54" fmla="*/ 758302 h 758302"/>
                <a:gd name="connsiteX1-55" fmla="*/ 12192001 w 12192001"/>
                <a:gd name="connsiteY1-56" fmla="*/ 758302 h 758302"/>
                <a:gd name="connsiteX2-57" fmla="*/ 12192001 w 12192001"/>
                <a:gd name="connsiteY2-58" fmla="*/ 559778 h 758302"/>
                <a:gd name="connsiteX3-59" fmla="*/ 9797756 w 12192001"/>
                <a:gd name="connsiteY3-60" fmla="*/ 559778 h 758302"/>
                <a:gd name="connsiteX4-61" fmla="*/ 4666650 w 12192001"/>
                <a:gd name="connsiteY4-62" fmla="*/ 559778 h 758302"/>
                <a:gd name="connsiteX5-63" fmla="*/ 4029345 w 12192001"/>
                <a:gd name="connsiteY5-64" fmla="*/ 80052 h 758302"/>
                <a:gd name="connsiteX6-65" fmla="*/ 3616468 w 12192001"/>
                <a:gd name="connsiteY6-66" fmla="*/ 74 h 758302"/>
                <a:gd name="connsiteX7-67" fmla="*/ 0 w 12192001"/>
                <a:gd name="connsiteY7-68" fmla="*/ 74 h 758302"/>
                <a:gd name="connsiteX8-69" fmla="*/ 0 w 12192001"/>
                <a:gd name="connsiteY8-70" fmla="*/ 758302 h 758302"/>
                <a:gd name="connsiteX0-71" fmla="*/ 0 w 12192001"/>
                <a:gd name="connsiteY0-72" fmla="*/ 759684 h 759684"/>
                <a:gd name="connsiteX1-73" fmla="*/ 12192001 w 12192001"/>
                <a:gd name="connsiteY1-74" fmla="*/ 759684 h 759684"/>
                <a:gd name="connsiteX2-75" fmla="*/ 12192001 w 12192001"/>
                <a:gd name="connsiteY2-76" fmla="*/ 561160 h 759684"/>
                <a:gd name="connsiteX3-77" fmla="*/ 9797756 w 12192001"/>
                <a:gd name="connsiteY3-78" fmla="*/ 561160 h 759684"/>
                <a:gd name="connsiteX4-79" fmla="*/ 4666650 w 12192001"/>
                <a:gd name="connsiteY4-80" fmla="*/ 561160 h 759684"/>
                <a:gd name="connsiteX5-81" fmla="*/ 4029345 w 12192001"/>
                <a:gd name="connsiteY5-82" fmla="*/ 81434 h 759684"/>
                <a:gd name="connsiteX6-83" fmla="*/ 3616468 w 12192001"/>
                <a:gd name="connsiteY6-84" fmla="*/ 1456 h 759684"/>
                <a:gd name="connsiteX7-85" fmla="*/ 0 w 12192001"/>
                <a:gd name="connsiteY7-86" fmla="*/ 1456 h 759684"/>
                <a:gd name="connsiteX8-87" fmla="*/ 0 w 12192001"/>
                <a:gd name="connsiteY8-88" fmla="*/ 759684 h 759684"/>
                <a:gd name="connsiteX0-89" fmla="*/ 0 w 12192001"/>
                <a:gd name="connsiteY0-90" fmla="*/ 759684 h 759684"/>
                <a:gd name="connsiteX1-91" fmla="*/ 12192001 w 12192001"/>
                <a:gd name="connsiteY1-92" fmla="*/ 759684 h 759684"/>
                <a:gd name="connsiteX2-93" fmla="*/ 12192001 w 12192001"/>
                <a:gd name="connsiteY2-94" fmla="*/ 561160 h 759684"/>
                <a:gd name="connsiteX3-95" fmla="*/ 9797756 w 12192001"/>
                <a:gd name="connsiteY3-96" fmla="*/ 561160 h 759684"/>
                <a:gd name="connsiteX4-97" fmla="*/ 4666650 w 12192001"/>
                <a:gd name="connsiteY4-98" fmla="*/ 561160 h 759684"/>
                <a:gd name="connsiteX5-99" fmla="*/ 4029345 w 12192001"/>
                <a:gd name="connsiteY5-100" fmla="*/ 81434 h 759684"/>
                <a:gd name="connsiteX6-101" fmla="*/ 3616468 w 12192001"/>
                <a:gd name="connsiteY6-102" fmla="*/ 1456 h 759684"/>
                <a:gd name="connsiteX7-103" fmla="*/ 0 w 12192001"/>
                <a:gd name="connsiteY7-104" fmla="*/ 1456 h 759684"/>
                <a:gd name="connsiteX8-105" fmla="*/ 0 w 12192001"/>
                <a:gd name="connsiteY8-106" fmla="*/ 759684 h 7596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33" y="connsiteY8-34"/>
                </a:cxn>
              </a:cxnLst>
              <a:rect l="l" t="t" r="r" b="b"/>
              <a:pathLst>
                <a:path w="12192001" h="759684">
                  <a:moveTo>
                    <a:pt x="0" y="759684"/>
                  </a:moveTo>
                  <a:lnTo>
                    <a:pt x="12192001" y="759684"/>
                  </a:lnTo>
                  <a:lnTo>
                    <a:pt x="12192001" y="561160"/>
                  </a:lnTo>
                  <a:lnTo>
                    <a:pt x="9797756" y="561160"/>
                  </a:lnTo>
                  <a:lnTo>
                    <a:pt x="4666650" y="561160"/>
                  </a:lnTo>
                  <a:cubicBezTo>
                    <a:pt x="4444166" y="395599"/>
                    <a:pt x="4169159" y="180375"/>
                    <a:pt x="4029345" y="81434"/>
                  </a:cubicBezTo>
                  <a:cubicBezTo>
                    <a:pt x="3889531" y="-17507"/>
                    <a:pt x="3697740" y="1456"/>
                    <a:pt x="3616468" y="1456"/>
                  </a:cubicBezTo>
                  <a:lnTo>
                    <a:pt x="0" y="1456"/>
                  </a:lnTo>
                  <a:lnTo>
                    <a:pt x="0" y="759684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25450" y="107315"/>
            <a:ext cx="319532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05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总结</a:t>
            </a:r>
            <a:r>
              <a:rPr lang="zh-CN" altLang="en-US" sz="2000" dirty="0">
                <a:solidFill>
                  <a:schemeClr val="accent4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R" panose="00020600040101010101" pitchFamily="18" charset="-122"/>
              </a:rPr>
              <a:t>与展望</a:t>
            </a:r>
            <a:endParaRPr lang="zh-CN" altLang="en-US" sz="2000" dirty="0">
              <a:solidFill>
                <a:schemeClr val="accent4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44" name="任意多边形: 形状 43"/>
          <p:cNvSpPr/>
          <p:nvPr>
            <p:custDataLst>
              <p:tags r:id="rId1"/>
            </p:custDataLst>
          </p:nvPr>
        </p:nvSpPr>
        <p:spPr>
          <a:xfrm>
            <a:off x="3754208" y="1423019"/>
            <a:ext cx="2706624" cy="2705239"/>
          </a:xfrm>
          <a:custGeom>
            <a:avLst/>
            <a:gdLst>
              <a:gd name="connsiteX0" fmla="*/ 1325880 w 2706624"/>
              <a:gd name="connsiteY0" fmla="*/ 0 h 2705239"/>
              <a:gd name="connsiteX1" fmla="*/ 1325880 w 2706624"/>
              <a:gd name="connsiteY1" fmla="*/ 603009 h 2705239"/>
              <a:gd name="connsiteX2" fmla="*/ 1276598 w 2706624"/>
              <a:gd name="connsiteY2" fmla="*/ 605498 h 2705239"/>
              <a:gd name="connsiteX3" fmla="*/ 603009 w 2706624"/>
              <a:gd name="connsiteY3" fmla="*/ 1351927 h 2705239"/>
              <a:gd name="connsiteX4" fmla="*/ 1353312 w 2706624"/>
              <a:gd name="connsiteY4" fmla="*/ 2102230 h 2705239"/>
              <a:gd name="connsiteX5" fmla="*/ 2103615 w 2706624"/>
              <a:gd name="connsiteY5" fmla="*/ 1351927 h 2705239"/>
              <a:gd name="connsiteX6" fmla="*/ 2103615 w 2706624"/>
              <a:gd name="connsiteY6" fmla="*/ 1351921 h 2705239"/>
              <a:gd name="connsiteX7" fmla="*/ 2706624 w 2706624"/>
              <a:gd name="connsiteY7" fmla="*/ 1351921 h 2705239"/>
              <a:gd name="connsiteX8" fmla="*/ 2706624 w 2706624"/>
              <a:gd name="connsiteY8" fmla="*/ 1351927 h 2705239"/>
              <a:gd name="connsiteX9" fmla="*/ 1353312 w 2706624"/>
              <a:gd name="connsiteY9" fmla="*/ 2705239 h 2705239"/>
              <a:gd name="connsiteX10" fmla="*/ 0 w 2706624"/>
              <a:gd name="connsiteY10" fmla="*/ 1351927 h 2705239"/>
              <a:gd name="connsiteX11" fmla="*/ 1214944 w 2706624"/>
              <a:gd name="connsiteY11" fmla="*/ 5602 h 27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6624" h="2705239">
                <a:moveTo>
                  <a:pt x="1325880" y="0"/>
                </a:moveTo>
                <a:lnTo>
                  <a:pt x="1325880" y="603009"/>
                </a:lnTo>
                <a:lnTo>
                  <a:pt x="1276598" y="605498"/>
                </a:lnTo>
                <a:cubicBezTo>
                  <a:pt x="898253" y="643921"/>
                  <a:pt x="603009" y="963445"/>
                  <a:pt x="603009" y="1351927"/>
                </a:cubicBezTo>
                <a:cubicBezTo>
                  <a:pt x="603009" y="1766308"/>
                  <a:pt x="938931" y="2102230"/>
                  <a:pt x="1353312" y="2102230"/>
                </a:cubicBezTo>
                <a:cubicBezTo>
                  <a:pt x="1767693" y="2102230"/>
                  <a:pt x="2103615" y="1766308"/>
                  <a:pt x="2103615" y="1351927"/>
                </a:cubicBezTo>
                <a:lnTo>
                  <a:pt x="2103615" y="1351921"/>
                </a:lnTo>
                <a:lnTo>
                  <a:pt x="2706624" y="1351921"/>
                </a:lnTo>
                <a:lnTo>
                  <a:pt x="2706624" y="1351927"/>
                </a:lnTo>
                <a:cubicBezTo>
                  <a:pt x="2706624" y="2099341"/>
                  <a:pt x="2100726" y="2705239"/>
                  <a:pt x="1353312" y="2705239"/>
                </a:cubicBezTo>
                <a:cubicBezTo>
                  <a:pt x="605898" y="2705239"/>
                  <a:pt x="0" y="2099341"/>
                  <a:pt x="0" y="1351927"/>
                </a:cubicBezTo>
                <a:cubicBezTo>
                  <a:pt x="0" y="651226"/>
                  <a:pt x="532528" y="74905"/>
                  <a:pt x="1214944" y="560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: 形状 44"/>
          <p:cNvSpPr/>
          <p:nvPr>
            <p:custDataLst>
              <p:tags r:id="rId2"/>
            </p:custDataLst>
          </p:nvPr>
        </p:nvSpPr>
        <p:spPr>
          <a:xfrm flipH="1" flipV="1">
            <a:off x="5858256" y="1426995"/>
            <a:ext cx="2706624" cy="2705239"/>
          </a:xfrm>
          <a:custGeom>
            <a:avLst/>
            <a:gdLst>
              <a:gd name="connsiteX0" fmla="*/ 1325880 w 2706624"/>
              <a:gd name="connsiteY0" fmla="*/ 0 h 2705239"/>
              <a:gd name="connsiteX1" fmla="*/ 1325880 w 2706624"/>
              <a:gd name="connsiteY1" fmla="*/ 603009 h 2705239"/>
              <a:gd name="connsiteX2" fmla="*/ 1276598 w 2706624"/>
              <a:gd name="connsiteY2" fmla="*/ 605498 h 2705239"/>
              <a:gd name="connsiteX3" fmla="*/ 603009 w 2706624"/>
              <a:gd name="connsiteY3" fmla="*/ 1351927 h 2705239"/>
              <a:gd name="connsiteX4" fmla="*/ 1353312 w 2706624"/>
              <a:gd name="connsiteY4" fmla="*/ 2102230 h 2705239"/>
              <a:gd name="connsiteX5" fmla="*/ 2103615 w 2706624"/>
              <a:gd name="connsiteY5" fmla="*/ 1351927 h 2705239"/>
              <a:gd name="connsiteX6" fmla="*/ 2103615 w 2706624"/>
              <a:gd name="connsiteY6" fmla="*/ 1351921 h 2705239"/>
              <a:gd name="connsiteX7" fmla="*/ 2706624 w 2706624"/>
              <a:gd name="connsiteY7" fmla="*/ 1351921 h 2705239"/>
              <a:gd name="connsiteX8" fmla="*/ 2706624 w 2706624"/>
              <a:gd name="connsiteY8" fmla="*/ 1351927 h 2705239"/>
              <a:gd name="connsiteX9" fmla="*/ 1353312 w 2706624"/>
              <a:gd name="connsiteY9" fmla="*/ 2705239 h 2705239"/>
              <a:gd name="connsiteX10" fmla="*/ 0 w 2706624"/>
              <a:gd name="connsiteY10" fmla="*/ 1351927 h 2705239"/>
              <a:gd name="connsiteX11" fmla="*/ 1214944 w 2706624"/>
              <a:gd name="connsiteY11" fmla="*/ 5602 h 27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6624" h="2705239">
                <a:moveTo>
                  <a:pt x="1325880" y="0"/>
                </a:moveTo>
                <a:lnTo>
                  <a:pt x="1325880" y="603009"/>
                </a:lnTo>
                <a:lnTo>
                  <a:pt x="1276598" y="605498"/>
                </a:lnTo>
                <a:cubicBezTo>
                  <a:pt x="898253" y="643921"/>
                  <a:pt x="603009" y="963445"/>
                  <a:pt x="603009" y="1351927"/>
                </a:cubicBezTo>
                <a:cubicBezTo>
                  <a:pt x="603009" y="1766308"/>
                  <a:pt x="938931" y="2102230"/>
                  <a:pt x="1353312" y="2102230"/>
                </a:cubicBezTo>
                <a:cubicBezTo>
                  <a:pt x="1767693" y="2102230"/>
                  <a:pt x="2103615" y="1766308"/>
                  <a:pt x="2103615" y="1351927"/>
                </a:cubicBezTo>
                <a:lnTo>
                  <a:pt x="2103615" y="1351921"/>
                </a:lnTo>
                <a:lnTo>
                  <a:pt x="2706624" y="1351921"/>
                </a:lnTo>
                <a:lnTo>
                  <a:pt x="2706624" y="1351927"/>
                </a:lnTo>
                <a:cubicBezTo>
                  <a:pt x="2706624" y="2099341"/>
                  <a:pt x="2100726" y="2705239"/>
                  <a:pt x="1353312" y="2705239"/>
                </a:cubicBezTo>
                <a:cubicBezTo>
                  <a:pt x="605898" y="2705239"/>
                  <a:pt x="0" y="2099341"/>
                  <a:pt x="0" y="1351927"/>
                </a:cubicBezTo>
                <a:cubicBezTo>
                  <a:pt x="0" y="651226"/>
                  <a:pt x="532528" y="74905"/>
                  <a:pt x="1214944" y="560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: 形状 45"/>
          <p:cNvSpPr/>
          <p:nvPr>
            <p:custDataLst>
              <p:tags r:id="rId3"/>
            </p:custDataLst>
          </p:nvPr>
        </p:nvSpPr>
        <p:spPr>
          <a:xfrm rot="16200000" flipV="1">
            <a:off x="5886380" y="3531044"/>
            <a:ext cx="2706624" cy="2705239"/>
          </a:xfrm>
          <a:custGeom>
            <a:avLst/>
            <a:gdLst>
              <a:gd name="connsiteX0" fmla="*/ 1325880 w 2706624"/>
              <a:gd name="connsiteY0" fmla="*/ 0 h 2705239"/>
              <a:gd name="connsiteX1" fmla="*/ 1325880 w 2706624"/>
              <a:gd name="connsiteY1" fmla="*/ 603009 h 2705239"/>
              <a:gd name="connsiteX2" fmla="*/ 1276598 w 2706624"/>
              <a:gd name="connsiteY2" fmla="*/ 605498 h 2705239"/>
              <a:gd name="connsiteX3" fmla="*/ 603009 w 2706624"/>
              <a:gd name="connsiteY3" fmla="*/ 1351927 h 2705239"/>
              <a:gd name="connsiteX4" fmla="*/ 1353312 w 2706624"/>
              <a:gd name="connsiteY4" fmla="*/ 2102230 h 2705239"/>
              <a:gd name="connsiteX5" fmla="*/ 2103615 w 2706624"/>
              <a:gd name="connsiteY5" fmla="*/ 1351927 h 2705239"/>
              <a:gd name="connsiteX6" fmla="*/ 2103615 w 2706624"/>
              <a:gd name="connsiteY6" fmla="*/ 1351921 h 2705239"/>
              <a:gd name="connsiteX7" fmla="*/ 2706624 w 2706624"/>
              <a:gd name="connsiteY7" fmla="*/ 1351921 h 2705239"/>
              <a:gd name="connsiteX8" fmla="*/ 2706624 w 2706624"/>
              <a:gd name="connsiteY8" fmla="*/ 1351927 h 2705239"/>
              <a:gd name="connsiteX9" fmla="*/ 1353312 w 2706624"/>
              <a:gd name="connsiteY9" fmla="*/ 2705239 h 2705239"/>
              <a:gd name="connsiteX10" fmla="*/ 0 w 2706624"/>
              <a:gd name="connsiteY10" fmla="*/ 1351927 h 2705239"/>
              <a:gd name="connsiteX11" fmla="*/ 1214944 w 2706624"/>
              <a:gd name="connsiteY11" fmla="*/ 5602 h 27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6624" h="2705239">
                <a:moveTo>
                  <a:pt x="1325880" y="0"/>
                </a:moveTo>
                <a:lnTo>
                  <a:pt x="1325880" y="603009"/>
                </a:lnTo>
                <a:lnTo>
                  <a:pt x="1276598" y="605498"/>
                </a:lnTo>
                <a:cubicBezTo>
                  <a:pt x="898253" y="643921"/>
                  <a:pt x="603009" y="963445"/>
                  <a:pt x="603009" y="1351927"/>
                </a:cubicBezTo>
                <a:cubicBezTo>
                  <a:pt x="603009" y="1766308"/>
                  <a:pt x="938931" y="2102230"/>
                  <a:pt x="1353312" y="2102230"/>
                </a:cubicBezTo>
                <a:cubicBezTo>
                  <a:pt x="1767693" y="2102230"/>
                  <a:pt x="2103615" y="1766308"/>
                  <a:pt x="2103615" y="1351927"/>
                </a:cubicBezTo>
                <a:lnTo>
                  <a:pt x="2103615" y="1351921"/>
                </a:lnTo>
                <a:lnTo>
                  <a:pt x="2706624" y="1351921"/>
                </a:lnTo>
                <a:lnTo>
                  <a:pt x="2706624" y="1351927"/>
                </a:lnTo>
                <a:cubicBezTo>
                  <a:pt x="2706624" y="2099341"/>
                  <a:pt x="2100726" y="2705239"/>
                  <a:pt x="1353312" y="2705239"/>
                </a:cubicBezTo>
                <a:cubicBezTo>
                  <a:pt x="605898" y="2705239"/>
                  <a:pt x="0" y="2099341"/>
                  <a:pt x="0" y="1351927"/>
                </a:cubicBezTo>
                <a:cubicBezTo>
                  <a:pt x="0" y="651226"/>
                  <a:pt x="532528" y="74905"/>
                  <a:pt x="1214944" y="56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组合 46"/>
          <p:cNvGrpSpPr/>
          <p:nvPr>
            <p:custDataLst>
              <p:tags r:id="rId4"/>
            </p:custDataLst>
          </p:nvPr>
        </p:nvGrpSpPr>
        <p:grpSpPr>
          <a:xfrm>
            <a:off x="4775375" y="2443493"/>
            <a:ext cx="664290" cy="664290"/>
            <a:chOff x="1036494" y="3940953"/>
            <a:chExt cx="664290" cy="664290"/>
          </a:xfrm>
        </p:grpSpPr>
        <p:sp>
          <p:nvSpPr>
            <p:cNvPr id="48" name="椭圆 47"/>
            <p:cNvSpPr/>
            <p:nvPr>
              <p:custDataLst>
                <p:tags r:id="rId5"/>
              </p:custDataLst>
            </p:nvPr>
          </p:nvSpPr>
          <p:spPr>
            <a:xfrm>
              <a:off x="1036494" y="3940953"/>
              <a:ext cx="664290" cy="66429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图形 38"/>
            <p:cNvSpPr/>
            <p:nvPr>
              <p:custDataLst>
                <p:tags r:id="rId6"/>
              </p:custDataLst>
            </p:nvPr>
          </p:nvSpPr>
          <p:spPr>
            <a:xfrm>
              <a:off x="1211992" y="4116465"/>
              <a:ext cx="313294" cy="313266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0" name="组合 49"/>
          <p:cNvGrpSpPr/>
          <p:nvPr>
            <p:custDataLst>
              <p:tags r:id="rId7"/>
            </p:custDataLst>
          </p:nvPr>
        </p:nvGrpSpPr>
        <p:grpSpPr>
          <a:xfrm>
            <a:off x="6879423" y="4551518"/>
            <a:ext cx="664290" cy="664290"/>
            <a:chOff x="1036494" y="3940953"/>
            <a:chExt cx="664290" cy="664290"/>
          </a:xfrm>
        </p:grpSpPr>
        <p:sp>
          <p:nvSpPr>
            <p:cNvPr id="51" name="椭圆 50"/>
            <p:cNvSpPr/>
            <p:nvPr>
              <p:custDataLst>
                <p:tags r:id="rId8"/>
              </p:custDataLst>
            </p:nvPr>
          </p:nvSpPr>
          <p:spPr>
            <a:xfrm>
              <a:off x="1036494" y="3940953"/>
              <a:ext cx="664290" cy="6642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图形 38"/>
            <p:cNvSpPr/>
            <p:nvPr>
              <p:custDataLst>
                <p:tags r:id="rId9"/>
              </p:custDataLst>
            </p:nvPr>
          </p:nvSpPr>
          <p:spPr>
            <a:xfrm>
              <a:off x="1211992" y="4116465"/>
              <a:ext cx="313294" cy="313266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3" name="组合 52"/>
          <p:cNvGrpSpPr/>
          <p:nvPr>
            <p:custDataLst>
              <p:tags r:id="rId10"/>
            </p:custDataLst>
          </p:nvPr>
        </p:nvGrpSpPr>
        <p:grpSpPr>
          <a:xfrm>
            <a:off x="6879423" y="2443493"/>
            <a:ext cx="664290" cy="664290"/>
            <a:chOff x="6842762" y="3940953"/>
            <a:chExt cx="664290" cy="664290"/>
          </a:xfrm>
          <a:effectLst/>
        </p:grpSpPr>
        <p:sp>
          <p:nvSpPr>
            <p:cNvPr id="54" name="椭圆 53"/>
            <p:cNvSpPr/>
            <p:nvPr>
              <p:custDataLst>
                <p:tags r:id="rId11"/>
              </p:custDataLst>
            </p:nvPr>
          </p:nvSpPr>
          <p:spPr>
            <a:xfrm>
              <a:off x="6842762" y="3940953"/>
              <a:ext cx="664290" cy="66429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图形 38"/>
            <p:cNvSpPr/>
            <p:nvPr>
              <p:custDataLst>
                <p:tags r:id="rId12"/>
              </p:custDataLst>
            </p:nvPr>
          </p:nvSpPr>
          <p:spPr>
            <a:xfrm>
              <a:off x="7018260" y="4110377"/>
              <a:ext cx="313294" cy="313266"/>
            </a:xfrm>
            <a:custGeom>
              <a:avLst/>
              <a:gdLst>
                <a:gd name="connsiteX0" fmla="*/ 575987 w 1706805"/>
                <a:gd name="connsiteY0" fmla="*/ 10 h 1706651"/>
                <a:gd name="connsiteX1" fmla="*/ 316907 w 1706805"/>
                <a:gd name="connsiteY1" fmla="*/ 64780 h 1706651"/>
                <a:gd name="connsiteX2" fmla="*/ 251661 w 1706805"/>
                <a:gd name="connsiteY2" fmla="*/ 164792 h 1706651"/>
                <a:gd name="connsiteX3" fmla="*/ 240588 w 1706805"/>
                <a:gd name="connsiteY3" fmla="*/ 238135 h 1706651"/>
                <a:gd name="connsiteX4" fmla="*/ 213204 w 1706805"/>
                <a:gd name="connsiteY4" fmla="*/ 238135 h 1706651"/>
                <a:gd name="connsiteX5" fmla="*/ 116525 w 1706805"/>
                <a:gd name="connsiteY5" fmla="*/ 242659 h 1706651"/>
                <a:gd name="connsiteX6" fmla="*/ 29609 w 1706805"/>
                <a:gd name="connsiteY6" fmla="*/ 289331 h 1706651"/>
                <a:gd name="connsiteX7" fmla="*/ 201 w 1706805"/>
                <a:gd name="connsiteY7" fmla="*/ 379105 h 1706651"/>
                <a:gd name="connsiteX8" fmla="*/ 13536 w 1706805"/>
                <a:gd name="connsiteY8" fmla="*/ 463877 h 1706651"/>
                <a:gd name="connsiteX9" fmla="*/ 14488 w 1706805"/>
                <a:gd name="connsiteY9" fmla="*/ 467925 h 1706651"/>
                <a:gd name="connsiteX10" fmla="*/ 195463 w 1706805"/>
                <a:gd name="connsiteY10" fmla="*/ 815350 h 1706651"/>
                <a:gd name="connsiteX11" fmla="*/ 279633 w 1706805"/>
                <a:gd name="connsiteY11" fmla="*/ 813512 h 1706651"/>
                <a:gd name="connsiteX12" fmla="*/ 280950 w 1706805"/>
                <a:gd name="connsiteY12" fmla="*/ 732601 h 1706651"/>
                <a:gd name="connsiteX13" fmla="*/ 130931 w 1706805"/>
                <a:gd name="connsiteY13" fmla="*/ 442803 h 1706651"/>
                <a:gd name="connsiteX14" fmla="*/ 119263 w 1706805"/>
                <a:gd name="connsiteY14" fmla="*/ 376009 h 1706651"/>
                <a:gd name="connsiteX15" fmla="*/ 121168 w 1706805"/>
                <a:gd name="connsiteY15" fmla="*/ 365293 h 1706651"/>
                <a:gd name="connsiteX16" fmla="*/ 121525 w 1706805"/>
                <a:gd name="connsiteY16" fmla="*/ 364936 h 1706651"/>
                <a:gd name="connsiteX17" fmla="*/ 123430 w 1706805"/>
                <a:gd name="connsiteY17" fmla="*/ 363388 h 1706651"/>
                <a:gd name="connsiteX18" fmla="*/ 135575 w 1706805"/>
                <a:gd name="connsiteY18" fmla="*/ 360174 h 1706651"/>
                <a:gd name="connsiteX19" fmla="*/ 217133 w 1706805"/>
                <a:gd name="connsiteY19" fmla="*/ 357197 h 1706651"/>
                <a:gd name="connsiteX20" fmla="*/ 240945 w 1706805"/>
                <a:gd name="connsiteY20" fmla="*/ 357197 h 1706651"/>
                <a:gd name="connsiteX21" fmla="*/ 793871 w 1706805"/>
                <a:gd name="connsiteY21" fmla="*/ 910004 h 1706651"/>
                <a:gd name="connsiteX22" fmla="*/ 793871 w 1706805"/>
                <a:gd name="connsiteY22" fmla="*/ 1274693 h 1706651"/>
                <a:gd name="connsiteX23" fmla="*/ 492048 w 1706805"/>
                <a:gd name="connsiteY23" fmla="*/ 1501626 h 1706651"/>
                <a:gd name="connsiteX24" fmla="*/ 612063 w 1706805"/>
                <a:gd name="connsiteY24" fmla="*/ 1706651 h 1706651"/>
                <a:gd name="connsiteX25" fmla="*/ 1094742 w 1706805"/>
                <a:gd name="connsiteY25" fmla="*/ 1706651 h 1706651"/>
                <a:gd name="connsiteX26" fmla="*/ 1214757 w 1706805"/>
                <a:gd name="connsiteY26" fmla="*/ 1501626 h 1706651"/>
                <a:gd name="connsiteX27" fmla="*/ 912934 w 1706805"/>
                <a:gd name="connsiteY27" fmla="*/ 1274693 h 1706651"/>
                <a:gd name="connsiteX28" fmla="*/ 912934 w 1706805"/>
                <a:gd name="connsiteY28" fmla="*/ 910004 h 1706651"/>
                <a:gd name="connsiteX29" fmla="*/ 1465979 w 1706805"/>
                <a:gd name="connsiteY29" fmla="*/ 357197 h 1706651"/>
                <a:gd name="connsiteX30" fmla="*/ 1489673 w 1706805"/>
                <a:gd name="connsiteY30" fmla="*/ 357197 h 1706651"/>
                <a:gd name="connsiteX31" fmla="*/ 1571111 w 1706805"/>
                <a:gd name="connsiteY31" fmla="*/ 360174 h 1706651"/>
                <a:gd name="connsiteX32" fmla="*/ 1583375 w 1706805"/>
                <a:gd name="connsiteY32" fmla="*/ 363388 h 1706651"/>
                <a:gd name="connsiteX33" fmla="*/ 1585280 w 1706805"/>
                <a:gd name="connsiteY33" fmla="*/ 364936 h 1706651"/>
                <a:gd name="connsiteX34" fmla="*/ 1585637 w 1706805"/>
                <a:gd name="connsiteY34" fmla="*/ 365293 h 1706651"/>
                <a:gd name="connsiteX35" fmla="*/ 1587542 w 1706805"/>
                <a:gd name="connsiteY35" fmla="*/ 376009 h 1706651"/>
                <a:gd name="connsiteX36" fmla="*/ 1575993 w 1706805"/>
                <a:gd name="connsiteY36" fmla="*/ 442803 h 1706651"/>
                <a:gd name="connsiteX37" fmla="*/ 1425974 w 1706805"/>
                <a:gd name="connsiteY37" fmla="*/ 732601 h 1706651"/>
                <a:gd name="connsiteX38" fmla="*/ 1424136 w 1706805"/>
                <a:gd name="connsiteY38" fmla="*/ 816771 h 1706651"/>
                <a:gd name="connsiteX39" fmla="*/ 1508306 w 1706805"/>
                <a:gd name="connsiteY39" fmla="*/ 818609 h 1706651"/>
                <a:gd name="connsiteX40" fmla="*/ 1511461 w 1706805"/>
                <a:gd name="connsiteY40" fmla="*/ 815350 h 1706651"/>
                <a:gd name="connsiteX41" fmla="*/ 1692436 w 1706805"/>
                <a:gd name="connsiteY41" fmla="*/ 467925 h 1706651"/>
                <a:gd name="connsiteX42" fmla="*/ 1693270 w 1706805"/>
                <a:gd name="connsiteY42" fmla="*/ 463877 h 1706651"/>
                <a:gd name="connsiteX43" fmla="*/ 1706605 w 1706805"/>
                <a:gd name="connsiteY43" fmla="*/ 379105 h 1706651"/>
                <a:gd name="connsiteX44" fmla="*/ 1677196 w 1706805"/>
                <a:gd name="connsiteY44" fmla="*/ 289331 h 1706651"/>
                <a:gd name="connsiteX45" fmla="*/ 1590281 w 1706805"/>
                <a:gd name="connsiteY45" fmla="*/ 242659 h 1706651"/>
                <a:gd name="connsiteX46" fmla="*/ 1493721 w 1706805"/>
                <a:gd name="connsiteY46" fmla="*/ 238135 h 1706651"/>
                <a:gd name="connsiteX47" fmla="*/ 1466336 w 1706805"/>
                <a:gd name="connsiteY47" fmla="*/ 238135 h 1706651"/>
                <a:gd name="connsiteX48" fmla="*/ 1455145 w 1706805"/>
                <a:gd name="connsiteY48" fmla="*/ 164792 h 1706651"/>
                <a:gd name="connsiteX49" fmla="*/ 1389898 w 1706805"/>
                <a:gd name="connsiteY49" fmla="*/ 64780 h 1706651"/>
                <a:gd name="connsiteX50" fmla="*/ 1130937 w 1706805"/>
                <a:gd name="connsiteY50" fmla="*/ 10 h 1706651"/>
                <a:gd name="connsiteX51" fmla="*/ 575868 w 1706805"/>
                <a:gd name="connsiteY51" fmla="*/ 10 h 1706651"/>
                <a:gd name="connsiteX52" fmla="*/ 1349536 w 1706805"/>
                <a:gd name="connsiteY52" fmla="*/ 297666 h 1706651"/>
                <a:gd name="connsiteX53" fmla="*/ 1349536 w 1706805"/>
                <a:gd name="connsiteY53" fmla="*/ 300761 h 1706651"/>
                <a:gd name="connsiteX54" fmla="*/ 854474 w 1706805"/>
                <a:gd name="connsiteY54" fmla="*/ 793799 h 1706651"/>
                <a:gd name="connsiteX55" fmla="*/ 852331 w 1706805"/>
                <a:gd name="connsiteY55" fmla="*/ 793799 h 1706651"/>
                <a:gd name="connsiteX56" fmla="*/ 357269 w 1706805"/>
                <a:gd name="connsiteY56" fmla="*/ 300761 h 1706651"/>
                <a:gd name="connsiteX57" fmla="*/ 357745 w 1706805"/>
                <a:gd name="connsiteY57" fmla="*/ 279330 h 1706651"/>
                <a:gd name="connsiteX58" fmla="*/ 366080 w 1706805"/>
                <a:gd name="connsiteY58" fmla="*/ 198130 h 1706651"/>
                <a:gd name="connsiteX59" fmla="*/ 397274 w 1706805"/>
                <a:gd name="connsiteY59" fmla="*/ 152648 h 1706651"/>
                <a:gd name="connsiteX60" fmla="*/ 589560 w 1706805"/>
                <a:gd name="connsiteY60" fmla="*/ 119072 h 1706651"/>
                <a:gd name="connsiteX61" fmla="*/ 1117245 w 1706805"/>
                <a:gd name="connsiteY61" fmla="*/ 119072 h 1706651"/>
                <a:gd name="connsiteX62" fmla="*/ 1309531 w 1706805"/>
                <a:gd name="connsiteY62" fmla="*/ 152648 h 1706651"/>
                <a:gd name="connsiteX63" fmla="*/ 1340845 w 1706805"/>
                <a:gd name="connsiteY63" fmla="*/ 198130 h 1706651"/>
                <a:gd name="connsiteX64" fmla="*/ 1349060 w 1706805"/>
                <a:gd name="connsiteY64" fmla="*/ 279449 h 1706651"/>
                <a:gd name="connsiteX65" fmla="*/ 1349536 w 1706805"/>
                <a:gd name="connsiteY65" fmla="*/ 297666 h 1706651"/>
                <a:gd name="connsiteX66" fmla="*/ 853403 w 1706805"/>
                <a:gd name="connsiteY66" fmla="*/ 1389112 h 1706651"/>
                <a:gd name="connsiteX67" fmla="*/ 1108435 w 1706805"/>
                <a:gd name="connsiteY67" fmla="*/ 1555204 h 1706651"/>
                <a:gd name="connsiteX68" fmla="*/ 1108077 w 1706805"/>
                <a:gd name="connsiteY68" fmla="*/ 1578540 h 1706651"/>
                <a:gd name="connsiteX69" fmla="*/ 1094861 w 1706805"/>
                <a:gd name="connsiteY69" fmla="*/ 1587589 h 1706651"/>
                <a:gd name="connsiteX70" fmla="*/ 612063 w 1706805"/>
                <a:gd name="connsiteY70" fmla="*/ 1587589 h 1706651"/>
                <a:gd name="connsiteX71" fmla="*/ 598728 w 1706805"/>
                <a:gd name="connsiteY71" fmla="*/ 1578540 h 1706651"/>
                <a:gd name="connsiteX72" fmla="*/ 598371 w 1706805"/>
                <a:gd name="connsiteY72" fmla="*/ 1555204 h 1706651"/>
                <a:gd name="connsiteX73" fmla="*/ 853403 w 1706805"/>
                <a:gd name="connsiteY73" fmla="*/ 1389112 h 1706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706805" h="1706651">
                  <a:moveTo>
                    <a:pt x="575987" y="10"/>
                  </a:moveTo>
                  <a:cubicBezTo>
                    <a:pt x="470260" y="10"/>
                    <a:pt x="387987" y="-109"/>
                    <a:pt x="316907" y="64780"/>
                  </a:cubicBezTo>
                  <a:cubicBezTo>
                    <a:pt x="283570" y="95379"/>
                    <a:pt x="262853" y="126692"/>
                    <a:pt x="251661" y="164792"/>
                  </a:cubicBezTo>
                  <a:cubicBezTo>
                    <a:pt x="245291" y="188759"/>
                    <a:pt x="241578" y="213355"/>
                    <a:pt x="240588" y="238135"/>
                  </a:cubicBezTo>
                  <a:lnTo>
                    <a:pt x="213204" y="238135"/>
                  </a:lnTo>
                  <a:cubicBezTo>
                    <a:pt x="177485" y="238135"/>
                    <a:pt x="143909" y="238135"/>
                    <a:pt x="116525" y="242659"/>
                  </a:cubicBezTo>
                  <a:cubicBezTo>
                    <a:pt x="84973" y="247779"/>
                    <a:pt x="53779" y="259804"/>
                    <a:pt x="29609" y="289331"/>
                  </a:cubicBezTo>
                  <a:cubicBezTo>
                    <a:pt x="8887" y="314504"/>
                    <a:pt x="-1611" y="346550"/>
                    <a:pt x="201" y="379105"/>
                  </a:cubicBezTo>
                  <a:cubicBezTo>
                    <a:pt x="915" y="404941"/>
                    <a:pt x="7225" y="434469"/>
                    <a:pt x="13536" y="463877"/>
                  </a:cubicBezTo>
                  <a:lnTo>
                    <a:pt x="14488" y="467925"/>
                  </a:lnTo>
                  <a:cubicBezTo>
                    <a:pt x="43778" y="603776"/>
                    <a:pt x="107476" y="724624"/>
                    <a:pt x="195463" y="815350"/>
                  </a:cubicBezTo>
                  <a:cubicBezTo>
                    <a:pt x="219214" y="838085"/>
                    <a:pt x="256898" y="837263"/>
                    <a:pt x="279633" y="813512"/>
                  </a:cubicBezTo>
                  <a:cubicBezTo>
                    <a:pt x="301154" y="791031"/>
                    <a:pt x="301727" y="755770"/>
                    <a:pt x="280950" y="732601"/>
                  </a:cubicBezTo>
                  <a:cubicBezTo>
                    <a:pt x="209513" y="658782"/>
                    <a:pt x="155696" y="558532"/>
                    <a:pt x="130931" y="442803"/>
                  </a:cubicBezTo>
                  <a:cubicBezTo>
                    <a:pt x="123311" y="407680"/>
                    <a:pt x="119501" y="389225"/>
                    <a:pt x="119263" y="376009"/>
                  </a:cubicBezTo>
                  <a:cubicBezTo>
                    <a:pt x="119025" y="367794"/>
                    <a:pt x="120097" y="366484"/>
                    <a:pt x="121168" y="365293"/>
                  </a:cubicBezTo>
                  <a:lnTo>
                    <a:pt x="121525" y="364936"/>
                  </a:lnTo>
                  <a:cubicBezTo>
                    <a:pt x="122015" y="364263"/>
                    <a:pt x="122671" y="363729"/>
                    <a:pt x="123430" y="363388"/>
                  </a:cubicBezTo>
                  <a:cubicBezTo>
                    <a:pt x="127306" y="361748"/>
                    <a:pt x="131395" y="360665"/>
                    <a:pt x="135575" y="360174"/>
                  </a:cubicBezTo>
                  <a:cubicBezTo>
                    <a:pt x="152363" y="357435"/>
                    <a:pt x="176056" y="357197"/>
                    <a:pt x="217133" y="357197"/>
                  </a:cubicBezTo>
                  <a:lnTo>
                    <a:pt x="240945" y="357197"/>
                  </a:lnTo>
                  <a:cubicBezTo>
                    <a:pt x="267615" y="649496"/>
                    <a:pt x="500978" y="882025"/>
                    <a:pt x="793871" y="910004"/>
                  </a:cubicBezTo>
                  <a:lnTo>
                    <a:pt x="793871" y="1274693"/>
                  </a:lnTo>
                  <a:cubicBezTo>
                    <a:pt x="661831" y="1295172"/>
                    <a:pt x="551817" y="1383040"/>
                    <a:pt x="492048" y="1501626"/>
                  </a:cubicBezTo>
                  <a:cubicBezTo>
                    <a:pt x="444661" y="1595804"/>
                    <a:pt x="511098" y="1706651"/>
                    <a:pt x="612063" y="1706651"/>
                  </a:cubicBezTo>
                  <a:lnTo>
                    <a:pt x="1094742" y="1706651"/>
                  </a:lnTo>
                  <a:cubicBezTo>
                    <a:pt x="1195707" y="1706651"/>
                    <a:pt x="1262144" y="1595923"/>
                    <a:pt x="1214757" y="1501626"/>
                  </a:cubicBezTo>
                  <a:cubicBezTo>
                    <a:pt x="1154988" y="1383040"/>
                    <a:pt x="1044974" y="1295172"/>
                    <a:pt x="912934" y="1274693"/>
                  </a:cubicBezTo>
                  <a:lnTo>
                    <a:pt x="912934" y="910004"/>
                  </a:lnTo>
                  <a:cubicBezTo>
                    <a:pt x="1205828" y="882025"/>
                    <a:pt x="1439190" y="649496"/>
                    <a:pt x="1465979" y="357197"/>
                  </a:cubicBezTo>
                  <a:lnTo>
                    <a:pt x="1489673" y="357197"/>
                  </a:lnTo>
                  <a:cubicBezTo>
                    <a:pt x="1530749" y="357197"/>
                    <a:pt x="1554443" y="357435"/>
                    <a:pt x="1571111" y="360174"/>
                  </a:cubicBezTo>
                  <a:cubicBezTo>
                    <a:pt x="1578612" y="361364"/>
                    <a:pt x="1582065" y="362674"/>
                    <a:pt x="1583375" y="363388"/>
                  </a:cubicBezTo>
                  <a:cubicBezTo>
                    <a:pt x="1584134" y="363729"/>
                    <a:pt x="1584791" y="364263"/>
                    <a:pt x="1585280" y="364936"/>
                  </a:cubicBezTo>
                  <a:lnTo>
                    <a:pt x="1585637" y="365293"/>
                  </a:lnTo>
                  <a:cubicBezTo>
                    <a:pt x="1586709" y="366484"/>
                    <a:pt x="1587780" y="367794"/>
                    <a:pt x="1587542" y="376009"/>
                  </a:cubicBezTo>
                  <a:cubicBezTo>
                    <a:pt x="1587304" y="389344"/>
                    <a:pt x="1583494" y="407680"/>
                    <a:pt x="1575993" y="442803"/>
                  </a:cubicBezTo>
                  <a:cubicBezTo>
                    <a:pt x="1550990" y="558532"/>
                    <a:pt x="1497293" y="658782"/>
                    <a:pt x="1425974" y="732601"/>
                  </a:cubicBezTo>
                  <a:cubicBezTo>
                    <a:pt x="1402223" y="755337"/>
                    <a:pt x="1401401" y="793022"/>
                    <a:pt x="1424136" y="816771"/>
                  </a:cubicBezTo>
                  <a:cubicBezTo>
                    <a:pt x="1446872" y="840522"/>
                    <a:pt x="1484557" y="841344"/>
                    <a:pt x="1508306" y="818609"/>
                  </a:cubicBezTo>
                  <a:cubicBezTo>
                    <a:pt x="1509400" y="817563"/>
                    <a:pt x="1510451" y="816475"/>
                    <a:pt x="1511461" y="815350"/>
                  </a:cubicBezTo>
                  <a:cubicBezTo>
                    <a:pt x="1599329" y="724624"/>
                    <a:pt x="1663147" y="603776"/>
                    <a:pt x="1692436" y="467925"/>
                  </a:cubicBezTo>
                  <a:lnTo>
                    <a:pt x="1693270" y="463877"/>
                  </a:lnTo>
                  <a:cubicBezTo>
                    <a:pt x="1699580" y="434469"/>
                    <a:pt x="1706009" y="404941"/>
                    <a:pt x="1706605" y="379105"/>
                  </a:cubicBezTo>
                  <a:cubicBezTo>
                    <a:pt x="1708417" y="346550"/>
                    <a:pt x="1697919" y="314504"/>
                    <a:pt x="1677196" y="289331"/>
                  </a:cubicBezTo>
                  <a:cubicBezTo>
                    <a:pt x="1653026" y="259804"/>
                    <a:pt x="1621832" y="247660"/>
                    <a:pt x="1590281" y="242659"/>
                  </a:cubicBezTo>
                  <a:cubicBezTo>
                    <a:pt x="1562896" y="238135"/>
                    <a:pt x="1529321" y="238135"/>
                    <a:pt x="1493721" y="238135"/>
                  </a:cubicBezTo>
                  <a:lnTo>
                    <a:pt x="1466336" y="238135"/>
                  </a:lnTo>
                  <a:cubicBezTo>
                    <a:pt x="1465306" y="213351"/>
                    <a:pt x="1461552" y="188755"/>
                    <a:pt x="1455145" y="164792"/>
                  </a:cubicBezTo>
                  <a:cubicBezTo>
                    <a:pt x="1443953" y="126692"/>
                    <a:pt x="1423355" y="95379"/>
                    <a:pt x="1389898" y="64780"/>
                  </a:cubicBezTo>
                  <a:cubicBezTo>
                    <a:pt x="1318818" y="-109"/>
                    <a:pt x="1236546" y="-109"/>
                    <a:pt x="1130937" y="10"/>
                  </a:cubicBezTo>
                  <a:lnTo>
                    <a:pt x="575868" y="10"/>
                  </a:lnTo>
                  <a:close/>
                  <a:moveTo>
                    <a:pt x="1349536" y="297666"/>
                  </a:moveTo>
                  <a:lnTo>
                    <a:pt x="1349536" y="300761"/>
                  </a:lnTo>
                  <a:cubicBezTo>
                    <a:pt x="1349536" y="572462"/>
                    <a:pt x="1128318" y="793204"/>
                    <a:pt x="854474" y="793799"/>
                  </a:cubicBezTo>
                  <a:cubicBezTo>
                    <a:pt x="853760" y="793786"/>
                    <a:pt x="853046" y="793786"/>
                    <a:pt x="852331" y="793799"/>
                  </a:cubicBezTo>
                  <a:cubicBezTo>
                    <a:pt x="578487" y="793204"/>
                    <a:pt x="357269" y="572343"/>
                    <a:pt x="357269" y="300761"/>
                  </a:cubicBezTo>
                  <a:cubicBezTo>
                    <a:pt x="357269" y="293618"/>
                    <a:pt x="357507" y="286474"/>
                    <a:pt x="357745" y="279330"/>
                  </a:cubicBezTo>
                  <a:cubicBezTo>
                    <a:pt x="359531" y="237420"/>
                    <a:pt x="360841" y="215751"/>
                    <a:pt x="366080" y="198130"/>
                  </a:cubicBezTo>
                  <a:cubicBezTo>
                    <a:pt x="370009" y="184437"/>
                    <a:pt x="377034" y="171221"/>
                    <a:pt x="397274" y="152648"/>
                  </a:cubicBezTo>
                  <a:cubicBezTo>
                    <a:pt x="430612" y="122168"/>
                    <a:pt x="463592" y="119072"/>
                    <a:pt x="589560" y="119072"/>
                  </a:cubicBezTo>
                  <a:lnTo>
                    <a:pt x="1117245" y="119072"/>
                  </a:lnTo>
                  <a:cubicBezTo>
                    <a:pt x="1243213" y="119072"/>
                    <a:pt x="1276075" y="122168"/>
                    <a:pt x="1309531" y="152648"/>
                  </a:cubicBezTo>
                  <a:cubicBezTo>
                    <a:pt x="1329772" y="171221"/>
                    <a:pt x="1336916" y="184437"/>
                    <a:pt x="1340845" y="198130"/>
                  </a:cubicBezTo>
                  <a:cubicBezTo>
                    <a:pt x="1345964" y="215751"/>
                    <a:pt x="1347274" y="237420"/>
                    <a:pt x="1349060" y="279449"/>
                  </a:cubicBezTo>
                  <a:lnTo>
                    <a:pt x="1349536" y="297666"/>
                  </a:lnTo>
                  <a:close/>
                  <a:moveTo>
                    <a:pt x="853403" y="1389112"/>
                  </a:moveTo>
                  <a:cubicBezTo>
                    <a:pt x="961035" y="1389112"/>
                    <a:pt x="1057476" y="1454120"/>
                    <a:pt x="1108435" y="1555204"/>
                  </a:cubicBezTo>
                  <a:cubicBezTo>
                    <a:pt x="1112494" y="1562487"/>
                    <a:pt x="1112356" y="1571383"/>
                    <a:pt x="1108077" y="1578540"/>
                  </a:cubicBezTo>
                  <a:cubicBezTo>
                    <a:pt x="1104029" y="1585446"/>
                    <a:pt x="1098433" y="1587589"/>
                    <a:pt x="1094861" y="1587589"/>
                  </a:cubicBezTo>
                  <a:lnTo>
                    <a:pt x="612063" y="1587589"/>
                  </a:lnTo>
                  <a:cubicBezTo>
                    <a:pt x="608491" y="1587589"/>
                    <a:pt x="602776" y="1585446"/>
                    <a:pt x="598728" y="1578540"/>
                  </a:cubicBezTo>
                  <a:cubicBezTo>
                    <a:pt x="594449" y="1571383"/>
                    <a:pt x="594312" y="1562487"/>
                    <a:pt x="598371" y="1555204"/>
                  </a:cubicBezTo>
                  <a:cubicBezTo>
                    <a:pt x="649330" y="1454239"/>
                    <a:pt x="745770" y="1389112"/>
                    <a:pt x="853403" y="1389112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6" name="组合 55"/>
          <p:cNvGrpSpPr/>
          <p:nvPr>
            <p:custDataLst>
              <p:tags r:id="rId13"/>
            </p:custDataLst>
          </p:nvPr>
        </p:nvGrpSpPr>
        <p:grpSpPr>
          <a:xfrm>
            <a:off x="8939874" y="1413164"/>
            <a:ext cx="2401416" cy="2288871"/>
            <a:chOff x="8908029" y="2032615"/>
            <a:chExt cx="2401416" cy="2288871"/>
          </a:xfrm>
        </p:grpSpPr>
        <p:sp>
          <p:nvSpPr>
            <p:cNvPr id="57" name="文本框 56"/>
            <p:cNvSpPr txBox="1"/>
            <p:nvPr>
              <p:custDataLst>
                <p:tags r:id="rId14"/>
              </p:custDataLst>
            </p:nvPr>
          </p:nvSpPr>
          <p:spPr>
            <a:xfrm flipH="1">
              <a:off x="8908029" y="2032615"/>
              <a:ext cx="1667153" cy="3321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问题与处理</a:t>
              </a:r>
              <a:endParaRPr lang="zh-CN" altLang="en-US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15"/>
              </p:custDataLst>
            </p:nvPr>
          </p:nvSpPr>
          <p:spPr>
            <a:xfrm flipH="1">
              <a:off x="8908029" y="2382831"/>
              <a:ext cx="2401416" cy="1938655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开发过程中主要遇到文档格式不统一、需求来源难定位、变更记录容易分散等问题，系统通过规则提取、来源片段保存、变更事件和版本快照记录进行处理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16"/>
            </p:custDataLst>
          </p:nvPr>
        </p:nvGrpSpPr>
        <p:grpSpPr>
          <a:xfrm>
            <a:off x="2989481" y="4227547"/>
            <a:ext cx="2401416" cy="2612087"/>
            <a:chOff x="8908029" y="2032614"/>
            <a:chExt cx="2401416" cy="2612087"/>
          </a:xfrm>
        </p:grpSpPr>
        <p:sp>
          <p:nvSpPr>
            <p:cNvPr id="60" name="文本框 59"/>
            <p:cNvSpPr txBox="1"/>
            <p:nvPr>
              <p:custDataLst>
                <p:tags r:id="rId17"/>
              </p:custDataLst>
            </p:nvPr>
          </p:nvSpPr>
          <p:spPr>
            <a:xfrm flipH="1">
              <a:off x="8908029" y="2032614"/>
              <a:ext cx="1667153" cy="3321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不足与展望</a:t>
              </a:r>
              <a:endParaRPr lang="zh-CN" altLang="en-US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8"/>
              </p:custDataLst>
            </p:nvPr>
          </p:nvSpPr>
          <p:spPr>
            <a:xfrm flipH="1">
              <a:off x="8908029" y="2382831"/>
              <a:ext cx="2401416" cy="2261870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当前系统对复杂文档和隐含需求的识别能力仍有限，影响波及图主要围绕文档、需求点和版本展开。后续可继续扩展 PDF/OCR 解析、Git/Issue 接入、代码与测试追溯，以及更完整的自动化测试。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grpSp>
        <p:nvGrpSpPr>
          <p:cNvPr id="62" name="组合 61"/>
          <p:cNvGrpSpPr/>
          <p:nvPr>
            <p:custDataLst>
              <p:tags r:id="rId19"/>
            </p:custDataLst>
          </p:nvPr>
        </p:nvGrpSpPr>
        <p:grpSpPr>
          <a:xfrm>
            <a:off x="850710" y="1413164"/>
            <a:ext cx="2401416" cy="2612086"/>
            <a:chOff x="8908029" y="2032615"/>
            <a:chExt cx="2401416" cy="2612086"/>
          </a:xfrm>
        </p:grpSpPr>
        <p:sp>
          <p:nvSpPr>
            <p:cNvPr id="63" name="文本框 62"/>
            <p:cNvSpPr txBox="1"/>
            <p:nvPr>
              <p:custDataLst>
                <p:tags r:id="rId20"/>
              </p:custDataLst>
            </p:nvPr>
          </p:nvSpPr>
          <p:spPr>
            <a:xfrm flipH="1">
              <a:off x="8908029" y="2032615"/>
              <a:ext cx="1667153" cy="33210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b="1" dirty="0">
                  <a:solidFill>
                    <a:schemeClr val="accent1"/>
                  </a:solidFill>
                  <a:latin typeface="思源宋体 Medium" panose="02020500000000000000" pitchFamily="18" charset="-122"/>
                  <a:ea typeface="思源宋体 Medium" panose="02020500000000000000" pitchFamily="18" charset="-122"/>
                  <a:cs typeface="阿里巴巴普惠体 B" panose="00020600040101010101" pitchFamily="18" charset="-122"/>
                </a:rPr>
                <a:t>工作总结</a:t>
              </a:r>
              <a:endParaRPr lang="zh-CN" altLang="en-US" b="1" dirty="0">
                <a:solidFill>
                  <a:schemeClr val="accent1"/>
                </a:solidFill>
                <a:latin typeface="思源宋体 Medium" panose="02020500000000000000" pitchFamily="18" charset="-122"/>
                <a:ea typeface="思源宋体 Medium" panose="02020500000000000000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64" name="文本框 63"/>
            <p:cNvSpPr txBox="1"/>
            <p:nvPr>
              <p:custDataLst>
                <p:tags r:id="rId21"/>
              </p:custDataLst>
            </p:nvPr>
          </p:nvSpPr>
          <p:spPr>
            <a:xfrm flipH="1">
              <a:off x="8908029" y="2382831"/>
              <a:ext cx="2401416" cy="2261870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/>
            <a:p>
              <a:pPr marR="0" lvl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>
                    <a:lumMod val="60000"/>
                    <a:lumOff val="40000"/>
                  </a:schemeClr>
                </a:buClr>
                <a:buSzTx/>
                <a:buFontTx/>
                <a:defRPr/>
              </a:pPr>
              <a:r>
                <a:rPr lang="zh-CN" altLang="en-US" sz="14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完成了一个文档驱动的软件需求变更管理与可追溯平台，实现了从需求文档上传、规则提取、需求维护、来源证据保存、版本链记录、影响波及图展示，到 AI 评估报告和变更文档导出的完整流程</a:t>
              </a:r>
              <a:endParaRPr lang="zh-CN" alt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22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7870" y="261620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  <p:bldLst>
      <p:bldP spid="44" grpId="0" animBg="1"/>
      <p:bldP spid="45" grpId="0" animBg="1"/>
      <p:bldP spid="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email"/>
          <a:srcRect/>
          <a:stretch>
            <a:fillRect/>
          </a:stretch>
        </p:blipFill>
        <p:spPr>
          <a:xfrm>
            <a:off x="0" y="-139"/>
            <a:ext cx="12192000" cy="683287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0" y="0"/>
            <a:ext cx="12192000" cy="931058"/>
            <a:chOff x="0" y="0"/>
            <a:chExt cx="12192000" cy="931058"/>
          </a:xfrm>
        </p:grpSpPr>
        <p:sp>
          <p:nvSpPr>
            <p:cNvPr id="47" name="矩形 46"/>
            <p:cNvSpPr/>
            <p:nvPr/>
          </p:nvSpPr>
          <p:spPr>
            <a:xfrm flipH="1">
              <a:off x="2211572" y="215663"/>
              <a:ext cx="9980428" cy="499731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 flipV="1">
              <a:off x="0" y="0"/>
              <a:ext cx="12191999" cy="931058"/>
            </a:xfrm>
            <a:custGeom>
              <a:avLst/>
              <a:gdLst>
                <a:gd name="connsiteX0" fmla="*/ 1442484 w 12191999"/>
                <a:gd name="connsiteY0" fmla="*/ 931058 h 931058"/>
                <a:gd name="connsiteX1" fmla="*/ 7468700 w 12191999"/>
                <a:gd name="connsiteY1" fmla="*/ 931058 h 931058"/>
                <a:gd name="connsiteX2" fmla="*/ 7518400 w 12191999"/>
                <a:gd name="connsiteY2" fmla="*/ 931058 h 931058"/>
                <a:gd name="connsiteX3" fmla="*/ 12191999 w 12191999"/>
                <a:gd name="connsiteY3" fmla="*/ 931058 h 931058"/>
                <a:gd name="connsiteX4" fmla="*/ 12191999 w 12191999"/>
                <a:gd name="connsiteY4" fmla="*/ 439302 h 931058"/>
                <a:gd name="connsiteX5" fmla="*/ 7468700 w 12191999"/>
                <a:gd name="connsiteY5" fmla="*/ 439302 h 931058"/>
                <a:gd name="connsiteX6" fmla="*/ 7468700 w 12191999"/>
                <a:gd name="connsiteY6" fmla="*/ 439302 h 931058"/>
                <a:gd name="connsiteX7" fmla="*/ 3557325 w 12191999"/>
                <a:gd name="connsiteY7" fmla="*/ 439302 h 931058"/>
                <a:gd name="connsiteX8" fmla="*/ 2984387 w 12191999"/>
                <a:gd name="connsiteY8" fmla="*/ 107629 h 931058"/>
                <a:gd name="connsiteX9" fmla="*/ 2756786 w 12191999"/>
                <a:gd name="connsiteY9" fmla="*/ 0 h 931058"/>
                <a:gd name="connsiteX10" fmla="*/ 0 w 12191999"/>
                <a:gd name="connsiteY10" fmla="*/ 0 h 931058"/>
                <a:gd name="connsiteX11" fmla="*/ 0 w 12191999"/>
                <a:gd name="connsiteY11" fmla="*/ 931057 h 931058"/>
                <a:gd name="connsiteX12" fmla="*/ 1442484 w 12191999"/>
                <a:gd name="connsiteY12" fmla="*/ 931057 h 931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91999" h="931058">
                  <a:moveTo>
                    <a:pt x="1442484" y="931058"/>
                  </a:moveTo>
                  <a:lnTo>
                    <a:pt x="7468700" y="931058"/>
                  </a:lnTo>
                  <a:lnTo>
                    <a:pt x="7518400" y="931058"/>
                  </a:lnTo>
                  <a:lnTo>
                    <a:pt x="12191999" y="931058"/>
                  </a:lnTo>
                  <a:lnTo>
                    <a:pt x="12191999" y="439302"/>
                  </a:lnTo>
                  <a:lnTo>
                    <a:pt x="7468700" y="439302"/>
                  </a:lnTo>
                  <a:lnTo>
                    <a:pt x="7468700" y="439302"/>
                  </a:lnTo>
                  <a:lnTo>
                    <a:pt x="3557325" y="439302"/>
                  </a:lnTo>
                  <a:lnTo>
                    <a:pt x="2984387" y="107629"/>
                  </a:lnTo>
                  <a:cubicBezTo>
                    <a:pt x="2855893" y="30520"/>
                    <a:pt x="2818738" y="0"/>
                    <a:pt x="2756786" y="0"/>
                  </a:cubicBezTo>
                  <a:lnTo>
                    <a:pt x="0" y="0"/>
                  </a:lnTo>
                  <a:lnTo>
                    <a:pt x="0" y="931057"/>
                  </a:lnTo>
                  <a:lnTo>
                    <a:pt x="1442484" y="931057"/>
                  </a:ln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0" y="5348175"/>
            <a:ext cx="12192000" cy="1509824"/>
            <a:chOff x="0" y="5348175"/>
            <a:chExt cx="12192000" cy="1509824"/>
          </a:xfrm>
        </p:grpSpPr>
        <p:sp>
          <p:nvSpPr>
            <p:cNvPr id="14" name="矩形 13"/>
            <p:cNvSpPr/>
            <p:nvPr/>
          </p:nvSpPr>
          <p:spPr>
            <a:xfrm flipH="1">
              <a:off x="0" y="5853221"/>
              <a:ext cx="9980428" cy="499731"/>
            </a:xfrm>
            <a:prstGeom prst="rect">
              <a:avLst/>
            </a:prstGeom>
            <a:solidFill>
              <a:srgbClr val="C0CC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 flipH="1">
              <a:off x="0" y="5348175"/>
              <a:ext cx="12192000" cy="1509824"/>
            </a:xfrm>
            <a:custGeom>
              <a:avLst/>
              <a:gdLst>
                <a:gd name="connsiteX0" fmla="*/ 4470463 w 12192000"/>
                <a:gd name="connsiteY0" fmla="*/ 0 h 1509824"/>
                <a:gd name="connsiteX1" fmla="*/ 0 w 12192000"/>
                <a:gd name="connsiteY1" fmla="*/ 0 h 1509824"/>
                <a:gd name="connsiteX2" fmla="*/ 0 w 12192000"/>
                <a:gd name="connsiteY2" fmla="*/ 1509823 h 1509824"/>
                <a:gd name="connsiteX3" fmla="*/ 2339163 w 12192000"/>
                <a:gd name="connsiteY3" fmla="*/ 1509823 h 1509824"/>
                <a:gd name="connsiteX4" fmla="*/ 2339163 w 12192000"/>
                <a:gd name="connsiteY4" fmla="*/ 1509824 h 1509824"/>
                <a:gd name="connsiteX5" fmla="*/ 12192000 w 12192000"/>
                <a:gd name="connsiteY5" fmla="*/ 1509824 h 1509824"/>
                <a:gd name="connsiteX6" fmla="*/ 12192000 w 12192000"/>
                <a:gd name="connsiteY6" fmla="*/ 712382 h 1509824"/>
                <a:gd name="connsiteX7" fmla="*/ 5768635 w 12192000"/>
                <a:gd name="connsiteY7" fmla="*/ 712382 h 1509824"/>
                <a:gd name="connsiteX8" fmla="*/ 4839547 w 12192000"/>
                <a:gd name="connsiteY8" fmla="*/ 174534 h 1509824"/>
                <a:gd name="connsiteX9" fmla="*/ 4470463 w 12192000"/>
                <a:gd name="connsiteY9" fmla="*/ 0 h 150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92000" h="1509824">
                  <a:moveTo>
                    <a:pt x="4470463" y="0"/>
                  </a:moveTo>
                  <a:lnTo>
                    <a:pt x="0" y="0"/>
                  </a:lnTo>
                  <a:lnTo>
                    <a:pt x="0" y="1509823"/>
                  </a:lnTo>
                  <a:lnTo>
                    <a:pt x="2339163" y="1509823"/>
                  </a:lnTo>
                  <a:lnTo>
                    <a:pt x="2339163" y="1509824"/>
                  </a:lnTo>
                  <a:lnTo>
                    <a:pt x="12192000" y="1509824"/>
                  </a:lnTo>
                  <a:lnTo>
                    <a:pt x="12192000" y="712382"/>
                  </a:lnTo>
                  <a:lnTo>
                    <a:pt x="5768635" y="712382"/>
                  </a:lnTo>
                  <a:lnTo>
                    <a:pt x="4839547" y="174534"/>
                  </a:lnTo>
                  <a:cubicBezTo>
                    <a:pt x="4631177" y="49492"/>
                    <a:pt x="4570926" y="0"/>
                    <a:pt x="4470463" y="0"/>
                  </a:cubicBezTo>
                  <a:close/>
                </a:path>
              </a:pathLst>
            </a:custGeom>
            <a:solidFill>
              <a:srgbClr val="7C97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69485" y="2414270"/>
            <a:ext cx="28194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25000"/>
              </a:lnSpc>
              <a:defRPr/>
            </a:pPr>
            <a:r>
              <a:rPr lang="en-US" sz="48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altLang="en-US" sz="48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83230" y="6261100"/>
            <a:ext cx="6096000" cy="437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>
              <a:lnSpc>
                <a:spcPct val="125000"/>
              </a:lnSpc>
              <a:defRPr/>
            </a:pPr>
            <a:r>
              <a:rPr lang="en-US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欢迎批评指正 · 共同探讨</a:t>
            </a:r>
            <a:endParaRPr lang="en-US" altLang="en-US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图片 10" descr="校徽(1)"/>
          <p:cNvPicPr>
            <a:picLocks noChangeAspect="1"/>
          </p:cNvPicPr>
          <p:nvPr/>
        </p:nvPicPr>
        <p:blipFill>
          <a:blip r:embed="rId2">
            <a:alphaModFix amt="60000"/>
            <a:clrChange>
              <a:clrFrom>
                <a:srgbClr val="FCEA81">
                  <a:alpha val="100000"/>
                </a:srgbClr>
              </a:clrFrom>
              <a:clrTo>
                <a:srgbClr val="FCEA81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88345" y="601345"/>
            <a:ext cx="1430655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2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3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4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5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6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7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8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9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10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11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12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13.xml><?xml version="1.0" encoding="utf-8"?>
<p:tagLst xmlns:p="http://schemas.openxmlformats.org/presentationml/2006/main">
  <p:tag name="KSO_WM_DIAGRAM_VIRTUALLY_FRAME" val="{&quot;height&quot;:297.8363779527559,&quot;left&quot;:244.84984251968504,&quot;top&quot;:97.05685039370078,&quot;width&quot;:667.1412598425197}"/>
</p:tagLst>
</file>

<file path=ppt/tags/tag14.xml><?xml version="1.0" encoding="utf-8"?>
<p:tagLst xmlns:p="http://schemas.openxmlformats.org/presentationml/2006/main">
  <p:tag name="KSO_WM_DIAGRAM_VIRTUALLY_FRAME" val="{&quot;height&quot;:297.8363779527559,&quot;left&quot;:244.84984251968504,&quot;top&quot;:97.05685039370078,&quot;width&quot;:667.1412598425197}"/>
</p:tagLst>
</file>

<file path=ppt/tags/tag15.xml><?xml version="1.0" encoding="utf-8"?>
<p:tagLst xmlns:p="http://schemas.openxmlformats.org/presentationml/2006/main">
  <p:tag name="KSO_WM_DIAGRAM_VIRTUALLY_FRAME" val="{&quot;height&quot;:297.8363779527559,&quot;left&quot;:244.84984251968504,&quot;top&quot;:97.05685039370078,&quot;width&quot;:667.1412598425197}"/>
</p:tagLst>
</file>

<file path=ppt/tags/tag16.xml><?xml version="1.0" encoding="utf-8"?>
<p:tagLst xmlns:p="http://schemas.openxmlformats.org/presentationml/2006/main">
  <p:tag name="KSO_WM_DIAGRAM_VIRTUALLY_FRAME" val="{&quot;height&quot;:297.8363779527559,&quot;left&quot;:244.84984251968504,&quot;top&quot;:97.05685039370078,&quot;width&quot;:667.1412598425197}"/>
</p:tagLst>
</file>

<file path=ppt/tags/tag17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18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19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20.xml><?xml version="1.0" encoding="utf-8"?>
<p:tagLst xmlns:p="http://schemas.openxmlformats.org/presentationml/2006/main">
  <p:tag name="KSO_WM_DIAGRAM_VIRTUALLY_FRAME" val="{&quot;height&quot;:297.8363779527559,&quot;left&quot;:245.64984251968502,&quot;top&quot;:97.05685039370078,&quot;width&quot;:667.1412598425197}"/>
</p:tagLst>
</file>

<file path=ppt/tags/tag21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2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3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4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5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6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7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8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29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0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1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2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3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4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5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36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37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38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39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0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1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2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3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4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5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6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7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8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49.xml><?xml version="1.0" encoding="utf-8"?>
<p:tagLst xmlns:p="http://schemas.openxmlformats.org/presentationml/2006/main">
  <p:tag name="KSO_WM_DIAGRAM_VIRTUALLY_FRAME" val="{&quot;height&quot;:346.6667716535433,&quot;left&quot;:463.7133070866142,&quot;top&quot;:215.09968503937006,&quot;width&quot;:413.3000000000003}"/>
</p:tagLst>
</file>

<file path=ppt/tags/tag50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51.xml><?xml version="1.0" encoding="utf-8"?>
<p:tagLst xmlns:p="http://schemas.openxmlformats.org/presentationml/2006/main">
  <p:tag name="KSO_WM_DIAGRAM_VIRTUALLY_FRAME" val="{&quot;height&quot;:346.89826771653543,&quot;left&quot;:48.22157480314961,&quot;top&quot;:124.33377952755909,&quot;width&quot;:863.5568503937008}"/>
</p:tagLst>
</file>

<file path=ppt/tags/tag52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3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4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5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6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7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8.xml><?xml version="1.0" encoding="utf-8"?>
<p:tagLst xmlns:p="http://schemas.openxmlformats.org/presentationml/2006/main">
  <p:tag name="KSO_WM_DIAGRAM_VIRTUALLY_FRAME" val="{&quot;height&quot;:358.8164566929134,&quot;left&quot;:463.7133070866142,&quot;top&quot;:202.95,&quot;width&quot;:424.9866929133858}"/>
</p:tagLst>
</file>

<file path=ppt/tags/tag5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0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1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2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3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4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5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7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8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6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0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1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2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3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4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5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7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8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7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0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1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2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3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4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5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7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8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8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90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1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2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3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4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5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6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7.xml><?xml version="1.0" encoding="utf-8"?>
<p:tagLst xmlns:p="http://schemas.openxmlformats.org/presentationml/2006/main">
  <p:tag name="KSO_WM_DIAGRAM_VIRTUALLY_FRAME" val="{&quot;height&quot;:383.242444354558,&quot;left&quot;:81.52669291338583,&quot;top&quot;:103.7999624624479,&quot;width&quot;:796.9466141732285}"/>
</p:tagLst>
</file>

<file path=ppt/tags/tag98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99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0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1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2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3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4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5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6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7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8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09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0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1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2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3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4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5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6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7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8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19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20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21.xml><?xml version="1.0" encoding="utf-8"?>
<p:tagLst xmlns:p="http://schemas.openxmlformats.org/presentationml/2006/main">
  <p:tag name="KSO_WM_DIAGRAM_VIRTUALLY_FRAME" val="{&quot;height&quot;:357.87102362204723,&quot;left&quot;:67.8,&quot;top&quot;:110.42897637795275,&quot;width&quot;:843.05}"/>
</p:tagLst>
</file>

<file path=ppt/tags/tag122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3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4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5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6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7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8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29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30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31.xml><?xml version="1.0" encoding="utf-8"?>
<p:tagLst xmlns:p="http://schemas.openxmlformats.org/presentationml/2006/main">
  <p:tag name="KSO_WM_DIAGRAM_VIRTUALLY_FRAME" val="{&quot;height&quot;:397.85,&quot;left&quot;:61.65,&quot;top&quot;:101.7,&quot;width&quot;:849.2}"/>
</p:tagLst>
</file>

<file path=ppt/tags/tag132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3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4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5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6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7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8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39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0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1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2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3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4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5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14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47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48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4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0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1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2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3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4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5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7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8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5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0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1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2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3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4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5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7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8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69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0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1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2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3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4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5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6.xml><?xml version="1.0" encoding="utf-8"?>
<p:tagLst xmlns:p="http://schemas.openxmlformats.org/presentationml/2006/main">
  <p:tag name="KSO_WM_DIAGRAM_VIRTUALLY_FRAME" val="{&quot;height&quot;:366.14661417322844,&quot;left&quot;:79.99,&quot;top&quot;:131.19740157480314,&quot;width&quot;:800.0200000000001}"/>
</p:tagLst>
</file>

<file path=ppt/tags/tag177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78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79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0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1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2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3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4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5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6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7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8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89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90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91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92.xml><?xml version="1.0" encoding="utf-8"?>
<p:tagLst xmlns:p="http://schemas.openxmlformats.org/presentationml/2006/main">
  <p:tag name="KSO_WM_DIAGRAM_VIRTUALLY_FRAME" val="{&quot;height&quot;:355.7594488188976,&quot;left&quot;:81.47661417322834,&quot;top&quot;:111.8572440944882,&quot;width&quot;:796.9967716535433}"/>
</p:tagLst>
</file>

<file path=ppt/tags/tag193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194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195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196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197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198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199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0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1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2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3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4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5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6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7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8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09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10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11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12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13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14.xml><?xml version="1.0" encoding="utf-8"?>
<p:tagLst xmlns:p="http://schemas.openxmlformats.org/presentationml/2006/main">
  <p:tag name="KSO_WM_DIAGRAM_VIRTUALLY_FRAME" val="{&quot;height&quot;:373.5632283464567,&quot;left&quot;:56.41700787401574,&quot;top&quot;:101.52,&quot;width&quot;:847.1659842519687}"/>
</p:tagLst>
</file>

<file path=ppt/tags/tag215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16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17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18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19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0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1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2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3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4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5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6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7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8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29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30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31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32.xml><?xml version="1.0" encoding="utf-8"?>
<p:tagLst xmlns:p="http://schemas.openxmlformats.org/presentationml/2006/main">
  <p:tag name="KSO_WM_DIAGRAM_VIRTUALLY_FRAME" val="{&quot;height&quot;:380.47102362204726,&quot;left&quot;:67.8,&quot;top&quot;:110.42897637795275,&quot;width&quot;:843.05}"/>
</p:tagLst>
</file>

<file path=ppt/tags/tag233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34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35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36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37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38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39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0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1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2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3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4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5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6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7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8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49.xml><?xml version="1.0" encoding="utf-8"?>
<p:tagLst xmlns:p="http://schemas.openxmlformats.org/presentationml/2006/main">
  <p:tag name="KSO_WM_DIAGRAM_VIRTUALLY_FRAME" val="{&quot;height&quot;:376.44023622047246,&quot;left&quot;:91.85472440944882,&quot;top&quot;:107.58968503937008,&quot;width&quot;:776.2905511811023}"/>
</p:tagLst>
</file>

<file path=ppt/tags/tag250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1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2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3.xml><?xml version="1.0" encoding="utf-8"?>
<p:tagLst xmlns:p="http://schemas.openxmlformats.org/presentationml/2006/main">
  <p:tag name="KSO_WM_DIAGRAM_VIRTUALLY_FRAME" val="{&quot;height&quot;:379.82771653543307,&quot;left&quot;:66.98503937007874,&quot;top&quot;:111.2727559055118,&quot;width&quot;:826.0299212598424}"/>
</p:tagLst>
</file>

<file path=ppt/tags/tag254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5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6.xml><?xml version="1.0" encoding="utf-8"?>
<p:tagLst xmlns:p="http://schemas.openxmlformats.org/presentationml/2006/main">
  <p:tag name="KSO_WM_DIAGRAM_VIRTUALLY_FRAME" val="{&quot;height&quot;:379.82771653543307,&quot;left&quot;:66.98503937007874,&quot;top&quot;:111.2727559055118,&quot;width&quot;:826.0299212598424}"/>
</p:tagLst>
</file>

<file path=ppt/tags/tag257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8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59.xml><?xml version="1.0" encoding="utf-8"?>
<p:tagLst xmlns:p="http://schemas.openxmlformats.org/presentationml/2006/main">
  <p:tag name="KSO_WM_DIAGRAM_VIRTUALLY_FRAME" val="{&quot;height&quot;:379.82771653543307,&quot;left&quot;:66.98503937007874,&quot;top&quot;:111.2727559055118,&quot;width&quot;:826.0299212598424}"/>
</p:tagLst>
</file>

<file path=ppt/tags/tag260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61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62.xml><?xml version="1.0" encoding="utf-8"?>
<p:tagLst xmlns:p="http://schemas.openxmlformats.org/presentationml/2006/main">
  <p:tag name="KSO_WM_DIAGRAM_VIRTUALLY_FRAME" val="{&quot;height&quot;:379.82771653543307,&quot;left&quot;:66.98503937007874,&quot;top&quot;:111.2727559055118,&quot;width&quot;:826.0299212598424}"/>
</p:tagLst>
</file>

<file path=ppt/tags/tag263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64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65.xml><?xml version="1.0" encoding="utf-8"?>
<p:tagLst xmlns:p="http://schemas.openxmlformats.org/presentationml/2006/main">
  <p:tag name="KSO_WM_DIAGRAM_VIRTUALLY_FRAME" val="{&quot;height&quot;:379.82771653543307,&quot;left&quot;:66.98503937007874,&quot;top&quot;:111.2727559055118,&quot;width&quot;:826.0299212598424}"/>
</p:tagLst>
</file>

<file path=ppt/tags/tag266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67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68.xml><?xml version="1.0" encoding="utf-8"?>
<p:tagLst xmlns:p="http://schemas.openxmlformats.org/presentationml/2006/main">
  <p:tag name="KSO_WM_DIAGRAM_VIRTUALLY_FRAME" val="{&quot;height&quot;:379.82771653543307,&quot;left&quot;:66.98503937007874,&quot;top&quot;:111.2727559055118,&quot;width&quot;:826.0299212598424}"/>
</p:tagLst>
</file>

<file path=ppt/tags/tag269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ags/tag270.xml><?xml version="1.0" encoding="utf-8"?>
<p:tagLst xmlns:p="http://schemas.openxmlformats.org/presentationml/2006/main">
  <p:tag name="KSO_WM_DIAGRAM_VIRTUALLY_FRAME" val="{&quot;height&quot;:379.8277165354331,&quot;left&quot;:66.98503937007874,&quot;top&quot;:111.2727559055118,&quot;width&quot;:826.0299212598424}"/>
</p:tagLst>
</file>

<file path=ppt/theme/theme1.xml><?xml version="1.0" encoding="utf-8"?>
<a:theme xmlns:a="http://schemas.openxmlformats.org/drawingml/2006/main" name="第一PPT，www.1ppt.com">
  <a:themeElements>
    <a:clrScheme name="自定义 99">
      <a:dk1>
        <a:sysClr val="windowText" lastClr="000000"/>
      </a:dk1>
      <a:lt1>
        <a:sysClr val="window" lastClr="FFFFFF"/>
      </a:lt1>
      <a:dk2>
        <a:srgbClr val="3A472E"/>
      </a:dk2>
      <a:lt2>
        <a:srgbClr val="E9EBE0"/>
      </a:lt2>
      <a:accent1>
        <a:srgbClr val="7C976C"/>
      </a:accent1>
      <a:accent2>
        <a:srgbClr val="C0CC84"/>
      </a:accent2>
      <a:accent3>
        <a:srgbClr val="ECC953"/>
      </a:accent3>
      <a:accent4>
        <a:srgbClr val="F6F7F0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99">
    <a:dk1>
      <a:sysClr val="windowText" lastClr="000000"/>
    </a:dk1>
    <a:lt1>
      <a:sysClr val="window" lastClr="FFFFFF"/>
    </a:lt1>
    <a:dk2>
      <a:srgbClr val="3A472E"/>
    </a:dk2>
    <a:lt2>
      <a:srgbClr val="E9EBE0"/>
    </a:lt2>
    <a:accent1>
      <a:srgbClr val="7C976C"/>
    </a:accent1>
    <a:accent2>
      <a:srgbClr val="C0CC84"/>
    </a:accent2>
    <a:accent3>
      <a:srgbClr val="ECC953"/>
    </a:accent3>
    <a:accent4>
      <a:srgbClr val="F6F7F0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3852</Words>
  <Application>WPS 演示</Application>
  <PresentationFormat>宽屏</PresentationFormat>
  <Paragraphs>338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思源宋体 CN Heavy</vt:lpstr>
      <vt:lpstr>阿里巴巴普惠体 H</vt:lpstr>
      <vt:lpstr>思源宋体 Medium</vt:lpstr>
      <vt:lpstr>阿里巴巴普惠体 B</vt:lpstr>
      <vt:lpstr>思源宋体 Light</vt:lpstr>
      <vt:lpstr>阿里巴巴普惠体 L</vt:lpstr>
      <vt:lpstr>Noto Sans SC</vt:lpstr>
      <vt:lpstr>阿里巴巴普惠体 R</vt:lpstr>
      <vt:lpstr>阿里巴巴普惠体</vt:lpstr>
      <vt:lpstr>等线</vt:lpstr>
      <vt:lpstr>Arial Unicode MS</vt:lpstr>
      <vt:lpstr>等线 Light</vt:lpstr>
      <vt:lpstr>KSOFE22CBF3B</vt:lpstr>
      <vt:lpstr>Segoe Print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第一PPT，www.1ppt.com</dc:creator>
  <cp:keywords>www.1ppt.com</cp:keywords>
  <dc:description>第一PPT</dc:description>
  <cp:lastModifiedBy>WPS_1601631925</cp:lastModifiedBy>
  <cp:revision>53</cp:revision>
  <dcterms:created xsi:type="dcterms:W3CDTF">2024-04-16T02:26:00Z</dcterms:created>
  <dcterms:modified xsi:type="dcterms:W3CDTF">2026-05-13T11:19:10Z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5021261FA66F42AD8F805612DADCA655_13</vt:lpwstr>
  </property>
  <property fmtid="{D5CDD505-2E9C-101B-9397-08002B2CF9AE}" pid="3" name="KSOProductBuildVer">
    <vt:lpwstr>2052-12.1.0.25865</vt:lpwstr>
  </property>
</Properties>
</file>